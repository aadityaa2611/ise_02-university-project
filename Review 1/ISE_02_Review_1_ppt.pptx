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16"/>
  </p:notesMasterIdLst>
  <p:sldIdLst>
    <p:sldId id="256" r:id="rId2"/>
    <p:sldId id="257" r:id="rId3"/>
    <p:sldId id="274" r:id="rId4"/>
    <p:sldId id="284" r:id="rId5"/>
    <p:sldId id="273" r:id="rId6"/>
    <p:sldId id="282" r:id="rId7"/>
    <p:sldId id="277" r:id="rId8"/>
    <p:sldId id="283" r:id="rId9"/>
    <p:sldId id="272" r:id="rId10"/>
    <p:sldId id="278" r:id="rId11"/>
    <p:sldId id="281" r:id="rId12"/>
    <p:sldId id="268" r:id="rId13"/>
    <p:sldId id="265" r:id="rId14"/>
    <p:sldId id="26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7690726-49DA-4552-BDEB-330DD8EA8BD9}" styleName="Table_0">
    <a:wholeTbl>
      <a:tcTxStyle>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ITYA VS" userId="54d24a01e07898e0" providerId="LiveId" clId="{A6F78D5E-56F2-4541-9F57-55252227B364}"/>
    <pc:docChg chg="undo custSel addSld modSld">
      <pc:chgData name="ADITYA VS" userId="54d24a01e07898e0" providerId="LiveId" clId="{A6F78D5E-56F2-4541-9F57-55252227B364}" dt="2026-04-23T04:24:21.169" v="802" actId="20577"/>
      <pc:docMkLst>
        <pc:docMk/>
      </pc:docMkLst>
      <pc:sldChg chg="modSp mod">
        <pc:chgData name="ADITYA VS" userId="54d24a01e07898e0" providerId="LiveId" clId="{A6F78D5E-56F2-4541-9F57-55252227B364}" dt="2026-04-23T04:24:21.169" v="802" actId="20577"/>
        <pc:sldMkLst>
          <pc:docMk/>
          <pc:sldMk cId="0" sldId="256"/>
        </pc:sldMkLst>
        <pc:spChg chg="mod">
          <ac:chgData name="ADITYA VS" userId="54d24a01e07898e0" providerId="LiveId" clId="{A6F78D5E-56F2-4541-9F57-55252227B364}" dt="2026-04-23T04:24:21.169" v="802" actId="20577"/>
          <ac:spMkLst>
            <pc:docMk/>
            <pc:sldMk cId="0" sldId="256"/>
            <ac:spMk id="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BA893ECC-FF59-785E-9066-E5D81258ACE4}"/>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3CD07DF0-B730-13A8-3C3E-BA3B59A3D63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C2B0A8BD-FDBA-8A0D-8C6D-848469ECE2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731872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6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txBody>
          <a:bodyPr/>
          <a:lstStyle/>
          <a:p>
            <a:endParaRPr lang="en-IN"/>
          </a:p>
        </p:txBody>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t>‹#›</a:t>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aadityaa2611/ISE_02-University-Project"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ieeexplore.ieee.org/document/9535496"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hyperlink" Target="https://ieeexplore.ieee.org/document/9400819" TargetMode="External"/><Relationship Id="rId4" Type="http://schemas.openxmlformats.org/officeDocument/2006/relationships/hyperlink" Target="https://ieeexplore.ieee.org/document/9924566"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914400" y="788002"/>
            <a:ext cx="10363200" cy="962898"/>
          </a:xfrm>
          <a:prstGeom prst="rect">
            <a:avLst/>
          </a:prstGeom>
          <a:noFill/>
          <a:ln>
            <a:noFill/>
          </a:ln>
        </p:spPr>
        <p:txBody>
          <a:bodyPr spcFirstLastPara="1" wrap="square" lIns="91425" tIns="45700" rIns="91425" bIns="45700" anchor="ctr" anchorCtr="0">
            <a:noAutofit/>
          </a:bodyPr>
          <a:lstStyle/>
          <a:p>
            <a:pPr lvl="0" algn="ct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Image based breed recognition for cattle and buffaloes of India</a:t>
            </a:r>
            <a:br>
              <a:rPr lang="en-US" sz="2400" dirty="0">
                <a:latin typeface="Times New Roman" panose="02020603050405020304" pitchFamily="18" charset="0"/>
                <a:cs typeface="Times New Roman" panose="02020603050405020304" pitchFamily="18" charset="0"/>
              </a:rPr>
            </a:br>
            <a:endParaRPr sz="24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88" name="Google Shape;88;p13"/>
          <p:cNvSpPr txBox="1">
            <a:spLocks noGrp="1"/>
          </p:cNvSpPr>
          <p:nvPr>
            <p:ph type="subTitle" idx="1"/>
          </p:nvPr>
        </p:nvSpPr>
        <p:spPr>
          <a:xfrm>
            <a:off x="553346" y="2045352"/>
            <a:ext cx="4628253"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ISE_02</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677700" y="2418720"/>
            <a:ext cx="5514300" cy="2020560"/>
          </a:xfrm>
          <a:prstGeom prst="rect">
            <a:avLst/>
          </a:prstGeom>
          <a:noFill/>
          <a:ln>
            <a:noFill/>
          </a:ln>
        </p:spPr>
        <p:txBody>
          <a:bodyPr spcFirstLastPara="1" wrap="square" lIns="91425" tIns="45700" rIns="91425" bIns="45700" anchor="t" anchorCtr="0">
            <a:normAutofit/>
          </a:bodyPr>
          <a:lstStyle/>
          <a:p>
            <a:pPr algn="ctr">
              <a:spcBef>
                <a:spcPts val="400"/>
              </a:spcBef>
              <a:buClr>
                <a:srgbClr val="17365D"/>
              </a:buClr>
              <a:buSzPts val="2000"/>
            </a:pPr>
            <a:r>
              <a:rPr lang="en-US" sz="1800" b="1"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Under the Supervision of,</a:t>
            </a: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a:p>
            <a:pPr algn="ctr">
              <a:spcBef>
                <a:spcPts val="340"/>
              </a:spcBef>
              <a:buClr>
                <a:srgbClr val="17365D"/>
              </a:buClr>
              <a:buSzPts val="1700"/>
            </a:pPr>
            <a:r>
              <a:rPr lang="en-US" sz="1800" b="1" dirty="0">
                <a:latin typeface="Times New Roman" panose="02020603050405020304" pitchFamily="18" charset="0"/>
                <a:cs typeface="Times New Roman" panose="02020603050405020304" pitchFamily="18" charset="0"/>
              </a:rPr>
              <a:t>Mr. John Bennet J</a:t>
            </a:r>
          </a:p>
          <a:p>
            <a:pPr marL="0" marR="0" lvl="0" indent="0" algn="ctr" rtl="0">
              <a:spcBef>
                <a:spcPts val="340"/>
              </a:spcBef>
              <a:spcAft>
                <a:spcPts val="0"/>
              </a:spcAft>
              <a:buClr>
                <a:srgbClr val="17365D"/>
              </a:buClr>
              <a:buSzPts val="1700"/>
              <a:buFont typeface="Arial" panose="020B0604020202020204"/>
              <a:buNone/>
            </a:pPr>
            <a:r>
              <a:rPr lang="en-US" sz="1800" b="1" i="0"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Assistant Professor</a:t>
            </a: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ctr" rtl="0">
              <a:spcBef>
                <a:spcPts val="340"/>
              </a:spcBef>
              <a:spcAft>
                <a:spcPts val="0"/>
              </a:spcAft>
              <a:buClr>
                <a:srgbClr val="17365D"/>
              </a:buClr>
              <a:buSzPts val="1700"/>
              <a:buFont typeface="Arial" panose="020B0604020202020204"/>
              <a:buNone/>
            </a:pPr>
            <a:r>
              <a:rPr lang="en-US" sz="1800" b="1" i="0"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School of Computer Science and Engineering</a:t>
            </a: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ctr" rtl="0">
              <a:spcBef>
                <a:spcPts val="340"/>
              </a:spcBef>
              <a:spcAft>
                <a:spcPts val="0"/>
              </a:spcAft>
              <a:buClr>
                <a:srgbClr val="17365D"/>
              </a:buClr>
              <a:buSzPts val="1700"/>
              <a:buFont typeface="Arial" panose="020B0604020202020204"/>
              <a:buNone/>
            </a:pPr>
            <a:r>
              <a:rPr lang="en-US" sz="1800" b="1" i="0"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Presidency University</a:t>
            </a: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p:txBody>
      </p:sp>
      <p:graphicFrame>
        <p:nvGraphicFramePr>
          <p:cNvPr id="89" name="Google Shape;89;p13"/>
          <p:cNvGraphicFramePr/>
          <p:nvPr>
            <p:extLst>
              <p:ext uri="{D42A27DB-BD31-4B8C-83A1-F6EECF244321}">
                <p14:modId xmlns:p14="http://schemas.microsoft.com/office/powerpoint/2010/main" val="818332029"/>
              </p:ext>
            </p:extLst>
          </p:nvPr>
        </p:nvGraphicFramePr>
        <p:xfrm>
          <a:off x="208546" y="2597653"/>
          <a:ext cx="7042485" cy="4339904"/>
        </p:xfrm>
        <a:graphic>
          <a:graphicData uri="http://schemas.openxmlformats.org/drawingml/2006/table">
            <a:tbl>
              <a:tblPr firstRow="1" bandRow="1">
                <a:noFill/>
                <a:tableStyleId>{57690726-49DA-4552-BDEB-330DD8EA8BD9}</a:tableStyleId>
              </a:tblPr>
              <a:tblGrid>
                <a:gridCol w="2018022">
                  <a:extLst>
                    <a:ext uri="{9D8B030D-6E8A-4147-A177-3AD203B41FA5}">
                      <a16:colId xmlns:a16="http://schemas.microsoft.com/office/drawing/2014/main" val="20000"/>
                    </a:ext>
                  </a:extLst>
                </a:gridCol>
                <a:gridCol w="5024463">
                  <a:extLst>
                    <a:ext uri="{9D8B030D-6E8A-4147-A177-3AD203B41FA5}">
                      <a16:colId xmlns:a16="http://schemas.microsoft.com/office/drawing/2014/main" val="20001"/>
                    </a:ext>
                  </a:extLst>
                </a:gridCol>
              </a:tblGrid>
              <a:tr h="2325413">
                <a:tc>
                  <a:txBody>
                    <a:bodyPr/>
                    <a:lstStyle/>
                    <a:p>
                      <a:pPr marL="0" marR="0" lvl="1" indent="0" algn="ctr" rtl="0">
                        <a:lnSpc>
                          <a:spcPct val="150000"/>
                        </a:lnSpc>
                        <a:spcBef>
                          <a:spcPts val="0"/>
                        </a:spcBef>
                        <a:spcAft>
                          <a:spcPts val="0"/>
                        </a:spcAft>
                        <a:buNone/>
                      </a:pPr>
                      <a:r>
                        <a:rPr lang="en-GB" sz="1800" b="1" u="none" strike="noStrike" cap="none" dirty="0">
                          <a:solidFill>
                            <a:srgbClr val="17365D"/>
                          </a:solidFill>
                          <a:latin typeface="Times New Roman" panose="02020603050405020304" pitchFamily="18" charset="0"/>
                          <a:cs typeface="Times New Roman" panose="02020603050405020304" pitchFamily="18" charset="0"/>
                        </a:rPr>
                        <a:t>Roll Number</a:t>
                      </a:r>
                    </a:p>
                    <a:p>
                      <a:pPr marL="0" marR="0" lvl="1" indent="0" algn="ctr" defTabSz="914400" rtl="0" eaLnBrk="1" fontAlgn="auto" latinLnBrk="0" hangingPunct="1">
                        <a:lnSpc>
                          <a:spcPct val="150000"/>
                        </a:lnSpc>
                        <a:spcBef>
                          <a:spcPts val="0"/>
                        </a:spcBef>
                        <a:spcAft>
                          <a:spcPts val="0"/>
                        </a:spcAft>
                        <a:buClr>
                          <a:srgbClr val="000000"/>
                        </a:buClr>
                        <a:buSzTx/>
                        <a:buFont typeface="Arial" panose="020B0604020202020204"/>
                        <a:buNone/>
                        <a:tabLst/>
                        <a:defRPr/>
                      </a:pPr>
                      <a:r>
                        <a:rPr lang="en-IN" sz="1800" b="1" u="none" strike="noStrike" cap="none" dirty="0">
                          <a:latin typeface="Times New Roman" panose="02020603050405020304" pitchFamily="18" charset="0"/>
                          <a:cs typeface="Times New Roman" panose="02020603050405020304" pitchFamily="18" charset="0"/>
                        </a:rPr>
                        <a:t>20221ISE0032</a:t>
                      </a:r>
                    </a:p>
                    <a:p>
                      <a:pPr marL="0" marR="0" lvl="1" indent="0" algn="ctr" defTabSz="914400" rtl="0" eaLnBrk="1" fontAlgn="auto" latinLnBrk="0" hangingPunct="1">
                        <a:lnSpc>
                          <a:spcPct val="150000"/>
                        </a:lnSpc>
                        <a:spcBef>
                          <a:spcPts val="0"/>
                        </a:spcBef>
                        <a:spcAft>
                          <a:spcPts val="0"/>
                        </a:spcAft>
                        <a:buClr>
                          <a:srgbClr val="000000"/>
                        </a:buClr>
                        <a:buSzTx/>
                        <a:buFont typeface="Arial" panose="020B0604020202020204"/>
                        <a:buNone/>
                        <a:tabLst/>
                        <a:defRPr/>
                      </a:pPr>
                      <a:r>
                        <a:rPr lang="en-IN" sz="1800" b="1" u="none" strike="noStrike" cap="none" dirty="0">
                          <a:latin typeface="Times New Roman" panose="02020603050405020304" pitchFamily="18" charset="0"/>
                          <a:cs typeface="Times New Roman" panose="02020603050405020304" pitchFamily="18" charset="0"/>
                        </a:rPr>
                        <a:t>20221ISE0062</a:t>
                      </a:r>
                    </a:p>
                    <a:p>
                      <a:pPr marL="0" marR="0" lvl="1" indent="0" algn="ctr" defTabSz="914400" rtl="0" eaLnBrk="1" fontAlgn="auto" latinLnBrk="0" hangingPunct="1">
                        <a:lnSpc>
                          <a:spcPct val="150000"/>
                        </a:lnSpc>
                        <a:spcBef>
                          <a:spcPts val="0"/>
                        </a:spcBef>
                        <a:spcAft>
                          <a:spcPts val="0"/>
                        </a:spcAft>
                        <a:buClr>
                          <a:srgbClr val="000000"/>
                        </a:buClr>
                        <a:buSzTx/>
                        <a:buFont typeface="Arial" panose="020B0604020202020204"/>
                        <a:buNone/>
                        <a:tabLst/>
                        <a:defRPr/>
                      </a:pPr>
                      <a:endParaRPr lang="en-GB" sz="1800" b="1" u="none" strike="noStrike" cap="none" dirty="0">
                        <a:solidFill>
                          <a:srgbClr val="17365D"/>
                        </a:solidFill>
                        <a:latin typeface="Times New Roman" panose="02020603050405020304" pitchFamily="18" charset="0"/>
                        <a:cs typeface="Times New Roman" panose="02020603050405020304" pitchFamily="18" charset="0"/>
                      </a:endParaRPr>
                    </a:p>
                    <a:p>
                      <a:pPr marL="0" marR="0" lvl="1" indent="0" algn="ctr" defTabSz="914400" rtl="0" eaLnBrk="1" fontAlgn="auto" latinLnBrk="0" hangingPunct="1">
                        <a:lnSpc>
                          <a:spcPct val="150000"/>
                        </a:lnSpc>
                        <a:spcBef>
                          <a:spcPts val="0"/>
                        </a:spcBef>
                        <a:spcAft>
                          <a:spcPts val="0"/>
                        </a:spcAft>
                        <a:buClr>
                          <a:srgbClr val="000000"/>
                        </a:buClr>
                        <a:buSzTx/>
                        <a:buFont typeface="Arial" panose="020B0604020202020204"/>
                        <a:buNone/>
                        <a:tabLst/>
                        <a:defRPr/>
                      </a:pPr>
                      <a:endParaRPr lang="en-GB" sz="1800" b="1" u="none" strike="noStrike" cap="none" dirty="0">
                        <a:solidFill>
                          <a:srgbClr val="17365D"/>
                        </a:solidFill>
                        <a:latin typeface="Times New Roman" panose="02020603050405020304" pitchFamily="18" charset="0"/>
                        <a:cs typeface="Times New Roman" panose="02020603050405020304" pitchFamily="18" charset="0"/>
                      </a:endParaRPr>
                    </a:p>
                    <a:p>
                      <a:pPr marL="0" marR="0" lvl="1" indent="0" algn="ctr" defTabSz="914400" rtl="0" eaLnBrk="1" fontAlgn="auto" latinLnBrk="0" hangingPunct="1">
                        <a:lnSpc>
                          <a:spcPct val="150000"/>
                        </a:lnSpc>
                        <a:spcBef>
                          <a:spcPts val="0"/>
                        </a:spcBef>
                        <a:spcAft>
                          <a:spcPts val="0"/>
                        </a:spcAft>
                        <a:buClr>
                          <a:srgbClr val="000000"/>
                        </a:buClr>
                        <a:buSzTx/>
                        <a:buFont typeface="Arial" panose="020B0604020202020204"/>
                        <a:buNone/>
                        <a:tabLst/>
                        <a:defRPr/>
                      </a:pPr>
                      <a:endParaRPr lang="en-IN" sz="18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50000"/>
                        </a:lnSpc>
                        <a:spcBef>
                          <a:spcPts val="0"/>
                        </a:spcBef>
                        <a:spcAft>
                          <a:spcPts val="0"/>
                        </a:spcAft>
                        <a:buNone/>
                      </a:pPr>
                      <a:r>
                        <a:rPr lang="en-GB" sz="1800" b="1" u="none" strike="noStrike" cap="none" dirty="0">
                          <a:solidFill>
                            <a:srgbClr val="17365D"/>
                          </a:solidFill>
                          <a:latin typeface="Times New Roman" panose="02020603050405020304" pitchFamily="18" charset="0"/>
                          <a:cs typeface="Times New Roman" panose="02020603050405020304" pitchFamily="18" charset="0"/>
                        </a:rPr>
                        <a:t>Student Name</a:t>
                      </a:r>
                      <a:endParaRPr lang="en-GB" sz="1800" b="1" u="none" strike="noStrike" cap="none" dirty="0">
                        <a:solidFill>
                          <a:schemeClr val="tx1"/>
                        </a:solidFill>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50000"/>
                        </a:lnSpc>
                        <a:spcBef>
                          <a:spcPts val="0"/>
                        </a:spcBef>
                        <a:spcAft>
                          <a:spcPts val="0"/>
                        </a:spcAft>
                        <a:buClr>
                          <a:srgbClr val="000000"/>
                        </a:buClr>
                        <a:buSzTx/>
                        <a:buFont typeface="Arial" panose="020B0604020202020204"/>
                        <a:buNone/>
                        <a:defRPr/>
                      </a:pPr>
                      <a:r>
                        <a:rPr lang="en-GB" sz="1800" b="1" u="none" strike="noStrike" cap="none" dirty="0">
                          <a:solidFill>
                            <a:schemeClr val="tx1"/>
                          </a:solidFill>
                          <a:latin typeface="Times New Roman" panose="02020603050405020304" pitchFamily="18" charset="0"/>
                          <a:cs typeface="Times New Roman" panose="02020603050405020304" pitchFamily="18" charset="0"/>
                        </a:rPr>
                        <a:t>Aditya V S</a:t>
                      </a:r>
                    </a:p>
                    <a:p>
                      <a:pPr marL="0" marR="0" lvl="0" indent="0" algn="ctr" defTabSz="914400" rtl="0" eaLnBrk="1" fontAlgn="auto" latinLnBrk="0" hangingPunct="1">
                        <a:lnSpc>
                          <a:spcPct val="150000"/>
                        </a:lnSpc>
                        <a:spcBef>
                          <a:spcPts val="0"/>
                        </a:spcBef>
                        <a:spcAft>
                          <a:spcPts val="0"/>
                        </a:spcAft>
                        <a:buClr>
                          <a:srgbClr val="000000"/>
                        </a:buClr>
                        <a:buSzTx/>
                        <a:buFont typeface="Arial" panose="020B0604020202020204"/>
                        <a:buNone/>
                        <a:defRPr/>
                      </a:pPr>
                      <a:r>
                        <a:rPr lang="en-GB" sz="1800" b="1" u="none" strike="noStrike" cap="none" dirty="0">
                          <a:solidFill>
                            <a:schemeClr val="tx1"/>
                          </a:solidFill>
                          <a:latin typeface="Times New Roman" panose="02020603050405020304" pitchFamily="18" charset="0"/>
                          <a:cs typeface="Times New Roman" panose="02020603050405020304" pitchFamily="18" charset="0"/>
                        </a:rPr>
                        <a:t>Chiranthan T C Nadig</a:t>
                      </a:r>
                    </a:p>
                    <a:p>
                      <a:pPr marL="0" marR="0" lvl="0" indent="0" algn="ctr" rtl="0">
                        <a:lnSpc>
                          <a:spcPct val="150000"/>
                        </a:lnSpc>
                        <a:spcBef>
                          <a:spcPts val="0"/>
                        </a:spcBef>
                        <a:spcAft>
                          <a:spcPts val="0"/>
                        </a:spcAft>
                        <a:buNone/>
                      </a:pPr>
                      <a:endParaRPr lang="en-GB" sz="1800" b="1" u="none" strike="noStrike" cap="none" dirty="0">
                        <a:solidFill>
                          <a:schemeClr val="tx1"/>
                        </a:solidFill>
                        <a:latin typeface="Times New Roman" panose="02020603050405020304" pitchFamily="18" charset="0"/>
                        <a:cs typeface="Times New Roman" panose="02020603050405020304" pitchFamily="18" charset="0"/>
                      </a:endParaRPr>
                    </a:p>
                    <a:p>
                      <a:pPr marL="0" marR="0" lvl="0" indent="0" algn="ctr" rtl="0">
                        <a:lnSpc>
                          <a:spcPct val="150000"/>
                        </a:lnSpc>
                        <a:spcBef>
                          <a:spcPts val="0"/>
                        </a:spcBef>
                        <a:spcAft>
                          <a:spcPts val="0"/>
                        </a:spcAft>
                        <a:buNone/>
                      </a:pPr>
                      <a:endParaRPr lang="en-GB" sz="1800" b="1" u="none" strike="noStrike" cap="none" dirty="0">
                        <a:solidFill>
                          <a:srgbClr val="17365D"/>
                        </a:solidFill>
                        <a:latin typeface="Times New Roman" panose="02020603050405020304" pitchFamily="18" charset="0"/>
                        <a:cs typeface="Times New Roman" panose="02020603050405020304" pitchFamily="18" charset="0"/>
                      </a:endParaRPr>
                    </a:p>
                    <a:p>
                      <a:pPr marL="0" marR="0" lvl="0" indent="0" algn="ctr" rtl="0">
                        <a:lnSpc>
                          <a:spcPct val="150000"/>
                        </a:lnSpc>
                        <a:spcBef>
                          <a:spcPts val="0"/>
                        </a:spcBef>
                        <a:spcAft>
                          <a:spcPts val="0"/>
                        </a:spcAft>
                        <a:buNone/>
                      </a:pPr>
                      <a:endParaRPr sz="1800" b="1" u="none" strike="noStrike" cap="none" dirty="0">
                        <a:solidFill>
                          <a:srgbClr val="17365D"/>
                        </a:solidFill>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8381">
                <a:tc>
                  <a:txBody>
                    <a:bodyPr/>
                    <a:lstStyle/>
                    <a:p>
                      <a:pPr marL="0" marR="0" lvl="0" indent="0" algn="ctr" rtl="0">
                        <a:spcBef>
                          <a:spcPts val="0"/>
                        </a:spcBef>
                        <a:spcAft>
                          <a:spcPts val="0"/>
                        </a:spcAft>
                        <a:buFont typeface="+mj-l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8381">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8381">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8381">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8381">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4660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panose="020B0604020202020204"/>
              <a:buNone/>
            </a:pPr>
            <a:r>
              <a:rPr lang="en-GB" sz="1800" b="1"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CSE7302-</a:t>
            </a:r>
            <a:r>
              <a:rPr lang="en-GB" sz="18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 University Project</a:t>
            </a:r>
            <a:endParaRPr sz="1800"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ctr" rtl="0">
              <a:spcBef>
                <a:spcPts val="310"/>
              </a:spcBef>
              <a:spcAft>
                <a:spcPts val="0"/>
              </a:spcAft>
              <a:buClr>
                <a:srgbClr val="17365D"/>
              </a:buClr>
              <a:buSzPct val="100000"/>
              <a:buFont typeface="Arial" panose="020B0604020202020204"/>
              <a:buNone/>
            </a:pPr>
            <a:r>
              <a:rPr lang="en-GB" sz="18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Review-1</a:t>
            </a:r>
            <a:endParaRPr sz="18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endParaRPr>
          </a:p>
        </p:txBody>
      </p:sp>
      <p:sp>
        <p:nvSpPr>
          <p:cNvPr id="8" name="Google Shape;91;p13"/>
          <p:cNvSpPr txBox="1"/>
          <p:nvPr/>
        </p:nvSpPr>
        <p:spPr>
          <a:xfrm>
            <a:off x="208546" y="4812022"/>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IN"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Information</a:t>
            </a:r>
            <a:r>
              <a:rPr lang="en-IN" alt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Science and Engineering</a:t>
            </a:r>
            <a:endPar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 </a:t>
            </a:r>
            <a:r>
              <a:rPr lang="en-US"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 Gopal K Shyam</a:t>
            </a:r>
          </a:p>
          <a:p>
            <a:pPr>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dirty="0">
                <a:solidFill>
                  <a:schemeClr val="tx1"/>
                </a:solidFill>
                <a:latin typeface="Cambria" panose="02040503050406030204" pitchFamily="18" charset="0"/>
                <a:ea typeface="Cambria" panose="02040503050406030204" pitchFamily="18" charset="0"/>
                <a:cs typeface="Verdana"/>
                <a:sym typeface="Verdana"/>
              </a:rPr>
              <a:t>Ms. Sumita </a:t>
            </a:r>
            <a:r>
              <a:rPr lang="en-US" sz="1800" b="1" dirty="0" err="1">
                <a:solidFill>
                  <a:schemeClr val="tx1"/>
                </a:solidFill>
                <a:latin typeface="Cambria" panose="02040503050406030204" pitchFamily="18" charset="0"/>
                <a:ea typeface="Cambria" panose="02040503050406030204" pitchFamily="18" charset="0"/>
                <a:cs typeface="Verdana"/>
                <a:sym typeface="Verdana"/>
              </a:rPr>
              <a:t>Guddin</a:t>
            </a:r>
            <a:endParaRPr lang="en-US" sz="1800" b="1"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62000" y="1086603"/>
            <a:ext cx="10668000" cy="4232649"/>
          </a:xfrm>
          <a:prstGeom prst="rect">
            <a:avLst/>
          </a:prstGeom>
          <a:noFill/>
          <a:ln>
            <a:noFill/>
          </a:ln>
        </p:spPr>
        <p:txBody>
          <a:bodyPr spcFirstLastPara="1" wrap="square" lIns="91425" tIns="45700" rIns="91425" bIns="45700" anchor="t" anchorCtr="0">
            <a:noAutofit/>
          </a:bodyPr>
          <a:lstStyle/>
          <a:p>
            <a:pPr marL="0" indent="0" eaLnBrk="0" fontAlgn="base" hangingPunct="0">
              <a:lnSpc>
                <a:spcPct val="150000"/>
              </a:lnSpc>
              <a:spcBef>
                <a:spcPct val="0"/>
              </a:spcBef>
              <a:spcAft>
                <a:spcPct val="0"/>
              </a:spcAft>
              <a:buClrTx/>
              <a:buSzTx/>
              <a:buFontTx/>
              <a:buChar char="•"/>
            </a:pPr>
            <a:r>
              <a:rPr lang="en-US" altLang="en-US" sz="1800" b="1" dirty="0">
                <a:solidFill>
                  <a:schemeClr val="tx1"/>
                </a:solidFill>
                <a:latin typeface="Times New Roman" panose="02020603050405020304" pitchFamily="18" charset="0"/>
                <a:cs typeface="Times New Roman" panose="02020603050405020304" pitchFamily="18" charset="0"/>
              </a:rPr>
              <a:t> Problem Statement</a:t>
            </a:r>
            <a:endParaRPr lang="en-US" altLang="en-US" sz="1800" dirty="0">
              <a:solidFill>
                <a:schemeClr val="tx1"/>
              </a:solidFill>
              <a:latin typeface="Times New Roman" panose="02020603050405020304" pitchFamily="18" charset="0"/>
              <a:cs typeface="Times New Roman" panose="02020603050405020304" pitchFamily="18" charset="0"/>
            </a:endParaRPr>
          </a:p>
          <a:p>
            <a:pPr marL="0" indent="0" eaLnBrk="0" fontAlgn="base" hangingPunct="0">
              <a:lnSpc>
                <a:spcPct val="150000"/>
              </a:lnSpc>
              <a:spcBef>
                <a:spcPct val="0"/>
              </a:spcBef>
              <a:spcAft>
                <a:spcPct val="0"/>
              </a:spcAft>
              <a:buClrTx/>
              <a:buSzTx/>
              <a:buFontTx/>
              <a:buChar char="•"/>
            </a:pPr>
            <a:r>
              <a:rPr lang="en-US" altLang="en-US" sz="1800" b="1" dirty="0">
                <a:solidFill>
                  <a:schemeClr val="tx1"/>
                </a:solidFill>
                <a:latin typeface="Times New Roman" panose="02020603050405020304" pitchFamily="18" charset="0"/>
                <a:cs typeface="Times New Roman" panose="02020603050405020304" pitchFamily="18" charset="0"/>
              </a:rPr>
              <a:t> Analysis of Problem Statement</a:t>
            </a:r>
          </a:p>
          <a:p>
            <a:pPr marL="0" lvl="0" indent="0" eaLnBrk="0" fontAlgn="base" hangingPunct="0">
              <a:lnSpc>
                <a:spcPct val="150000"/>
              </a:lnSpc>
              <a:spcBef>
                <a:spcPct val="0"/>
              </a:spcBef>
              <a:spcAft>
                <a:spcPct val="0"/>
              </a:spcAft>
              <a:buClrTx/>
              <a:buSzTx/>
              <a:buFontTx/>
              <a:buChar char="•"/>
            </a:pPr>
            <a:r>
              <a:rPr lang="en-US" altLang="en-US" sz="1800" b="1" dirty="0">
                <a:solidFill>
                  <a:schemeClr val="tx1"/>
                </a:solidFill>
                <a:latin typeface="Times New Roman" panose="02020603050405020304" pitchFamily="18" charset="0"/>
                <a:cs typeface="Times New Roman" panose="02020603050405020304" pitchFamily="18" charset="0"/>
              </a:rPr>
              <a:t> Introduction</a:t>
            </a:r>
            <a:endParaRPr lang="en-US" altLang="en-US" sz="18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50000"/>
              </a:lnSpc>
              <a:spcBef>
                <a:spcPct val="0"/>
              </a:spcBef>
              <a:spcAft>
                <a:spcPct val="0"/>
              </a:spcAft>
              <a:buClrTx/>
              <a:buSzTx/>
              <a:buFontTx/>
              <a:buChar char="•"/>
            </a:pPr>
            <a:r>
              <a:rPr lang="en-US" altLang="en-US" sz="1800" b="1" dirty="0">
                <a:solidFill>
                  <a:schemeClr val="tx1"/>
                </a:solidFill>
                <a:latin typeface="Times New Roman" panose="02020603050405020304" pitchFamily="18" charset="0"/>
                <a:cs typeface="Times New Roman" panose="02020603050405020304" pitchFamily="18" charset="0"/>
              </a:rPr>
              <a:t> Background and Related Work </a:t>
            </a:r>
            <a:endParaRPr lang="en-US" altLang="en-US" sz="1800" dirty="0">
              <a:solidFill>
                <a:schemeClr val="tx1"/>
              </a:solidFill>
              <a:latin typeface="Times New Roman" panose="02020603050405020304" pitchFamily="18" charset="0"/>
              <a:cs typeface="Times New Roman" panose="02020603050405020304" pitchFamily="18" charset="0"/>
            </a:endParaRPr>
          </a:p>
          <a:p>
            <a:pPr marL="0" indent="0" eaLnBrk="0" fontAlgn="base" hangingPunct="0">
              <a:lnSpc>
                <a:spcPct val="150000"/>
              </a:lnSpc>
              <a:spcBef>
                <a:spcPct val="0"/>
              </a:spcBef>
              <a:spcAft>
                <a:spcPct val="0"/>
              </a:spcAft>
              <a:buClrTx/>
              <a:buSzTx/>
              <a:buFontTx/>
              <a:buChar char="•"/>
            </a:pPr>
            <a:r>
              <a:rPr lang="en-US" altLang="en-US" sz="1800" b="1" dirty="0">
                <a:solidFill>
                  <a:schemeClr val="tx1"/>
                </a:solidFill>
                <a:latin typeface="Times New Roman" panose="02020603050405020304" pitchFamily="18" charset="0"/>
                <a:cs typeface="Times New Roman" panose="02020603050405020304" pitchFamily="18" charset="0"/>
              </a:rPr>
              <a:t> Proposed Approach and Objectives</a:t>
            </a:r>
            <a:endParaRPr lang="en-US" altLang="en-US" sz="18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50000"/>
              </a:lnSpc>
              <a:spcBef>
                <a:spcPct val="0"/>
              </a:spcBef>
              <a:spcAft>
                <a:spcPct val="0"/>
              </a:spcAft>
              <a:buClrTx/>
              <a:buSzTx/>
              <a:buFontTx/>
              <a:buChar char="•"/>
            </a:pPr>
            <a:r>
              <a:rPr lang="en-US" altLang="en-US" sz="1800" b="1" dirty="0">
                <a:solidFill>
                  <a:schemeClr val="tx1"/>
                </a:solidFill>
                <a:latin typeface="Times New Roman" panose="02020603050405020304" pitchFamily="18" charset="0"/>
                <a:cs typeface="Times New Roman" panose="02020603050405020304" pitchFamily="18" charset="0"/>
              </a:rPr>
              <a:t> Software and Hardware Requirements</a:t>
            </a:r>
            <a:endParaRPr lang="en-US" altLang="en-US" sz="18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50000"/>
              </a:lnSpc>
              <a:spcBef>
                <a:spcPct val="0"/>
              </a:spcBef>
              <a:spcAft>
                <a:spcPct val="0"/>
              </a:spcAft>
              <a:buClrTx/>
              <a:buSzTx/>
              <a:buFontTx/>
              <a:buChar char="•"/>
            </a:pPr>
            <a:r>
              <a:rPr lang="en-US" altLang="en-US" sz="1800" b="1" dirty="0">
                <a:solidFill>
                  <a:schemeClr val="tx1"/>
                </a:solidFill>
                <a:latin typeface="Times New Roman" panose="02020603050405020304" pitchFamily="18" charset="0"/>
                <a:cs typeface="Times New Roman" panose="02020603050405020304" pitchFamily="18" charset="0"/>
              </a:rPr>
              <a:t> Flow Diagram</a:t>
            </a:r>
            <a:endParaRPr lang="en-US" altLang="en-US" sz="18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50000"/>
              </a:lnSpc>
              <a:spcBef>
                <a:spcPct val="0"/>
              </a:spcBef>
              <a:spcAft>
                <a:spcPct val="0"/>
              </a:spcAft>
              <a:buClrTx/>
              <a:buSzTx/>
              <a:buFontTx/>
              <a:buChar char="•"/>
            </a:pPr>
            <a:r>
              <a:rPr lang="en-US" altLang="en-US" sz="1800" b="1" dirty="0">
                <a:solidFill>
                  <a:schemeClr val="tx1"/>
                </a:solidFill>
                <a:latin typeface="Times New Roman" panose="02020603050405020304" pitchFamily="18" charset="0"/>
                <a:cs typeface="Times New Roman" panose="02020603050405020304" pitchFamily="18" charset="0"/>
              </a:rPr>
              <a:t> Timeline of the Project</a:t>
            </a:r>
          </a:p>
          <a:p>
            <a:pPr marL="0" indent="0" eaLnBrk="0" fontAlgn="base" hangingPunct="0">
              <a:lnSpc>
                <a:spcPct val="150000"/>
              </a:lnSpc>
              <a:spcBef>
                <a:spcPct val="0"/>
              </a:spcBef>
              <a:spcAft>
                <a:spcPct val="0"/>
              </a:spcAft>
              <a:buClrTx/>
              <a:buSzTx/>
              <a:buFontTx/>
              <a:buChar char="•"/>
            </a:pPr>
            <a:r>
              <a:rPr lang="en-US" altLang="en-US" sz="1800" b="1" dirty="0">
                <a:solidFill>
                  <a:schemeClr val="tx1"/>
                </a:solidFill>
                <a:latin typeface="Times New Roman" panose="02020603050405020304" pitchFamily="18" charset="0"/>
                <a:cs typeface="Times New Roman" panose="02020603050405020304" pitchFamily="18" charset="0"/>
              </a:rPr>
              <a:t> GitHub Link</a:t>
            </a:r>
            <a:endParaRPr lang="en-US" altLang="en-US" sz="18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50000"/>
              </a:lnSpc>
              <a:spcBef>
                <a:spcPct val="0"/>
              </a:spcBef>
              <a:spcAft>
                <a:spcPct val="0"/>
              </a:spcAft>
              <a:buClrTx/>
              <a:buSzTx/>
              <a:buFontTx/>
              <a:buChar char="•"/>
            </a:pPr>
            <a:r>
              <a:rPr lang="en-US" altLang="en-US" sz="1800" b="1" dirty="0">
                <a:solidFill>
                  <a:schemeClr val="tx1"/>
                </a:solidFill>
                <a:latin typeface="Times New Roman" panose="02020603050405020304" pitchFamily="18" charset="0"/>
                <a:cs typeface="Times New Roman" panose="02020603050405020304" pitchFamily="18" charset="0"/>
              </a:rPr>
              <a:t> References</a:t>
            </a:r>
            <a:endParaRPr lang="en-US" alt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Problem Statement: </a:t>
            </a:r>
            <a:r>
              <a:rPr lang="en-IN" dirty="0">
                <a:latin typeface="Cambria" panose="02040503050406030204" pitchFamily="18" charset="0"/>
                <a:ea typeface="Cambria" panose="02040503050406030204" pitchFamily="18" charset="0"/>
              </a:rPr>
              <a:t>SIH25004</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917223"/>
            <a:ext cx="11231716" cy="5218106"/>
          </a:xfrm>
          <a:prstGeom prst="rect">
            <a:avLst/>
          </a:prstGeom>
          <a:noFill/>
          <a:ln>
            <a:noFill/>
          </a:ln>
        </p:spPr>
        <p:txBody>
          <a:bodyPr spcFirstLastPara="1" wrap="square" lIns="91425" tIns="45700" rIns="91425" bIns="45700" anchor="t" anchorCtr="0">
            <a:noAutofit/>
          </a:bodyPr>
          <a:lstStyle/>
          <a:p>
            <a:pPr>
              <a:lnSpc>
                <a:spcPct val="150000"/>
              </a:lnSpc>
            </a:pPr>
            <a:r>
              <a:rPr lang="en-US" sz="2000" b="1" dirty="0">
                <a:latin typeface="Times New Roman" panose="02020603050405020304" pitchFamily="18" charset="0"/>
                <a:cs typeface="Times New Roman" panose="02020603050405020304" pitchFamily="18" charset="0"/>
              </a:rPr>
              <a:t>Organization: </a:t>
            </a:r>
            <a:r>
              <a:rPr lang="en-US" sz="2000" dirty="0">
                <a:latin typeface="Times New Roman" panose="02020603050405020304" pitchFamily="18" charset="0"/>
                <a:cs typeface="Times New Roman" panose="02020603050405020304" pitchFamily="18" charset="0"/>
              </a:rPr>
              <a:t>Ministry of Fisheries, Animal Husbandry &amp; Dairying</a:t>
            </a:r>
          </a:p>
          <a:p>
            <a:pPr>
              <a:lnSpc>
                <a:spcPct val="150000"/>
              </a:lnSpc>
            </a:pPr>
            <a:r>
              <a:rPr lang="en-US" sz="2000" b="1" dirty="0">
                <a:latin typeface="Times New Roman" panose="02020603050405020304" pitchFamily="18" charset="0"/>
                <a:cs typeface="Times New Roman" panose="02020603050405020304" pitchFamily="18" charset="0"/>
              </a:rPr>
              <a:t>Problem Title: </a:t>
            </a:r>
            <a:r>
              <a:rPr lang="en-US" sz="2000" dirty="0">
                <a:latin typeface="Times New Roman" panose="02020603050405020304" pitchFamily="18" charset="0"/>
                <a:cs typeface="Times New Roman" panose="02020603050405020304" pitchFamily="18" charset="0"/>
              </a:rPr>
              <a:t>Image based breed recognition for cattle and buffaloes of India</a:t>
            </a:r>
          </a:p>
          <a:p>
            <a:pPr>
              <a:lnSpc>
                <a:spcPct val="150000"/>
              </a:lnSpc>
            </a:pPr>
            <a:r>
              <a:rPr lang="en-US" sz="2000" b="1" dirty="0">
                <a:latin typeface="Times New Roman" panose="02020603050405020304" pitchFamily="18" charset="0"/>
                <a:cs typeface="Times New Roman" panose="02020603050405020304" pitchFamily="18" charset="0"/>
              </a:rPr>
              <a:t>Category: </a:t>
            </a:r>
            <a:r>
              <a:rPr lang="en-US" sz="2000" dirty="0">
                <a:latin typeface="Times New Roman" panose="02020603050405020304" pitchFamily="18" charset="0"/>
                <a:cs typeface="Times New Roman" panose="02020603050405020304" pitchFamily="18" charset="0"/>
              </a:rPr>
              <a:t>Software</a:t>
            </a:r>
          </a:p>
          <a:p>
            <a:pPr>
              <a:lnSpc>
                <a:spcPct val="150000"/>
              </a:lnSpc>
            </a:pPr>
            <a:r>
              <a:rPr lang="en-US" sz="2000" b="1" dirty="0">
                <a:latin typeface="Times New Roman" panose="02020603050405020304" pitchFamily="18" charset="0"/>
                <a:cs typeface="Times New Roman" panose="02020603050405020304" pitchFamily="18" charset="0"/>
              </a:rPr>
              <a:t>Problem ID: </a:t>
            </a:r>
            <a:r>
              <a:rPr lang="en-US" sz="2000" dirty="0">
                <a:latin typeface="Times New Roman" panose="02020603050405020304" pitchFamily="18" charset="0"/>
                <a:cs typeface="Times New Roman" panose="02020603050405020304" pitchFamily="18" charset="0"/>
              </a:rPr>
              <a:t>SIH25004</a:t>
            </a:r>
          </a:p>
          <a:p>
            <a:pPr>
              <a:lnSpc>
                <a:spcPct val="150000"/>
              </a:lnSpc>
            </a:pPr>
            <a:r>
              <a:rPr lang="en-US" sz="2000" b="1" dirty="0">
                <a:latin typeface="Times New Roman" panose="02020603050405020304" pitchFamily="18" charset="0"/>
                <a:cs typeface="Times New Roman" panose="02020603050405020304" pitchFamily="18" charset="0"/>
              </a:rPr>
              <a:t>Domain: </a:t>
            </a:r>
            <a:r>
              <a:rPr lang="en-US" sz="2000" dirty="0">
                <a:latin typeface="Times New Roman" panose="02020603050405020304" pitchFamily="18" charset="0"/>
                <a:cs typeface="Times New Roman" panose="02020603050405020304" pitchFamily="18" charset="0"/>
              </a:rPr>
              <a:t>Agriculture, FoodTech &amp; Rural Development</a:t>
            </a:r>
          </a:p>
          <a:p>
            <a:pPr>
              <a:lnSpc>
                <a:spcPct val="150000"/>
              </a:lnSpc>
            </a:pPr>
            <a:r>
              <a:rPr lang="en-US" sz="2000" b="1" dirty="0">
                <a:latin typeface="Times New Roman" panose="02020603050405020304" pitchFamily="18" charset="0"/>
                <a:cs typeface="Times New Roman" panose="02020603050405020304" pitchFamily="18" charset="0"/>
              </a:rPr>
              <a:t>SDG Alignment: </a:t>
            </a:r>
            <a:r>
              <a:rPr lang="en-US" sz="2000" dirty="0">
                <a:latin typeface="Times New Roman" panose="02020603050405020304" pitchFamily="18" charset="0"/>
                <a:cs typeface="Times New Roman" panose="02020603050405020304" pitchFamily="18" charset="0"/>
              </a:rPr>
              <a:t>SDG 2 – Zero Hunger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C60E8818-AD66-1CE0-F4E5-1BD0C0EA00F2}"/>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48E4B7D6-683D-B243-0DDD-13CA3B13F514}"/>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Problem Statement: </a:t>
            </a:r>
            <a:r>
              <a:rPr lang="en-IN" dirty="0">
                <a:latin typeface="Cambria" panose="02040503050406030204" pitchFamily="18" charset="0"/>
                <a:ea typeface="Cambria" panose="02040503050406030204" pitchFamily="18" charset="0"/>
              </a:rPr>
              <a:t>SIH25004</a:t>
            </a:r>
            <a:endParaRPr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189DAF10-E6D3-8E8C-A720-D12CBA4F904E}"/>
              </a:ext>
            </a:extLst>
          </p:cNvPr>
          <p:cNvSpPr txBox="1">
            <a:spLocks noGrp="1"/>
          </p:cNvSpPr>
          <p:nvPr>
            <p:ph type="body" idx="1"/>
          </p:nvPr>
        </p:nvSpPr>
        <p:spPr>
          <a:xfrm>
            <a:off x="331019" y="1306643"/>
            <a:ext cx="11231716" cy="4244713"/>
          </a:xfrm>
          <a:prstGeom prst="rect">
            <a:avLst/>
          </a:prstGeom>
          <a:noFill/>
          <a:ln>
            <a:noFill/>
          </a:ln>
        </p:spPr>
        <p:txBody>
          <a:bodyPr spcFirstLastPara="1" wrap="square" lIns="91425" tIns="45700" rIns="91425" bIns="45700" anchor="t" anchorCtr="0">
            <a:noAutofit/>
          </a:bodyPr>
          <a:lstStyle/>
          <a:p>
            <a:pPr algn="just">
              <a:lnSpc>
                <a:spcPct val="150000"/>
              </a:lnSpc>
            </a:pPr>
            <a:r>
              <a:rPr lang="en-US" sz="1700" b="1" dirty="0">
                <a:latin typeface="Times New Roman" panose="02020603050405020304" pitchFamily="18" charset="0"/>
                <a:cs typeface="Times New Roman" panose="02020603050405020304" pitchFamily="18" charset="0"/>
              </a:rPr>
              <a:t>Problem Description: </a:t>
            </a:r>
            <a:r>
              <a:rPr lang="en-US" sz="1800" dirty="0">
                <a:latin typeface="Times New Roman" panose="02020603050405020304" pitchFamily="18" charset="0"/>
                <a:cs typeface="Times New Roman" panose="02020603050405020304" pitchFamily="18" charset="0"/>
              </a:rPr>
              <a:t>India possesses a rich diversity of indigenous cattle and buffalo breeds that are vital for milk production, agriculture, and rural livelihoods. However, accurate identification of these breeds is still largely dependent on manual observation by experts, which is time-consuming, subjective, and often unavailable to farmers and field officials. Many Indian breeds share similar physical characteristics, making breed differentiation difficult without specialized knowledge. The absence of an automated and reliable digital system for breed recognition leads to misclassification, affects breeding programs, and limits effective conservation of native genetic resources. Therefore, there is a strong need for an image-based breed recognition system that uses computer vision and deep learning techniques to accurately identify Indian cattle and buffalo breeds, enabling faster, consistent, and accessible breed identification.</a:t>
            </a:r>
            <a:endParaRPr lang="en-US"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7330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Times New Roman" panose="02020603050405020304" pitchFamily="18" charset="0"/>
                <a:ea typeface="Cambria" panose="02040503050406030204" pitchFamily="18" charset="0"/>
                <a:cs typeface="Times New Roman" panose="02020603050405020304" pitchFamily="18" charset="0"/>
              </a:rPr>
              <a:t>Analysis of Problem Statement</a:t>
            </a:r>
          </a:p>
        </p:txBody>
      </p:sp>
      <p:sp>
        <p:nvSpPr>
          <p:cNvPr id="3" name="Rectangle 2">
            <a:extLst>
              <a:ext uri="{FF2B5EF4-FFF2-40B4-BE49-F238E27FC236}">
                <a16:creationId xmlns:a16="http://schemas.microsoft.com/office/drawing/2014/main" id="{12F7D9FA-E6AC-9849-9140-E90481C7E7D2}"/>
              </a:ext>
            </a:extLst>
          </p:cNvPr>
          <p:cNvSpPr/>
          <p:nvPr/>
        </p:nvSpPr>
        <p:spPr>
          <a:xfrm>
            <a:off x="1061890" y="1221471"/>
            <a:ext cx="2900516" cy="21321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en-US" dirty="0">
              <a:solidFill>
                <a:schemeClr val="tx1"/>
              </a:solidFill>
              <a:latin typeface="Arial" panose="020B0604020202020204" pitchFamily="34" charset="0"/>
            </a:endParaRPr>
          </a:p>
          <a:p>
            <a:pPr algn="ct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CF86F69-190B-2855-E16E-9F6249B4573E}"/>
              </a:ext>
            </a:extLst>
          </p:cNvPr>
          <p:cNvSpPr txBox="1"/>
          <p:nvPr/>
        </p:nvSpPr>
        <p:spPr>
          <a:xfrm>
            <a:off x="1730478" y="3504391"/>
            <a:ext cx="1208985" cy="338554"/>
          </a:xfrm>
          <a:prstGeom prst="rect">
            <a:avLst/>
          </a:prstGeom>
          <a:noFill/>
        </p:spPr>
        <p:txBody>
          <a:bodyPr wrap="none" rtlCol="0">
            <a:spAutoFit/>
          </a:bodyPr>
          <a:lstStyle/>
          <a:p>
            <a:r>
              <a:rPr lang="en-IN" sz="1600" b="1" dirty="0">
                <a:latin typeface="Times New Roman" panose="02020603050405020304" pitchFamily="18" charset="0"/>
                <a:cs typeface="Times New Roman" panose="02020603050405020304" pitchFamily="18" charset="0"/>
              </a:rPr>
              <a:t>PROBLEM</a:t>
            </a:r>
          </a:p>
        </p:txBody>
      </p:sp>
      <p:cxnSp>
        <p:nvCxnSpPr>
          <p:cNvPr id="8" name="Straight Arrow Connector 7">
            <a:extLst>
              <a:ext uri="{FF2B5EF4-FFF2-40B4-BE49-F238E27FC236}">
                <a16:creationId xmlns:a16="http://schemas.microsoft.com/office/drawing/2014/main" id="{F14463EC-6BE3-85A4-74C7-DD3A3DF72169}"/>
              </a:ext>
            </a:extLst>
          </p:cNvPr>
          <p:cNvCxnSpPr>
            <a:cxnSpLocks/>
            <a:stCxn id="3" idx="3"/>
            <a:endCxn id="9" idx="1"/>
          </p:cNvCxnSpPr>
          <p:nvPr/>
        </p:nvCxnSpPr>
        <p:spPr>
          <a:xfrm>
            <a:off x="3962406" y="2287541"/>
            <a:ext cx="1986110" cy="341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9" name="Rectangle 8">
            <a:extLst>
              <a:ext uri="{FF2B5EF4-FFF2-40B4-BE49-F238E27FC236}">
                <a16:creationId xmlns:a16="http://schemas.microsoft.com/office/drawing/2014/main" id="{FA14F049-5047-9E0F-4AC5-0D082CE5033A}"/>
              </a:ext>
            </a:extLst>
          </p:cNvPr>
          <p:cNvSpPr/>
          <p:nvPr/>
        </p:nvSpPr>
        <p:spPr>
          <a:xfrm>
            <a:off x="5948516" y="1337186"/>
            <a:ext cx="3731336" cy="19075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buClrTx/>
              <a:buFontTx/>
              <a:buChar char="•"/>
            </a:pPr>
            <a:r>
              <a:rPr lang="en-US" altLang="en-US">
                <a:solidFill>
                  <a:schemeClr val="tx1"/>
                </a:solidFill>
                <a:latin typeface="Arial" panose="020B0604020202020204" pitchFamily="34" charset="0"/>
              </a:rPr>
              <a:t>Visual features such as coat color, horn shape, face structure, and body pattern are important for breed identification</a:t>
            </a:r>
          </a:p>
          <a:p>
            <a:pPr lvl="0" eaLnBrk="0" fontAlgn="base" hangingPunct="0">
              <a:spcBef>
                <a:spcPct val="0"/>
              </a:spcBef>
              <a:spcAft>
                <a:spcPct val="0"/>
              </a:spcAft>
              <a:buClrTx/>
              <a:buFontTx/>
              <a:buChar char="•"/>
            </a:pPr>
            <a:r>
              <a:rPr lang="en-US" altLang="en-US">
                <a:solidFill>
                  <a:schemeClr val="tx1"/>
                </a:solidFill>
                <a:latin typeface="Arial" panose="020B0604020202020204" pitchFamily="34" charset="0"/>
              </a:rPr>
              <a:t>Traditional methods are inconsistent and subjective</a:t>
            </a:r>
          </a:p>
          <a:p>
            <a:pPr lvl="0" eaLnBrk="0" fontAlgn="base" hangingPunct="0">
              <a:spcBef>
                <a:spcPct val="0"/>
              </a:spcBef>
              <a:spcAft>
                <a:spcPct val="0"/>
              </a:spcAft>
              <a:buClrTx/>
              <a:buFontTx/>
              <a:buChar char="•"/>
            </a:pPr>
            <a:r>
              <a:rPr lang="en-US" altLang="en-US">
                <a:solidFill>
                  <a:schemeClr val="tx1"/>
                </a:solidFill>
                <a:latin typeface="Arial" panose="020B0604020202020204" pitchFamily="34" charset="0"/>
              </a:rPr>
              <a:t>Deep learning can automatically extract features from images</a:t>
            </a:r>
            <a:endParaRPr lang="en-US" altLang="en-US" dirty="0">
              <a:solidFill>
                <a:schemeClr val="tx1"/>
              </a:solidFill>
              <a:latin typeface="Arial" panose="020B0604020202020204" pitchFamily="34" charset="0"/>
            </a:endParaRPr>
          </a:p>
        </p:txBody>
      </p:sp>
      <p:sp>
        <p:nvSpPr>
          <p:cNvPr id="10" name="TextBox 9">
            <a:extLst>
              <a:ext uri="{FF2B5EF4-FFF2-40B4-BE49-F238E27FC236}">
                <a16:creationId xmlns:a16="http://schemas.microsoft.com/office/drawing/2014/main" id="{8ED2C981-2A47-C8A1-C071-CC863A70F4CC}"/>
              </a:ext>
            </a:extLst>
          </p:cNvPr>
          <p:cNvSpPr txBox="1"/>
          <p:nvPr/>
        </p:nvSpPr>
        <p:spPr>
          <a:xfrm>
            <a:off x="7197668" y="1008608"/>
            <a:ext cx="1218603" cy="338554"/>
          </a:xfrm>
          <a:prstGeom prst="rect">
            <a:avLst/>
          </a:prstGeom>
          <a:noFill/>
        </p:spPr>
        <p:txBody>
          <a:bodyPr wrap="none" rtlCol="0">
            <a:spAutoFit/>
          </a:bodyPr>
          <a:lstStyle/>
          <a:p>
            <a:r>
              <a:rPr lang="en-IN" sz="1600" b="1" dirty="0">
                <a:latin typeface="Times New Roman" panose="02020603050405020304" pitchFamily="18" charset="0"/>
                <a:cs typeface="Times New Roman" panose="02020603050405020304" pitchFamily="18" charset="0"/>
              </a:rPr>
              <a:t>ANALYSIS</a:t>
            </a:r>
          </a:p>
        </p:txBody>
      </p:sp>
      <p:cxnSp>
        <p:nvCxnSpPr>
          <p:cNvPr id="12" name="Straight Arrow Connector 11">
            <a:extLst>
              <a:ext uri="{FF2B5EF4-FFF2-40B4-BE49-F238E27FC236}">
                <a16:creationId xmlns:a16="http://schemas.microsoft.com/office/drawing/2014/main" id="{DB9314D3-A043-9B74-D4AC-67BA3A6B6235}"/>
              </a:ext>
            </a:extLst>
          </p:cNvPr>
          <p:cNvCxnSpPr>
            <a:cxnSpLocks/>
            <a:stCxn id="9" idx="2"/>
            <a:endCxn id="13" idx="0"/>
          </p:cNvCxnSpPr>
          <p:nvPr/>
        </p:nvCxnSpPr>
        <p:spPr>
          <a:xfrm>
            <a:off x="7814184" y="3244716"/>
            <a:ext cx="0" cy="72751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3" name="Rectangle 12">
            <a:extLst>
              <a:ext uri="{FF2B5EF4-FFF2-40B4-BE49-F238E27FC236}">
                <a16:creationId xmlns:a16="http://schemas.microsoft.com/office/drawing/2014/main" id="{8079FF0B-68D3-9B40-2DCB-B1496D18128F}"/>
              </a:ext>
            </a:extLst>
          </p:cNvPr>
          <p:cNvSpPr/>
          <p:nvPr/>
        </p:nvSpPr>
        <p:spPr>
          <a:xfrm>
            <a:off x="5948516" y="3972232"/>
            <a:ext cx="3731335" cy="17501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678F2CA-99A0-9376-7EA4-92D079513B1B}"/>
              </a:ext>
            </a:extLst>
          </p:cNvPr>
          <p:cNvSpPr txBox="1"/>
          <p:nvPr/>
        </p:nvSpPr>
        <p:spPr>
          <a:xfrm>
            <a:off x="7197668" y="5722374"/>
            <a:ext cx="1266693" cy="338554"/>
          </a:xfrm>
          <a:prstGeom prst="rect">
            <a:avLst/>
          </a:prstGeom>
          <a:noFill/>
        </p:spPr>
        <p:txBody>
          <a:bodyPr wrap="none" rtlCol="0">
            <a:spAutoFit/>
          </a:bodyPr>
          <a:lstStyle/>
          <a:p>
            <a:r>
              <a:rPr lang="en-IN" sz="1600" b="1" dirty="0">
                <a:latin typeface="Times New Roman" panose="02020603050405020304" pitchFamily="18" charset="0"/>
                <a:cs typeface="Times New Roman" panose="02020603050405020304" pitchFamily="18" charset="0"/>
              </a:rPr>
              <a:t>SOLUTION</a:t>
            </a:r>
          </a:p>
        </p:txBody>
      </p:sp>
      <p:sp>
        <p:nvSpPr>
          <p:cNvPr id="22" name="TextBox 21">
            <a:extLst>
              <a:ext uri="{FF2B5EF4-FFF2-40B4-BE49-F238E27FC236}">
                <a16:creationId xmlns:a16="http://schemas.microsoft.com/office/drawing/2014/main" id="{A308439E-17EB-5EA3-7F3F-2274EA717BBE}"/>
              </a:ext>
            </a:extLst>
          </p:cNvPr>
          <p:cNvSpPr txBox="1"/>
          <p:nvPr/>
        </p:nvSpPr>
        <p:spPr>
          <a:xfrm>
            <a:off x="6075953" y="4135819"/>
            <a:ext cx="3731335" cy="138499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Develop an </a:t>
            </a:r>
            <a:r>
              <a:rPr kumimoji="0" lang="en-US" altLang="en-US" sz="1400" b="1" i="0" u="none" strike="noStrike" cap="none" normalizeH="0" baseline="0" dirty="0">
                <a:ln>
                  <a:noFill/>
                </a:ln>
                <a:solidFill>
                  <a:schemeClr val="tx1"/>
                </a:solidFill>
                <a:effectLst/>
                <a:latin typeface="Arial" panose="020B0604020202020204" pitchFamily="34" charset="0"/>
              </a:rPr>
              <a:t>image-based breed recognition system</a:t>
            </a:r>
            <a:r>
              <a:rPr kumimoji="0" lang="en-US" altLang="en-US" sz="1400" b="0" i="0" u="none" strike="noStrike" cap="none" normalizeH="0" baseline="0" dirty="0">
                <a:ln>
                  <a:noFill/>
                </a:ln>
                <a:solidFill>
                  <a:schemeClr val="tx1"/>
                </a:solidFill>
                <a:effectLst/>
                <a:latin typeface="Arial" panose="020B0604020202020204" pitchFamily="34" charset="0"/>
              </a:rPr>
              <a:t> using deep learning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Train models on </a:t>
            </a:r>
            <a:r>
              <a:rPr kumimoji="0" lang="en-US" altLang="en-US" sz="1400" b="1" i="0" u="none" strike="noStrike" cap="none" normalizeH="0" baseline="0" dirty="0">
                <a:ln>
                  <a:noFill/>
                </a:ln>
                <a:solidFill>
                  <a:schemeClr val="tx1"/>
                </a:solidFill>
                <a:effectLst/>
                <a:latin typeface="Arial" panose="020B0604020202020204" pitchFamily="34" charset="0"/>
              </a:rPr>
              <a:t>Indian cattle and buffalo breed image datasets</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Provide accurate and fast breed prediction through a digital platform</a:t>
            </a:r>
          </a:p>
        </p:txBody>
      </p:sp>
      <p:sp>
        <p:nvSpPr>
          <p:cNvPr id="24" name="TextBox 23">
            <a:extLst>
              <a:ext uri="{FF2B5EF4-FFF2-40B4-BE49-F238E27FC236}">
                <a16:creationId xmlns:a16="http://schemas.microsoft.com/office/drawing/2014/main" id="{5A02F422-4C73-FD1B-1CF4-755696C6EB3F}"/>
              </a:ext>
            </a:extLst>
          </p:cNvPr>
          <p:cNvSpPr txBox="1"/>
          <p:nvPr/>
        </p:nvSpPr>
        <p:spPr>
          <a:xfrm>
            <a:off x="1061890" y="1379599"/>
            <a:ext cx="2888663" cy="1815882"/>
          </a:xfrm>
          <a:prstGeom prst="rect">
            <a:avLst/>
          </a:prstGeom>
          <a:noFill/>
        </p:spPr>
        <p:txBody>
          <a:bodyPr wrap="square">
            <a:spAutoFit/>
          </a:bodyPr>
          <a:lstStyle/>
          <a:p>
            <a:pPr algn="ctr"/>
            <a:r>
              <a:rPr lang="en-US" altLang="en-US" dirty="0">
                <a:solidFill>
                  <a:schemeClr val="tx1"/>
                </a:solidFill>
                <a:latin typeface="Arial" panose="020B0604020202020204" pitchFamily="34" charset="0"/>
              </a:rPr>
              <a:t>Manual breed identification requires expert knowledge.</a:t>
            </a:r>
          </a:p>
          <a:p>
            <a:pPr algn="ctr"/>
            <a:r>
              <a:rPr lang="en-US" altLang="en-US" dirty="0">
                <a:solidFill>
                  <a:schemeClr val="tx1"/>
                </a:solidFill>
                <a:latin typeface="Arial" panose="020B0604020202020204" pitchFamily="34" charset="0"/>
              </a:rPr>
              <a:t>High similarity between many Indian breeds.</a:t>
            </a:r>
          </a:p>
          <a:p>
            <a:pPr algn="ctr"/>
            <a:r>
              <a:rPr lang="en-US" altLang="en-US" dirty="0">
                <a:solidFill>
                  <a:schemeClr val="tx1"/>
                </a:solidFill>
                <a:latin typeface="Arial" panose="020B0604020202020204" pitchFamily="34" charset="0"/>
              </a:rPr>
              <a:t>Lack of easily accessible digital tools for farmers and officials.</a:t>
            </a:r>
          </a:p>
          <a:p>
            <a:pPr algn="ctr"/>
            <a:r>
              <a:rPr lang="en-US" altLang="en-US" dirty="0">
                <a:solidFill>
                  <a:schemeClr val="tx1"/>
                </a:solidFill>
                <a:latin typeface="Arial" panose="020B0604020202020204" pitchFamily="34" charset="0"/>
              </a:rPr>
              <a:t>Existing datasets are limited or scattered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C2B7B-E559-7AC5-7500-E5C6F21D82F2}"/>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Introduction</a:t>
            </a:r>
          </a:p>
        </p:txBody>
      </p:sp>
      <p:sp>
        <p:nvSpPr>
          <p:cNvPr id="3" name="Text Placeholder 2">
            <a:extLst>
              <a:ext uri="{FF2B5EF4-FFF2-40B4-BE49-F238E27FC236}">
                <a16:creationId xmlns:a16="http://schemas.microsoft.com/office/drawing/2014/main" id="{8D1B63F4-DD6F-E657-A813-1C3CD0489C2A}"/>
              </a:ext>
            </a:extLst>
          </p:cNvPr>
          <p:cNvSpPr>
            <a:spLocks noGrp="1"/>
          </p:cNvSpPr>
          <p:nvPr>
            <p:ph type="body" idx="1"/>
          </p:nvPr>
        </p:nvSpPr>
        <p:spPr>
          <a:xfrm>
            <a:off x="762000" y="1331042"/>
            <a:ext cx="10668000" cy="4195915"/>
          </a:xfrm>
        </p:spPr>
        <p:txBody>
          <a:bodyPr spcCol="360000">
            <a:normAutofit/>
          </a:bodyPr>
          <a:lstStyle/>
          <a:p>
            <a:pPr marL="76200" indent="0" algn="just">
              <a:buNone/>
            </a:pPr>
            <a:r>
              <a:rPr lang="en-US" sz="2000" dirty="0">
                <a:latin typeface="Times New Roman" panose="02020603050405020304" pitchFamily="18" charset="0"/>
                <a:cs typeface="Times New Roman" panose="02020603050405020304" pitchFamily="18" charset="0"/>
              </a:rPr>
              <a:t>India is home to a wide variety of indigenous cattle and buffalo breeds; each adapted to specific climatic and agricultural conditions. These breeds play a crucial role in milk production, draught power, rural livelihoods, and biodiversity conservation.</a:t>
            </a:r>
          </a:p>
          <a:p>
            <a:pPr marL="76200" indent="0" algn="just">
              <a:buNone/>
            </a:pPr>
            <a:r>
              <a:rPr lang="en-US" sz="2000" dirty="0">
                <a:latin typeface="Times New Roman" panose="02020603050405020304" pitchFamily="18" charset="0"/>
                <a:cs typeface="Times New Roman" panose="02020603050405020304" pitchFamily="18" charset="0"/>
              </a:rPr>
              <a:t>Correct identification of breeds is essential for government schemes, breeding programs, and scientific research. However, the lack of automated tools makes breed identification difficult, especially in rural areas.</a:t>
            </a:r>
          </a:p>
          <a:p>
            <a:pPr marL="76200" indent="0" algn="just">
              <a:buNone/>
            </a:pPr>
            <a:r>
              <a:rPr lang="en-US" sz="2000" dirty="0">
                <a:latin typeface="Times New Roman" panose="02020603050405020304" pitchFamily="18" charset="0"/>
                <a:cs typeface="Times New Roman" panose="02020603050405020304" pitchFamily="18" charset="0"/>
              </a:rPr>
              <a:t>With advancements in </a:t>
            </a:r>
            <a:r>
              <a:rPr lang="en-US" sz="2000" b="1" dirty="0">
                <a:latin typeface="Times New Roman" panose="02020603050405020304" pitchFamily="18" charset="0"/>
                <a:cs typeface="Times New Roman" panose="02020603050405020304" pitchFamily="18" charset="0"/>
              </a:rPr>
              <a:t>computer vision and deep learning</a:t>
            </a:r>
            <a:r>
              <a:rPr lang="en-US" sz="2000" dirty="0">
                <a:latin typeface="Times New Roman" panose="02020603050405020304" pitchFamily="18" charset="0"/>
                <a:cs typeface="Times New Roman" panose="02020603050405020304" pitchFamily="18" charset="0"/>
              </a:rPr>
              <a:t>, image-based recognition systems can automatically analyze visual features from animal images and classify them into respective breeds. This project proposes an intelligent system that identifies Indian cattle and buffalo breeds using images, enabling easy and reliable breed recognition.</a:t>
            </a:r>
          </a:p>
          <a:p>
            <a:pPr marL="76200" indent="0">
              <a:buNone/>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81853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Background and Related Work</a:t>
            </a:r>
            <a:endParaRPr dirty="0">
              <a:latin typeface="Times New Roman" panose="02020603050405020304" pitchFamily="18" charset="0"/>
              <a:cs typeface="Times New Roman" panose="02020603050405020304" pitchFamily="18" charset="0"/>
            </a:endParaRPr>
          </a:p>
        </p:txBody>
      </p:sp>
      <p:sp>
        <p:nvSpPr>
          <p:cNvPr id="8" name="Rectangle 5">
            <a:extLst>
              <a:ext uri="{FF2B5EF4-FFF2-40B4-BE49-F238E27FC236}">
                <a16:creationId xmlns:a16="http://schemas.microsoft.com/office/drawing/2014/main" id="{9D4AC5B5-02E0-17F2-288C-CB76E6D12431}"/>
              </a:ext>
            </a:extLst>
          </p:cNvPr>
          <p:cNvSpPr>
            <a:spLocks noGrp="1" noChangeArrowheads="1"/>
          </p:cNvSpPr>
          <p:nvPr>
            <p:ph type="body" idx="1"/>
          </p:nvPr>
        </p:nvSpPr>
        <p:spPr bwMode="auto">
          <a:xfrm>
            <a:off x="511278" y="927654"/>
            <a:ext cx="10795820" cy="5370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76200" indent="0">
              <a:buNone/>
            </a:pPr>
            <a:r>
              <a:rPr lang="en-IN" sz="2000" b="1" dirty="0">
                <a:latin typeface="Times New Roman" panose="02020603050405020304" pitchFamily="18" charset="0"/>
                <a:cs typeface="Times New Roman" panose="02020603050405020304" pitchFamily="18" charset="0"/>
              </a:rPr>
              <a:t>Background :</a:t>
            </a:r>
          </a:p>
          <a:p>
            <a:pPr marL="342900" indent="-342900" eaLnBrk="0" fontAlgn="base" hangingPunct="0">
              <a:spcBef>
                <a:spcPct val="0"/>
              </a:spcBef>
              <a:spcAft>
                <a:spcPct val="0"/>
              </a:spcAft>
              <a:buClrTx/>
              <a:buSzTx/>
            </a:pPr>
            <a:r>
              <a:rPr lang="en-US" altLang="en-US" sz="2000" dirty="0">
                <a:solidFill>
                  <a:schemeClr val="tx1"/>
                </a:solidFill>
                <a:latin typeface="Times New Roman" panose="02020603050405020304" pitchFamily="18" charset="0"/>
                <a:cs typeface="Times New Roman" panose="02020603050405020304" pitchFamily="18" charset="0"/>
              </a:rPr>
              <a:t>Traditional livestock identification is largely based on manual physical inspection by experts.</a:t>
            </a:r>
          </a:p>
          <a:p>
            <a:pPr marL="342900" indent="-342900" eaLnBrk="0" fontAlgn="base" hangingPunct="0">
              <a:spcBef>
                <a:spcPct val="0"/>
              </a:spcBef>
              <a:spcAft>
                <a:spcPct val="0"/>
              </a:spcAft>
              <a:buClrTx/>
              <a:buSzTx/>
            </a:pPr>
            <a:r>
              <a:rPr lang="en-US" altLang="en-US" sz="2000" dirty="0">
                <a:solidFill>
                  <a:schemeClr val="tx1"/>
                </a:solidFill>
                <a:latin typeface="Times New Roman" panose="02020603050405020304" pitchFamily="18" charset="0"/>
                <a:cs typeface="Times New Roman" panose="02020603050405020304" pitchFamily="18" charset="0"/>
              </a:rPr>
              <a:t>Existing digital identification systems have limited focus on Indian indigenous cattle and buffalo breeds.</a:t>
            </a:r>
          </a:p>
          <a:p>
            <a:pPr marL="342900" indent="-342900" eaLnBrk="0" fontAlgn="base" hangingPunct="0">
              <a:spcBef>
                <a:spcPct val="0"/>
              </a:spcBef>
              <a:spcAft>
                <a:spcPct val="0"/>
              </a:spcAft>
              <a:buClrTx/>
              <a:buSzTx/>
            </a:pPr>
            <a:r>
              <a:rPr lang="en-US" altLang="en-US" sz="2000" dirty="0">
                <a:solidFill>
                  <a:schemeClr val="tx1"/>
                </a:solidFill>
                <a:latin typeface="Times New Roman" panose="02020603050405020304" pitchFamily="18" charset="0"/>
                <a:cs typeface="Times New Roman" panose="02020603050405020304" pitchFamily="18" charset="0"/>
              </a:rPr>
              <a:t>Image-based classification techniques have demonstrated strong potential in agricultural and animal monitoring applications.</a:t>
            </a:r>
            <a:endParaRPr lang="en-IN" sz="2000" b="1" dirty="0">
              <a:latin typeface="Times New Roman" panose="02020603050405020304" pitchFamily="18" charset="0"/>
              <a:cs typeface="Times New Roman" panose="02020603050405020304" pitchFamily="18" charset="0"/>
            </a:endParaRPr>
          </a:p>
          <a:p>
            <a:pPr marL="76200" indent="0">
              <a:buNone/>
            </a:pPr>
            <a:r>
              <a:rPr lang="en-US" altLang="en-US" sz="2000" b="1" dirty="0">
                <a:solidFill>
                  <a:schemeClr val="tx1"/>
                </a:solidFill>
                <a:latin typeface="Times New Roman" panose="02020603050405020304" pitchFamily="18" charset="0"/>
                <a:cs typeface="Times New Roman" panose="02020603050405020304" pitchFamily="18" charset="0"/>
              </a:rPr>
              <a:t>Related Work :</a:t>
            </a:r>
          </a:p>
          <a:p>
            <a:r>
              <a:rPr lang="en-US" sz="2000" b="1" dirty="0">
                <a:latin typeface="Times New Roman" panose="02020603050405020304" pitchFamily="18" charset="0"/>
                <a:cs typeface="Times New Roman" panose="02020603050405020304" pitchFamily="18" charset="0"/>
              </a:rPr>
              <a:t>Image-Based Cattle Breed Recognition Systems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Focus on using computer vision and deep learning techniques to identify cattle breeds from images.</a:t>
            </a:r>
          </a:p>
          <a:p>
            <a:r>
              <a:rPr lang="en-US" sz="2000" b="1" dirty="0">
                <a:latin typeface="Times New Roman" panose="02020603050405020304" pitchFamily="18" charset="0"/>
                <a:cs typeface="Times New Roman" panose="02020603050405020304" pitchFamily="18" charset="0"/>
              </a:rPr>
              <a:t>YOLO and CNN-Based Livestock Identification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Utilizes object detection and convolutional neural networks for automated cattle and buffalo identification.</a:t>
            </a:r>
          </a:p>
          <a:p>
            <a:r>
              <a:rPr lang="en-US" sz="2000" b="1" dirty="0">
                <a:latin typeface="Times New Roman" panose="02020603050405020304" pitchFamily="18" charset="0"/>
                <a:cs typeface="Times New Roman" panose="02020603050405020304" pitchFamily="18" charset="0"/>
              </a:rPr>
              <a:t>Explainable AI in Animal Image Analysis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Improves transparency of breed recognition models by explaining prediction decisions using XAI techniques.</a:t>
            </a:r>
          </a:p>
          <a:p>
            <a:pPr marL="76200" indent="0">
              <a:buNone/>
            </a:pPr>
            <a:endParaRPr lang="en-US" alt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5B981-AC20-8A85-C629-5755390487E6}"/>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Proposed Approach and Objectives</a:t>
            </a:r>
          </a:p>
        </p:txBody>
      </p:sp>
      <p:sp>
        <p:nvSpPr>
          <p:cNvPr id="4" name="Rectangle 1">
            <a:extLst>
              <a:ext uri="{FF2B5EF4-FFF2-40B4-BE49-F238E27FC236}">
                <a16:creationId xmlns:a16="http://schemas.microsoft.com/office/drawing/2014/main" id="{F4B84460-A50A-D50E-F617-90637FC76A13}"/>
              </a:ext>
            </a:extLst>
          </p:cNvPr>
          <p:cNvSpPr>
            <a:spLocks noGrp="1" noChangeArrowheads="1"/>
          </p:cNvSpPr>
          <p:nvPr>
            <p:ph type="body" idx="1"/>
          </p:nvPr>
        </p:nvSpPr>
        <p:spPr bwMode="auto">
          <a:xfrm>
            <a:off x="812799" y="1218410"/>
            <a:ext cx="8871975" cy="4644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76200" indent="0">
              <a:buNone/>
            </a:pPr>
            <a:r>
              <a:rPr lang="en-US" sz="2000" b="1" dirty="0">
                <a:latin typeface="Times New Roman" panose="02020603050405020304" pitchFamily="18" charset="0"/>
                <a:cs typeface="Times New Roman" panose="02020603050405020304" pitchFamily="18" charset="0"/>
              </a:rPr>
              <a:t>Proposed Approach:</a:t>
            </a:r>
          </a:p>
          <a:p>
            <a:r>
              <a:rPr lang="en-US" sz="2000" dirty="0">
                <a:latin typeface="Times New Roman" panose="02020603050405020304" pitchFamily="18" charset="0"/>
                <a:cs typeface="Times New Roman" panose="02020603050405020304" pitchFamily="18" charset="0"/>
              </a:rPr>
              <a:t>Collect and use image datasets of Indian cattle and buffalo breeds</a:t>
            </a:r>
          </a:p>
          <a:p>
            <a:r>
              <a:rPr lang="en-US" sz="2000" dirty="0">
                <a:latin typeface="Times New Roman" panose="02020603050405020304" pitchFamily="18" charset="0"/>
                <a:cs typeface="Times New Roman" panose="02020603050405020304" pitchFamily="18" charset="0"/>
              </a:rPr>
              <a:t>Preprocess images (resizing, normalization, augmentation)</a:t>
            </a:r>
          </a:p>
          <a:p>
            <a:r>
              <a:rPr lang="en-US" sz="2000" dirty="0">
                <a:latin typeface="Times New Roman" panose="02020603050405020304" pitchFamily="18" charset="0"/>
                <a:cs typeface="Times New Roman" panose="02020603050405020304" pitchFamily="18" charset="0"/>
              </a:rPr>
              <a:t>Train deep learning models (CNN based) for breed classification</a:t>
            </a:r>
          </a:p>
          <a:p>
            <a:r>
              <a:rPr lang="en-US" sz="2000" dirty="0">
                <a:latin typeface="Times New Roman" panose="02020603050405020304" pitchFamily="18" charset="0"/>
                <a:cs typeface="Times New Roman" panose="02020603050405020304" pitchFamily="18" charset="0"/>
              </a:rPr>
              <a:t>Evaluate model accuracy and performance</a:t>
            </a:r>
          </a:p>
          <a:p>
            <a:r>
              <a:rPr lang="en-US" sz="2000" dirty="0">
                <a:latin typeface="Times New Roman" panose="02020603050405020304" pitchFamily="18" charset="0"/>
                <a:cs typeface="Times New Roman" panose="02020603050405020304" pitchFamily="18" charset="0"/>
              </a:rPr>
              <a:t>Deploy the model as a web or mobile-based application</a:t>
            </a:r>
          </a:p>
          <a:p>
            <a:pPr marL="76200" indent="0">
              <a:buNone/>
            </a:pPr>
            <a:r>
              <a:rPr lang="en-US" sz="2000" b="1" dirty="0">
                <a:latin typeface="Times New Roman" panose="02020603050405020304" pitchFamily="18" charset="0"/>
                <a:cs typeface="Times New Roman" panose="02020603050405020304" pitchFamily="18" charset="0"/>
              </a:rPr>
              <a:t>Objectives:</a:t>
            </a:r>
          </a:p>
          <a:p>
            <a:r>
              <a:rPr lang="en-US" sz="2000" dirty="0">
                <a:latin typeface="Times New Roman" panose="02020603050405020304" pitchFamily="18" charset="0"/>
                <a:cs typeface="Times New Roman" panose="02020603050405020304" pitchFamily="18" charset="0"/>
              </a:rPr>
              <a:t>Automate breed identification of Indian cattle and buffaloes</a:t>
            </a:r>
          </a:p>
          <a:p>
            <a:r>
              <a:rPr lang="en-US" sz="2000" dirty="0">
                <a:latin typeface="Times New Roman" panose="02020603050405020304" pitchFamily="18" charset="0"/>
                <a:cs typeface="Times New Roman" panose="02020603050405020304" pitchFamily="18" charset="0"/>
              </a:rPr>
              <a:t>Reduce dependency on manual expert evaluation</a:t>
            </a:r>
          </a:p>
          <a:p>
            <a:r>
              <a:rPr lang="en-US" sz="2000" dirty="0">
                <a:latin typeface="Times New Roman" panose="02020603050405020304" pitchFamily="18" charset="0"/>
                <a:cs typeface="Times New Roman" panose="02020603050405020304" pitchFamily="18" charset="0"/>
              </a:rPr>
              <a:t>Improve accuracy and consistency in breed recognition</a:t>
            </a:r>
          </a:p>
          <a:p>
            <a:r>
              <a:rPr lang="en-US" sz="2000" dirty="0">
                <a:latin typeface="Times New Roman" panose="02020603050405020304" pitchFamily="18" charset="0"/>
                <a:cs typeface="Times New Roman" panose="02020603050405020304" pitchFamily="18" charset="0"/>
              </a:rPr>
              <a:t>Support farmers, veterinarians, and livestock authorities</a:t>
            </a: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4551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342900" lvl="0" indent="-190500" algn="just">
              <a:lnSpc>
                <a:spcPct val="200000"/>
              </a:lnSpc>
              <a:buClr>
                <a:schemeClr val="dk1"/>
              </a:buClr>
              <a:buSzPct val="100000"/>
            </a:pPr>
            <a:r>
              <a:rPr lang="en-US" dirty="0">
                <a:latin typeface="Cambria" panose="02040503050406030204" pitchFamily="18" charset="0"/>
                <a:ea typeface="Cambria" panose="02040503050406030204" pitchFamily="18" charset="0"/>
              </a:rPr>
              <a:t>Software and Hardware Requirements: </a:t>
            </a:r>
          </a:p>
        </p:txBody>
      </p:sp>
      <p:sp>
        <p:nvSpPr>
          <p:cNvPr id="115" name="Google Shape;115;p17"/>
          <p:cNvSpPr txBox="1">
            <a:spLocks noGrp="1"/>
          </p:cNvSpPr>
          <p:nvPr>
            <p:ph type="body" idx="1"/>
          </p:nvPr>
        </p:nvSpPr>
        <p:spPr>
          <a:xfrm>
            <a:off x="812800" y="1070487"/>
            <a:ext cx="10988842" cy="4953000"/>
          </a:xfrm>
          <a:prstGeom prst="rect">
            <a:avLst/>
          </a:prstGeom>
          <a:noFill/>
          <a:ln>
            <a:noFill/>
          </a:ln>
        </p:spPr>
        <p:txBody>
          <a:bodyPr spcFirstLastPara="1" wrap="square" lIns="91425" tIns="45700" rIns="91425" bIns="45700" anchor="t" anchorCtr="0">
            <a:normAutofit/>
          </a:bodyPr>
          <a:lstStyle/>
          <a:p>
            <a:pPr marL="76200" indent="0">
              <a:buNone/>
            </a:pPr>
            <a:r>
              <a:rPr lang="en-IN" sz="2000" b="1" dirty="0">
                <a:latin typeface="Times New Roman" panose="02020603050405020304" pitchFamily="18" charset="0"/>
                <a:cs typeface="Times New Roman" panose="02020603050405020304" pitchFamily="18" charset="0"/>
              </a:rPr>
              <a:t>Software Requirements</a:t>
            </a:r>
          </a:p>
          <a:p>
            <a:r>
              <a:rPr lang="en-IN" sz="2000" dirty="0">
                <a:latin typeface="Times New Roman" panose="02020603050405020304" pitchFamily="18" charset="0"/>
                <a:cs typeface="Times New Roman" panose="02020603050405020304" pitchFamily="18" charset="0"/>
              </a:rPr>
              <a:t>Operating System: Windows / Linux</a:t>
            </a:r>
          </a:p>
          <a:p>
            <a:r>
              <a:rPr lang="en-IN" sz="2000" dirty="0">
                <a:latin typeface="Times New Roman" panose="02020603050405020304" pitchFamily="18" charset="0"/>
                <a:cs typeface="Times New Roman" panose="02020603050405020304" pitchFamily="18" charset="0"/>
              </a:rPr>
              <a:t>Programming Language: Python</a:t>
            </a:r>
          </a:p>
          <a:p>
            <a:r>
              <a:rPr lang="en-IN" sz="2000" dirty="0">
                <a:latin typeface="Times New Roman" panose="02020603050405020304" pitchFamily="18" charset="0"/>
                <a:cs typeface="Times New Roman" panose="02020603050405020304" pitchFamily="18" charset="0"/>
              </a:rPr>
              <a:t>Frameworks: TensorFlow </a:t>
            </a:r>
          </a:p>
          <a:p>
            <a:r>
              <a:rPr lang="en-IN" sz="2000" dirty="0">
                <a:latin typeface="Times New Roman" panose="02020603050405020304" pitchFamily="18" charset="0"/>
                <a:cs typeface="Times New Roman" panose="02020603050405020304" pitchFamily="18" charset="0"/>
              </a:rPr>
              <a:t>Image Processing: OpenCV</a:t>
            </a:r>
          </a:p>
          <a:p>
            <a:r>
              <a:rPr lang="en-IN" sz="2000" dirty="0">
                <a:latin typeface="Times New Roman" panose="02020603050405020304" pitchFamily="18" charset="0"/>
                <a:cs typeface="Times New Roman" panose="02020603050405020304" pitchFamily="18" charset="0"/>
              </a:rPr>
              <a:t>Tools: VS Code, </a:t>
            </a:r>
            <a:r>
              <a:rPr lang="en-IN" sz="2000" dirty="0" err="1">
                <a:latin typeface="Times New Roman" panose="02020603050405020304" pitchFamily="18" charset="0"/>
                <a:cs typeface="Times New Roman" panose="02020603050405020304" pitchFamily="18" charset="0"/>
              </a:rPr>
              <a:t>Jupyter</a:t>
            </a:r>
            <a:r>
              <a:rPr lang="en-IN" sz="2000" dirty="0">
                <a:latin typeface="Times New Roman" panose="02020603050405020304" pitchFamily="18" charset="0"/>
                <a:cs typeface="Times New Roman" panose="02020603050405020304" pitchFamily="18" charset="0"/>
              </a:rPr>
              <a:t> Notebook</a:t>
            </a:r>
          </a:p>
          <a:p>
            <a:pPr marL="76200" indent="0">
              <a:buNone/>
            </a:pPr>
            <a:r>
              <a:rPr lang="en-IN" sz="2000" b="1" dirty="0">
                <a:latin typeface="Times New Roman" panose="02020603050405020304" pitchFamily="18" charset="0"/>
                <a:cs typeface="Times New Roman" panose="02020603050405020304" pitchFamily="18" charset="0"/>
              </a:rPr>
              <a:t>Hardware Requirements</a:t>
            </a:r>
          </a:p>
          <a:p>
            <a:r>
              <a:rPr lang="en-IN" sz="2000" dirty="0">
                <a:latin typeface="Times New Roman" panose="02020603050405020304" pitchFamily="18" charset="0"/>
                <a:cs typeface="Times New Roman" panose="02020603050405020304" pitchFamily="18" charset="0"/>
              </a:rPr>
              <a:t>Processor: Intel i5 </a:t>
            </a:r>
          </a:p>
          <a:p>
            <a:r>
              <a:rPr lang="en-IN" sz="2000" dirty="0">
                <a:latin typeface="Times New Roman" panose="02020603050405020304" pitchFamily="18" charset="0"/>
                <a:cs typeface="Times New Roman" panose="02020603050405020304" pitchFamily="18" charset="0"/>
              </a:rPr>
              <a:t>RAM: Minimum 8 GB</a:t>
            </a:r>
          </a:p>
          <a:p>
            <a:r>
              <a:rPr lang="en-IN" sz="2000" dirty="0">
                <a:latin typeface="Times New Roman" panose="02020603050405020304" pitchFamily="18" charset="0"/>
                <a:cs typeface="Times New Roman" panose="02020603050405020304" pitchFamily="18" charset="0"/>
              </a:rPr>
              <a:t>Storage: Minimum 30 GB</a:t>
            </a:r>
          </a:p>
          <a:p>
            <a:r>
              <a:rPr lang="en-IN" sz="2000" dirty="0">
                <a:latin typeface="Times New Roman" panose="02020603050405020304" pitchFamily="18" charset="0"/>
                <a:cs typeface="Times New Roman" panose="02020603050405020304" pitchFamily="18" charset="0"/>
              </a:rPr>
              <a:t>Internet Connection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Flow Diagram </a:t>
            </a:r>
            <a:endParaRPr lang="en-US" dirty="0">
              <a:latin typeface="Times New Roman" panose="02020603050405020304" pitchFamily="18" charset="0"/>
              <a:cs typeface="Times New Roman" panose="02020603050405020304" pitchFamily="18" charset="0"/>
            </a:endParaRPr>
          </a:p>
        </p:txBody>
      </p:sp>
      <p:grpSp>
        <p:nvGrpSpPr>
          <p:cNvPr id="43" name="Group 42">
            <a:extLst>
              <a:ext uri="{FF2B5EF4-FFF2-40B4-BE49-F238E27FC236}">
                <a16:creationId xmlns:a16="http://schemas.microsoft.com/office/drawing/2014/main" id="{9B3E2F77-5067-E4FC-D471-BDB528D5DF5A}"/>
              </a:ext>
            </a:extLst>
          </p:cNvPr>
          <p:cNvGrpSpPr/>
          <p:nvPr/>
        </p:nvGrpSpPr>
        <p:grpSpPr>
          <a:xfrm>
            <a:off x="2720493" y="1516627"/>
            <a:ext cx="6647096" cy="4303535"/>
            <a:chOff x="4910523" y="1140542"/>
            <a:chExt cx="5798444" cy="2915476"/>
          </a:xfrm>
        </p:grpSpPr>
        <p:cxnSp>
          <p:nvCxnSpPr>
            <p:cNvPr id="6" name="Straight Arrow Connector 5">
              <a:extLst>
                <a:ext uri="{FF2B5EF4-FFF2-40B4-BE49-F238E27FC236}">
                  <a16:creationId xmlns:a16="http://schemas.microsoft.com/office/drawing/2014/main" id="{A43B4106-2D71-FF13-23D8-48C2423E7408}"/>
                </a:ext>
              </a:extLst>
            </p:cNvPr>
            <p:cNvCxnSpPr>
              <a:cxnSpLocks/>
            </p:cNvCxnSpPr>
            <p:nvPr/>
          </p:nvCxnSpPr>
          <p:spPr>
            <a:xfrm>
              <a:off x="6150078" y="1448319"/>
              <a:ext cx="0" cy="37840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8E032351-06FC-344D-D57B-2DF1201B99A6}"/>
                </a:ext>
              </a:extLst>
            </p:cNvPr>
            <p:cNvSpPr/>
            <p:nvPr/>
          </p:nvSpPr>
          <p:spPr>
            <a:xfrm>
              <a:off x="4912852" y="1140542"/>
              <a:ext cx="2467896" cy="307777"/>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2B842D8C-82A9-F2FE-C205-3EFCC95952E3}"/>
                </a:ext>
              </a:extLst>
            </p:cNvPr>
            <p:cNvSpPr/>
            <p:nvPr/>
          </p:nvSpPr>
          <p:spPr>
            <a:xfrm>
              <a:off x="4912852" y="1826723"/>
              <a:ext cx="2467896"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49C43FC5-2D73-B1AD-D2A7-F0EAF06243A7}"/>
                </a:ext>
              </a:extLst>
            </p:cNvPr>
            <p:cNvSpPr/>
            <p:nvPr/>
          </p:nvSpPr>
          <p:spPr>
            <a:xfrm>
              <a:off x="4910523" y="2503880"/>
              <a:ext cx="2467896" cy="307777"/>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302E84C4-180D-BE0C-499C-7DABDF72C57E}"/>
                </a:ext>
              </a:extLst>
            </p:cNvPr>
            <p:cNvSpPr/>
            <p:nvPr/>
          </p:nvSpPr>
          <p:spPr>
            <a:xfrm>
              <a:off x="4912852" y="3106474"/>
              <a:ext cx="2467896" cy="307777"/>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2739CC9E-0ABB-8853-86AB-392343426610}"/>
                </a:ext>
              </a:extLst>
            </p:cNvPr>
            <p:cNvSpPr/>
            <p:nvPr/>
          </p:nvSpPr>
          <p:spPr>
            <a:xfrm>
              <a:off x="4910523" y="3748241"/>
              <a:ext cx="2467896" cy="307777"/>
            </a:xfrm>
            <a:prstGeom prst="rect">
              <a:avLst/>
            </a:prstGeom>
            <a:solidFill>
              <a:schemeClr val="bg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9BF1DBA2-E70E-BC5B-9617-277856200FB9}"/>
                </a:ext>
              </a:extLst>
            </p:cNvPr>
            <p:cNvSpPr/>
            <p:nvPr/>
          </p:nvSpPr>
          <p:spPr>
            <a:xfrm>
              <a:off x="8241071" y="2490988"/>
              <a:ext cx="2467896" cy="307777"/>
            </a:xfrm>
            <a:prstGeom prst="rect">
              <a:avLst/>
            </a:prstGeom>
            <a:solidFill>
              <a:schemeClr val="tx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9587C920-F202-2F4C-5D02-F6E23A804D07}"/>
                </a:ext>
              </a:extLst>
            </p:cNvPr>
            <p:cNvSpPr/>
            <p:nvPr/>
          </p:nvSpPr>
          <p:spPr>
            <a:xfrm>
              <a:off x="8241071" y="3121223"/>
              <a:ext cx="2467896" cy="307777"/>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8" name="Straight Arrow Connector 17">
              <a:extLst>
                <a:ext uri="{FF2B5EF4-FFF2-40B4-BE49-F238E27FC236}">
                  <a16:creationId xmlns:a16="http://schemas.microsoft.com/office/drawing/2014/main" id="{FA599ED2-8FE8-5C90-91AD-DDF770F61B12}"/>
                </a:ext>
              </a:extLst>
            </p:cNvPr>
            <p:cNvCxnSpPr>
              <a:stCxn id="10" idx="2"/>
              <a:endCxn id="11" idx="0"/>
            </p:cNvCxnSpPr>
            <p:nvPr/>
          </p:nvCxnSpPr>
          <p:spPr>
            <a:xfrm flipH="1">
              <a:off x="6144471" y="2134500"/>
              <a:ext cx="2329" cy="3693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375C3A2-2DED-2919-D1F5-8BA9980D81B0}"/>
                </a:ext>
              </a:extLst>
            </p:cNvPr>
            <p:cNvCxnSpPr>
              <a:stCxn id="11" idx="2"/>
              <a:endCxn id="12" idx="0"/>
            </p:cNvCxnSpPr>
            <p:nvPr/>
          </p:nvCxnSpPr>
          <p:spPr>
            <a:xfrm>
              <a:off x="6144471" y="2811657"/>
              <a:ext cx="2329" cy="29481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A226633-F596-FA94-BA17-22A4DB41D742}"/>
                </a:ext>
              </a:extLst>
            </p:cNvPr>
            <p:cNvCxnSpPr>
              <a:stCxn id="11" idx="3"/>
              <a:endCxn id="15" idx="1"/>
            </p:cNvCxnSpPr>
            <p:nvPr/>
          </p:nvCxnSpPr>
          <p:spPr>
            <a:xfrm flipV="1">
              <a:off x="7378419" y="2644877"/>
              <a:ext cx="862652" cy="1289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9568F1EC-2B52-4F52-DB6A-C0F6C16DEF56}"/>
                </a:ext>
              </a:extLst>
            </p:cNvPr>
            <p:cNvCxnSpPr>
              <a:stCxn id="15" idx="2"/>
              <a:endCxn id="16" idx="0"/>
            </p:cNvCxnSpPr>
            <p:nvPr/>
          </p:nvCxnSpPr>
          <p:spPr>
            <a:xfrm>
              <a:off x="9475019" y="2798765"/>
              <a:ext cx="0" cy="3224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3" name="TextBox 32">
              <a:extLst>
                <a:ext uri="{FF2B5EF4-FFF2-40B4-BE49-F238E27FC236}">
                  <a16:creationId xmlns:a16="http://schemas.microsoft.com/office/drawing/2014/main" id="{97C474EB-220F-E8DC-F84C-F545F726E989}"/>
                </a:ext>
              </a:extLst>
            </p:cNvPr>
            <p:cNvSpPr txBox="1"/>
            <p:nvPr/>
          </p:nvSpPr>
          <p:spPr>
            <a:xfrm>
              <a:off x="5627393" y="1192010"/>
              <a:ext cx="1887794" cy="208507"/>
            </a:xfrm>
            <a:prstGeom prst="rect">
              <a:avLst/>
            </a:prstGeom>
            <a:noFill/>
          </p:spPr>
          <p:txBody>
            <a:bodyPr wrap="square" rtlCol="0">
              <a:spAutoFit/>
            </a:bodyPr>
            <a:lstStyle/>
            <a:p>
              <a:r>
                <a:rPr lang="en-IN" dirty="0"/>
                <a:t>Image Input</a:t>
              </a:r>
            </a:p>
          </p:txBody>
        </p:sp>
        <p:sp>
          <p:nvSpPr>
            <p:cNvPr id="34" name="TextBox 33">
              <a:extLst>
                <a:ext uri="{FF2B5EF4-FFF2-40B4-BE49-F238E27FC236}">
                  <a16:creationId xmlns:a16="http://schemas.microsoft.com/office/drawing/2014/main" id="{6A7116AA-C9A2-F1EF-382E-0DC15806C580}"/>
                </a:ext>
              </a:extLst>
            </p:cNvPr>
            <p:cNvSpPr txBox="1"/>
            <p:nvPr/>
          </p:nvSpPr>
          <p:spPr>
            <a:xfrm>
              <a:off x="5326300" y="1875433"/>
              <a:ext cx="1636342" cy="208507"/>
            </a:xfrm>
            <a:prstGeom prst="rect">
              <a:avLst/>
            </a:prstGeom>
            <a:noFill/>
          </p:spPr>
          <p:txBody>
            <a:bodyPr wrap="none" rtlCol="0">
              <a:spAutoFit/>
            </a:bodyPr>
            <a:lstStyle/>
            <a:p>
              <a:r>
                <a:rPr lang="en-IN" dirty="0"/>
                <a:t>Image Preprocessing</a:t>
              </a:r>
            </a:p>
          </p:txBody>
        </p:sp>
        <p:sp>
          <p:nvSpPr>
            <p:cNvPr id="35" name="TextBox 34">
              <a:extLst>
                <a:ext uri="{FF2B5EF4-FFF2-40B4-BE49-F238E27FC236}">
                  <a16:creationId xmlns:a16="http://schemas.microsoft.com/office/drawing/2014/main" id="{7EBD63BA-315D-0680-ACF4-9DCA4800F8E3}"/>
                </a:ext>
              </a:extLst>
            </p:cNvPr>
            <p:cNvSpPr txBox="1"/>
            <p:nvPr/>
          </p:nvSpPr>
          <p:spPr>
            <a:xfrm>
              <a:off x="5402152" y="2556837"/>
              <a:ext cx="1281163" cy="208507"/>
            </a:xfrm>
            <a:prstGeom prst="rect">
              <a:avLst/>
            </a:prstGeom>
            <a:noFill/>
          </p:spPr>
          <p:txBody>
            <a:bodyPr wrap="none" rtlCol="0">
              <a:spAutoFit/>
            </a:bodyPr>
            <a:lstStyle/>
            <a:p>
              <a:r>
                <a:rPr lang="en-IN" dirty="0"/>
                <a:t>Breed Detection</a:t>
              </a:r>
            </a:p>
          </p:txBody>
        </p:sp>
        <p:sp>
          <p:nvSpPr>
            <p:cNvPr id="36" name="TextBox 35">
              <a:extLst>
                <a:ext uri="{FF2B5EF4-FFF2-40B4-BE49-F238E27FC236}">
                  <a16:creationId xmlns:a16="http://schemas.microsoft.com/office/drawing/2014/main" id="{7EA3F3A9-1AF7-566D-AB4A-19690719DCB6}"/>
                </a:ext>
              </a:extLst>
            </p:cNvPr>
            <p:cNvSpPr txBox="1"/>
            <p:nvPr/>
          </p:nvSpPr>
          <p:spPr>
            <a:xfrm>
              <a:off x="8350118" y="2526410"/>
              <a:ext cx="2249799" cy="208507"/>
            </a:xfrm>
            <a:prstGeom prst="rect">
              <a:avLst/>
            </a:prstGeom>
            <a:noFill/>
          </p:spPr>
          <p:txBody>
            <a:bodyPr wrap="square" rtlCol="0">
              <a:spAutoFit/>
            </a:bodyPr>
            <a:lstStyle/>
            <a:p>
              <a:pPr algn="ctr"/>
              <a:r>
                <a:rPr lang="en-IN" dirty="0"/>
                <a:t>Based On Features</a:t>
              </a:r>
            </a:p>
          </p:txBody>
        </p:sp>
        <p:sp>
          <p:nvSpPr>
            <p:cNvPr id="37" name="TextBox 36">
              <a:extLst>
                <a:ext uri="{FF2B5EF4-FFF2-40B4-BE49-F238E27FC236}">
                  <a16:creationId xmlns:a16="http://schemas.microsoft.com/office/drawing/2014/main" id="{6CF972FC-4753-EB52-FB14-509A0ABBADC2}"/>
                </a:ext>
              </a:extLst>
            </p:cNvPr>
            <p:cNvSpPr txBox="1"/>
            <p:nvPr/>
          </p:nvSpPr>
          <p:spPr>
            <a:xfrm>
              <a:off x="8809904" y="3167949"/>
              <a:ext cx="1334300" cy="208507"/>
            </a:xfrm>
            <a:prstGeom prst="rect">
              <a:avLst/>
            </a:prstGeom>
            <a:noFill/>
          </p:spPr>
          <p:txBody>
            <a:bodyPr wrap="none" rtlCol="0">
              <a:spAutoFit/>
            </a:bodyPr>
            <a:lstStyle/>
            <a:p>
              <a:r>
                <a:rPr lang="en-IN" dirty="0"/>
                <a:t>Size, Body, Horn</a:t>
              </a:r>
            </a:p>
          </p:txBody>
        </p:sp>
        <p:sp>
          <p:nvSpPr>
            <p:cNvPr id="38" name="TextBox 37">
              <a:extLst>
                <a:ext uri="{FF2B5EF4-FFF2-40B4-BE49-F238E27FC236}">
                  <a16:creationId xmlns:a16="http://schemas.microsoft.com/office/drawing/2014/main" id="{1F2CACB8-FD2F-CBC6-E12C-E4664EE1AA47}"/>
                </a:ext>
              </a:extLst>
            </p:cNvPr>
            <p:cNvSpPr txBox="1"/>
            <p:nvPr/>
          </p:nvSpPr>
          <p:spPr>
            <a:xfrm>
              <a:off x="5402152" y="3153349"/>
              <a:ext cx="1542653" cy="208507"/>
            </a:xfrm>
            <a:prstGeom prst="rect">
              <a:avLst/>
            </a:prstGeom>
            <a:noFill/>
          </p:spPr>
          <p:txBody>
            <a:bodyPr wrap="none" rtlCol="0">
              <a:spAutoFit/>
            </a:bodyPr>
            <a:lstStyle/>
            <a:p>
              <a:r>
                <a:rPr lang="en-IN" dirty="0"/>
                <a:t>Breed Classification</a:t>
              </a:r>
            </a:p>
          </p:txBody>
        </p:sp>
        <p:sp>
          <p:nvSpPr>
            <p:cNvPr id="39" name="TextBox 38">
              <a:extLst>
                <a:ext uri="{FF2B5EF4-FFF2-40B4-BE49-F238E27FC236}">
                  <a16:creationId xmlns:a16="http://schemas.microsoft.com/office/drawing/2014/main" id="{ED5ADCC8-EBD8-3A74-BB8F-E324DEBCF9E6}"/>
                </a:ext>
              </a:extLst>
            </p:cNvPr>
            <p:cNvSpPr txBox="1"/>
            <p:nvPr/>
          </p:nvSpPr>
          <p:spPr>
            <a:xfrm>
              <a:off x="5842289" y="3800468"/>
              <a:ext cx="604364" cy="208507"/>
            </a:xfrm>
            <a:prstGeom prst="rect">
              <a:avLst/>
            </a:prstGeom>
            <a:noFill/>
          </p:spPr>
          <p:txBody>
            <a:bodyPr wrap="none" rtlCol="0">
              <a:spAutoFit/>
            </a:bodyPr>
            <a:lstStyle/>
            <a:p>
              <a:r>
                <a:rPr lang="en-IN" dirty="0"/>
                <a:t>Result</a:t>
              </a:r>
            </a:p>
          </p:txBody>
        </p:sp>
        <p:sp>
          <p:nvSpPr>
            <p:cNvPr id="40" name="TextBox 39">
              <a:extLst>
                <a:ext uri="{FF2B5EF4-FFF2-40B4-BE49-F238E27FC236}">
                  <a16:creationId xmlns:a16="http://schemas.microsoft.com/office/drawing/2014/main" id="{0FF21137-DA37-1C32-6EB4-829445B2EEDE}"/>
                </a:ext>
              </a:extLst>
            </p:cNvPr>
            <p:cNvSpPr txBox="1"/>
            <p:nvPr/>
          </p:nvSpPr>
          <p:spPr>
            <a:xfrm>
              <a:off x="9087890" y="3751458"/>
              <a:ext cx="161146" cy="208507"/>
            </a:xfrm>
            <a:prstGeom prst="rect">
              <a:avLst/>
            </a:prstGeom>
            <a:noFill/>
          </p:spPr>
          <p:txBody>
            <a:bodyPr wrap="none" rtlCol="0">
              <a:spAutoFit/>
            </a:bodyPr>
            <a:lstStyle/>
            <a:p>
              <a:endParaRPr lang="en-IN" dirty="0"/>
            </a:p>
          </p:txBody>
        </p:sp>
      </p:grpSp>
      <p:sp>
        <p:nvSpPr>
          <p:cNvPr id="20" name="Rectangle 19">
            <a:extLst>
              <a:ext uri="{FF2B5EF4-FFF2-40B4-BE49-F238E27FC236}">
                <a16:creationId xmlns:a16="http://schemas.microsoft.com/office/drawing/2014/main" id="{098DF642-4602-3E0E-AB83-0402060C0D89}"/>
              </a:ext>
            </a:extLst>
          </p:cNvPr>
          <p:cNvSpPr/>
          <p:nvPr/>
        </p:nvSpPr>
        <p:spPr>
          <a:xfrm>
            <a:off x="6538495" y="1516627"/>
            <a:ext cx="2164089" cy="3837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dirty="0">
                <a:ln w="0"/>
                <a:solidFill>
                  <a:schemeClr val="tx1"/>
                </a:solidFill>
                <a:effectLst>
                  <a:outerShdw blurRad="38100" dist="19050" dir="2700000" algn="tl" rotWithShape="0">
                    <a:schemeClr val="dk1">
                      <a:alpha val="40000"/>
                    </a:schemeClr>
                  </a:outerShdw>
                </a:effectLst>
              </a:rPr>
              <a:t>      </a:t>
            </a:r>
          </a:p>
        </p:txBody>
      </p:sp>
      <p:sp>
        <p:nvSpPr>
          <p:cNvPr id="21" name="TextBox 20">
            <a:extLst>
              <a:ext uri="{FF2B5EF4-FFF2-40B4-BE49-F238E27FC236}">
                <a16:creationId xmlns:a16="http://schemas.microsoft.com/office/drawing/2014/main" id="{8951B1B0-BEEE-E9E3-79AE-BA4C9C55B30A}"/>
              </a:ext>
            </a:extLst>
          </p:cNvPr>
          <p:cNvSpPr txBox="1"/>
          <p:nvPr/>
        </p:nvSpPr>
        <p:spPr>
          <a:xfrm>
            <a:off x="7190582" y="1539297"/>
            <a:ext cx="801823" cy="307777"/>
          </a:xfrm>
          <a:prstGeom prst="rect">
            <a:avLst/>
          </a:prstGeom>
          <a:noFill/>
        </p:spPr>
        <p:txBody>
          <a:bodyPr wrap="none" rtlCol="0">
            <a:spAutoFit/>
          </a:bodyPr>
          <a:lstStyle/>
          <a:p>
            <a:r>
              <a:rPr lang="en-IN" dirty="0"/>
              <a:t>Dataset</a:t>
            </a:r>
          </a:p>
        </p:txBody>
      </p:sp>
      <p:cxnSp>
        <p:nvCxnSpPr>
          <p:cNvPr id="24" name="Straight Arrow Connector 23">
            <a:extLst>
              <a:ext uri="{FF2B5EF4-FFF2-40B4-BE49-F238E27FC236}">
                <a16:creationId xmlns:a16="http://schemas.microsoft.com/office/drawing/2014/main" id="{C3FC5403-E3AF-D1E3-028E-BEC3FA963608}"/>
              </a:ext>
            </a:extLst>
          </p:cNvPr>
          <p:cNvCxnSpPr>
            <a:stCxn id="20" idx="1"/>
          </p:cNvCxnSpPr>
          <p:nvPr/>
        </p:nvCxnSpPr>
        <p:spPr>
          <a:xfrm flipH="1" flipV="1">
            <a:off x="5549587" y="1708501"/>
            <a:ext cx="988908"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39DD8D31-CC25-2571-2652-42DD96A3FE31}"/>
              </a:ext>
            </a:extLst>
          </p:cNvPr>
          <p:cNvCxnSpPr>
            <a:stCxn id="12" idx="2"/>
            <a:endCxn id="14" idx="0"/>
          </p:cNvCxnSpPr>
          <p:nvPr/>
        </p:nvCxnSpPr>
        <p:spPr>
          <a:xfrm flipH="1">
            <a:off x="4135040" y="4872850"/>
            <a:ext cx="2670" cy="4930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2" name="output.png" descr="output.png">
            <a:extLst>
              <a:ext uri="{FF2B5EF4-FFF2-40B4-BE49-F238E27FC236}">
                <a16:creationId xmlns:a16="http://schemas.microsoft.com/office/drawing/2014/main" id="{6974B649-9543-DB25-6721-600C535475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2800" y="1134244"/>
            <a:ext cx="10008010" cy="4965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
        <p:nvSpPr>
          <p:cNvPr id="5" name="Google Shape;115;p17"/>
          <p:cNvSpPr txBox="1"/>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lnSpc>
                <a:spcPct val="200000"/>
              </a:lnSpc>
              <a:spcBef>
                <a:spcPts val="0"/>
              </a:spcBef>
              <a:buSzPct val="100000"/>
              <a:buNone/>
            </a:pPr>
            <a:r>
              <a:rPr lang="en-US" dirty="0">
                <a:latin typeface="Cambria" panose="02040503050406030204" pitchFamily="18" charset="0"/>
                <a:ea typeface="Cambria" panose="02040503050406030204" pitchFamily="18" charset="0"/>
                <a:hlinkClick r:id="rId3"/>
              </a:rPr>
              <a:t>https://github.com/aadityaa2611/ISE_02-University-Project</a:t>
            </a: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None/>
            </a:pP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2" name="Text Placeholder 1">
            <a:extLst>
              <a:ext uri="{FF2B5EF4-FFF2-40B4-BE49-F238E27FC236}">
                <a16:creationId xmlns:a16="http://schemas.microsoft.com/office/drawing/2014/main" id="{BFFFA4A0-F8ED-4EC9-86ED-2DB5289CF971}"/>
              </a:ext>
            </a:extLst>
          </p:cNvPr>
          <p:cNvSpPr>
            <a:spLocks noGrp="1" noChangeArrowheads="1"/>
          </p:cNvSpPr>
          <p:nvPr>
            <p:ph type="body" idx="1"/>
          </p:nvPr>
        </p:nvSpPr>
        <p:spPr bwMode="auto">
          <a:xfrm>
            <a:off x="596491" y="1328237"/>
            <a:ext cx="11100618"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spcBef>
                <a:spcPct val="0"/>
              </a:spcBef>
              <a:spcAft>
                <a:spcPct val="0"/>
              </a:spcAft>
              <a:buClrTx/>
              <a:buSzTx/>
              <a:buNone/>
            </a:pPr>
            <a:r>
              <a:rPr lang="en-IN" sz="1800" b="1" dirty="0">
                <a:latin typeface="Times New Roman" panose="02020603050405020304" pitchFamily="18" charset="0"/>
                <a:cs typeface="Times New Roman" panose="02020603050405020304" pitchFamily="18" charset="0"/>
              </a:rPr>
              <a:t>1</a:t>
            </a:r>
            <a:r>
              <a:rPr lang="en-IN" sz="1800" dirty="0">
                <a:latin typeface="Times New Roman" panose="02020603050405020304" pitchFamily="18" charset="0"/>
                <a:cs typeface="Times New Roman" panose="02020603050405020304" pitchFamily="18" charset="0"/>
              </a:rPr>
              <a:t>.S. Chakraborty, K. Karthik and S. Banik, "Graph Synthesis for Pig Breed Classification From Muzzle Images," in </a:t>
            </a:r>
            <a:r>
              <a:rPr lang="en-IN" sz="1800" i="1" dirty="0">
                <a:latin typeface="Times New Roman" panose="02020603050405020304" pitchFamily="18" charset="0"/>
                <a:cs typeface="Times New Roman" panose="02020603050405020304" pitchFamily="18" charset="0"/>
              </a:rPr>
              <a:t>IEEE Access</a:t>
            </a:r>
            <a:r>
              <a:rPr lang="en-IN" sz="1800" dirty="0">
                <a:latin typeface="Times New Roman" panose="02020603050405020304" pitchFamily="18" charset="0"/>
                <a:cs typeface="Times New Roman" panose="02020603050405020304" pitchFamily="18" charset="0"/>
              </a:rPr>
              <a:t>, vol. 9, pp. 127240-127258, 2021,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10.1109/ACCESS.2021.3111957</a:t>
            </a:r>
          </a:p>
          <a:p>
            <a:pPr marL="0" indent="0" eaLnBrk="0" fontAlgn="base" hangingPunct="0">
              <a:spcBef>
                <a:spcPct val="0"/>
              </a:spcBef>
              <a:spcAft>
                <a:spcPct val="0"/>
              </a:spcAft>
              <a:buClrTx/>
              <a:buSzTx/>
              <a:buNone/>
            </a:pPr>
            <a:r>
              <a:rPr lang="en-US" altLang="en-US" sz="1800" b="1" dirty="0">
                <a:solidFill>
                  <a:schemeClr val="tx1"/>
                </a:solidFill>
                <a:latin typeface="Times New Roman" panose="02020603050405020304" pitchFamily="18" charset="0"/>
                <a:cs typeface="Times New Roman" panose="02020603050405020304" pitchFamily="18" charset="0"/>
              </a:rPr>
              <a:t>Link: </a:t>
            </a:r>
            <a:r>
              <a:rPr lang="en-US" altLang="en-US" sz="1800" b="1" dirty="0">
                <a:solidFill>
                  <a:schemeClr val="tx1"/>
                </a:solidFill>
                <a:latin typeface="Times New Roman" panose="02020603050405020304" pitchFamily="18" charset="0"/>
                <a:cs typeface="Times New Roman" panose="02020603050405020304" pitchFamily="18" charset="0"/>
                <a:hlinkClick r:id="rId3"/>
              </a:rPr>
              <a:t>https://ieeexplore.ieee.org/document/9535496</a:t>
            </a:r>
            <a:endParaRPr lang="en-US" altLang="en-US" sz="1800" b="1" dirty="0">
              <a:solidFill>
                <a:schemeClr val="tx1"/>
              </a:solidFill>
              <a:latin typeface="Times New Roman" panose="02020603050405020304" pitchFamily="18" charset="0"/>
              <a:cs typeface="Times New Roman" panose="02020603050405020304" pitchFamily="18" charset="0"/>
            </a:endParaRPr>
          </a:p>
          <a:p>
            <a:pPr marL="0" indent="0" eaLnBrk="0" fontAlgn="base" hangingPunct="0">
              <a:spcBef>
                <a:spcPct val="0"/>
              </a:spcBef>
              <a:spcAft>
                <a:spcPct val="0"/>
              </a:spcAft>
              <a:buClrTx/>
              <a:buSzTx/>
              <a:buNone/>
            </a:pPr>
            <a:endParaRPr lang="en-US" altLang="en-US" sz="1800" b="1" dirty="0">
              <a:solidFill>
                <a:schemeClr val="tx1"/>
              </a:solidFill>
              <a:latin typeface="Times New Roman" panose="02020603050405020304" pitchFamily="18" charset="0"/>
              <a:cs typeface="Times New Roman" panose="02020603050405020304" pitchFamily="18" charset="0"/>
            </a:endParaRPr>
          </a:p>
          <a:p>
            <a:pPr marL="0" indent="0" eaLnBrk="0" fontAlgn="base" hangingPunct="0">
              <a:spcBef>
                <a:spcPct val="0"/>
              </a:spcBef>
              <a:spcAft>
                <a:spcPct val="0"/>
              </a:spcAft>
              <a:buClrTx/>
              <a:buSzTx/>
              <a:buNone/>
            </a:pPr>
            <a:r>
              <a:rPr lang="en-US" altLang="en-US" sz="1800" b="1" dirty="0">
                <a:solidFill>
                  <a:schemeClr val="tx1"/>
                </a:solidFill>
                <a:latin typeface="Times New Roman" panose="02020603050405020304" pitchFamily="18" charset="0"/>
                <a:cs typeface="Times New Roman" panose="02020603050405020304" pitchFamily="18" charset="0"/>
              </a:rPr>
              <a:t>2. </a:t>
            </a:r>
            <a:r>
              <a:rPr lang="en-IN" sz="1800" dirty="0">
                <a:latin typeface="Times New Roman" panose="02020603050405020304" pitchFamily="18" charset="0"/>
                <a:cs typeface="Times New Roman" panose="02020603050405020304" pitchFamily="18" charset="0"/>
              </a:rPr>
              <a:t>A. Biglari and W. Tang, "A Vision-Based Cattle Recognition System Using TensorFlow for Livestock Water Intake Monitoring," in </a:t>
            </a:r>
            <a:r>
              <a:rPr lang="en-IN" sz="1800" i="1" dirty="0">
                <a:latin typeface="Times New Roman" panose="02020603050405020304" pitchFamily="18" charset="0"/>
                <a:cs typeface="Times New Roman" panose="02020603050405020304" pitchFamily="18" charset="0"/>
              </a:rPr>
              <a:t>IEEE Sensors Letters</a:t>
            </a:r>
            <a:r>
              <a:rPr lang="en-IN" sz="1800" dirty="0">
                <a:latin typeface="Times New Roman" panose="02020603050405020304" pitchFamily="18" charset="0"/>
                <a:cs typeface="Times New Roman" panose="02020603050405020304" pitchFamily="18" charset="0"/>
              </a:rPr>
              <a:t>, vol. 6, no. 11, pp. 1-4, Nov. 2022, Art no. 5501404,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10.1109/LSENS.2022.3215699.</a:t>
            </a:r>
          </a:p>
          <a:p>
            <a:pPr marL="0" indent="0" eaLnBrk="0" fontAlgn="base" hangingPunct="0">
              <a:spcBef>
                <a:spcPct val="0"/>
              </a:spcBef>
              <a:spcAft>
                <a:spcPct val="0"/>
              </a:spcAft>
              <a:buClrTx/>
              <a:buSzTx/>
              <a:buNone/>
            </a:pPr>
            <a:r>
              <a:rPr lang="en-US" altLang="en-US" sz="1800" b="1" dirty="0">
                <a:solidFill>
                  <a:schemeClr val="tx1"/>
                </a:solidFill>
                <a:latin typeface="Times New Roman" panose="02020603050405020304" pitchFamily="18" charset="0"/>
                <a:cs typeface="Times New Roman" panose="02020603050405020304" pitchFamily="18" charset="0"/>
              </a:rPr>
              <a:t>Link: </a:t>
            </a:r>
            <a:r>
              <a:rPr lang="en-US" altLang="en-US" sz="1800" b="1" dirty="0">
                <a:solidFill>
                  <a:schemeClr val="tx1"/>
                </a:solidFill>
                <a:latin typeface="Times New Roman" panose="02020603050405020304" pitchFamily="18" charset="0"/>
                <a:cs typeface="Times New Roman" panose="02020603050405020304" pitchFamily="18" charset="0"/>
                <a:hlinkClick r:id="rId4"/>
              </a:rPr>
              <a:t>https://ieeexplore.ieee.org/document/9924566</a:t>
            </a:r>
            <a:endParaRPr lang="en-US" altLang="en-US" sz="1800" b="1" dirty="0">
              <a:solidFill>
                <a:schemeClr val="tx1"/>
              </a:solidFill>
              <a:latin typeface="Times New Roman" panose="02020603050405020304" pitchFamily="18" charset="0"/>
              <a:cs typeface="Times New Roman" panose="02020603050405020304" pitchFamily="18" charset="0"/>
            </a:endParaRPr>
          </a:p>
          <a:p>
            <a:pPr marL="0" indent="0" eaLnBrk="0" fontAlgn="base" hangingPunct="0">
              <a:spcBef>
                <a:spcPct val="0"/>
              </a:spcBef>
              <a:spcAft>
                <a:spcPct val="0"/>
              </a:spcAft>
              <a:buClrTx/>
              <a:buSzTx/>
              <a:buNone/>
            </a:pPr>
            <a:endParaRPr lang="en-US" altLang="en-US" sz="1800" b="1" dirty="0">
              <a:solidFill>
                <a:schemeClr val="tx1"/>
              </a:solidFill>
              <a:latin typeface="Times New Roman" panose="02020603050405020304" pitchFamily="18" charset="0"/>
              <a:cs typeface="Times New Roman" panose="02020603050405020304" pitchFamily="18" charset="0"/>
            </a:endParaRPr>
          </a:p>
          <a:p>
            <a:pPr marL="0" indent="0" eaLnBrk="0" fontAlgn="base" hangingPunct="0">
              <a:spcBef>
                <a:spcPct val="0"/>
              </a:spcBef>
              <a:spcAft>
                <a:spcPct val="0"/>
              </a:spcAft>
              <a:buClrTx/>
              <a:buSzTx/>
              <a:buNone/>
            </a:pPr>
            <a:r>
              <a:rPr lang="en-US" altLang="en-US" sz="1800" b="1" dirty="0">
                <a:solidFill>
                  <a:schemeClr val="tx1"/>
                </a:solidFill>
                <a:latin typeface="Times New Roman" panose="02020603050405020304" pitchFamily="18" charset="0"/>
                <a:cs typeface="Times New Roman" panose="02020603050405020304" pitchFamily="18" charset="0"/>
              </a:rPr>
              <a:t>3. </a:t>
            </a:r>
            <a:r>
              <a:rPr lang="en-US" sz="1800" dirty="0">
                <a:latin typeface="Times New Roman" panose="02020603050405020304" pitchFamily="18" charset="0"/>
                <a:cs typeface="Times New Roman" panose="02020603050405020304" pitchFamily="18" charset="0"/>
              </a:rPr>
              <a:t>R. -W. Bello, A. S. A. Mohamed and A. Z. Talib, "Contour Extraction of Individual Cattle From an Image Using Enhanced Mask R-CNN Instance Segmentation Method," in </a:t>
            </a:r>
            <a:r>
              <a:rPr lang="en-US" sz="1800" i="1" dirty="0">
                <a:latin typeface="Times New Roman" panose="02020603050405020304" pitchFamily="18" charset="0"/>
                <a:cs typeface="Times New Roman" panose="02020603050405020304" pitchFamily="18" charset="0"/>
              </a:rPr>
              <a:t>IEEE Access</a:t>
            </a:r>
            <a:r>
              <a:rPr lang="en-US" sz="1800" dirty="0">
                <a:latin typeface="Times New Roman" panose="02020603050405020304" pitchFamily="18" charset="0"/>
                <a:cs typeface="Times New Roman" panose="02020603050405020304" pitchFamily="18" charset="0"/>
              </a:rPr>
              <a:t>, vol. 9, pp. 56984-57000, 2021, </a:t>
            </a:r>
            <a:r>
              <a:rPr lang="en-US" sz="1800" dirty="0" err="1">
                <a:latin typeface="Times New Roman" panose="02020603050405020304" pitchFamily="18" charset="0"/>
                <a:cs typeface="Times New Roman" panose="02020603050405020304" pitchFamily="18" charset="0"/>
              </a:rPr>
              <a:t>doi</a:t>
            </a:r>
            <a:r>
              <a:rPr lang="en-US" sz="1800" dirty="0">
                <a:latin typeface="Times New Roman" panose="02020603050405020304" pitchFamily="18" charset="0"/>
                <a:cs typeface="Times New Roman" panose="02020603050405020304" pitchFamily="18" charset="0"/>
              </a:rPr>
              <a:t>: 10.1109/ACCESS.2021.3072636</a:t>
            </a:r>
            <a:r>
              <a:rPr lang="en-IN" sz="1800" dirty="0">
                <a:latin typeface="Times New Roman" panose="02020603050405020304" pitchFamily="18" charset="0"/>
                <a:cs typeface="Times New Roman" panose="02020603050405020304" pitchFamily="18" charset="0"/>
              </a:rPr>
              <a:t>.</a:t>
            </a:r>
          </a:p>
          <a:p>
            <a:pPr marL="0" indent="0" eaLnBrk="0" fontAlgn="base" hangingPunct="0">
              <a:spcBef>
                <a:spcPct val="0"/>
              </a:spcBef>
              <a:spcAft>
                <a:spcPct val="0"/>
              </a:spcAft>
              <a:buClrTx/>
              <a:buSzTx/>
              <a:buNone/>
            </a:pPr>
            <a:r>
              <a:rPr lang="en-US" altLang="en-US" sz="1800" b="1" dirty="0">
                <a:solidFill>
                  <a:schemeClr val="tx1"/>
                </a:solidFill>
                <a:latin typeface="Times New Roman" panose="02020603050405020304" pitchFamily="18" charset="0"/>
                <a:cs typeface="Times New Roman" panose="02020603050405020304" pitchFamily="18" charset="0"/>
              </a:rPr>
              <a:t>Link: </a:t>
            </a:r>
            <a:r>
              <a:rPr lang="en-US" altLang="en-US" sz="1800" b="1" dirty="0">
                <a:solidFill>
                  <a:schemeClr val="tx1"/>
                </a:solidFill>
                <a:latin typeface="Times New Roman" panose="02020603050405020304" pitchFamily="18" charset="0"/>
                <a:cs typeface="Times New Roman" panose="02020603050405020304" pitchFamily="18" charset="0"/>
                <a:hlinkClick r:id="rId5"/>
              </a:rPr>
              <a:t>https://ieeexplore.ieee.org/document/9400819</a:t>
            </a:r>
            <a:endParaRPr lang="en-US" altLang="en-US" sz="1800" b="1" dirty="0">
              <a:solidFill>
                <a:schemeClr val="tx1"/>
              </a:solidFill>
              <a:latin typeface="Times New Roman" panose="02020603050405020304" pitchFamily="18" charset="0"/>
              <a:cs typeface="Times New Roman" panose="02020603050405020304" pitchFamily="18" charset="0"/>
            </a:endParaRPr>
          </a:p>
          <a:p>
            <a:pPr marL="0" indent="0" eaLnBrk="0" fontAlgn="base" hangingPunct="0">
              <a:spcBef>
                <a:spcPct val="0"/>
              </a:spcBef>
              <a:spcAft>
                <a:spcPct val="0"/>
              </a:spcAft>
              <a:buClrTx/>
              <a:buSzTx/>
              <a:buNone/>
            </a:pPr>
            <a:endParaRPr lang="en-US" altLang="en-US" sz="18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604</TotalTime>
  <Words>1051</Words>
  <Application>Microsoft Office PowerPoint</Application>
  <PresentationFormat>Widescreen</PresentationFormat>
  <Paragraphs>119</Paragraphs>
  <Slides>14</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Cambria</vt:lpstr>
      <vt:lpstr>Times New Roman</vt:lpstr>
      <vt:lpstr>Verdana</vt:lpstr>
      <vt:lpstr>Bioinformatics</vt:lpstr>
      <vt:lpstr> Image based breed recognition for cattle and buffaloes of India </vt:lpstr>
      <vt:lpstr>Content</vt:lpstr>
      <vt:lpstr>Problem Statement: SIH25004</vt:lpstr>
      <vt:lpstr>Problem Statement: SIH25004</vt:lpstr>
      <vt:lpstr>Analysis of Problem Statement</vt:lpstr>
      <vt:lpstr>Introduction</vt:lpstr>
      <vt:lpstr>Background and Related Work</vt:lpstr>
      <vt:lpstr>Proposed Approach and Objectives</vt:lpstr>
      <vt:lpstr>Software and Hardware Requirements: </vt:lpstr>
      <vt:lpstr>Flow Diagram </vt:lpstr>
      <vt:lpstr>Timeline of the Project (Gantt Chart)</vt:lpstr>
      <vt:lpstr>Github Link</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ADITYA VS</cp:lastModifiedBy>
  <cp:revision>74</cp:revision>
  <dcterms:created xsi:type="dcterms:W3CDTF">2025-08-13T05:26:29Z</dcterms:created>
  <dcterms:modified xsi:type="dcterms:W3CDTF">2026-04-23T04:24:25Z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59021E74CBF64697B0BDE6130A6B724D_12</vt:lpwstr>
  </property>
  <property fmtid="{D5CDD505-2E9C-101B-9397-08002B2CF9AE}" pid="3" name="KSOProductBuildVer">
    <vt:lpwstr>1033-12.2.0.21931</vt:lpwstr>
  </property>
</Properties>
</file>