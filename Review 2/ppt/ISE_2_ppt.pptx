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6"/>
  </p:notesMasterIdLst>
  <p:sldIdLst>
    <p:sldId id="256" r:id="rId2"/>
    <p:sldId id="257" r:id="rId3"/>
    <p:sldId id="295" r:id="rId4"/>
    <p:sldId id="286" r:id="rId5"/>
    <p:sldId id="294" r:id="rId6"/>
    <p:sldId id="288" r:id="rId7"/>
    <p:sldId id="287" r:id="rId8"/>
    <p:sldId id="292" r:id="rId9"/>
    <p:sldId id="291" r:id="rId10"/>
    <p:sldId id="289" r:id="rId11"/>
    <p:sldId id="285" r:id="rId12"/>
    <p:sldId id="293" r:id="rId13"/>
    <p:sldId id="290" r:id="rId14"/>
    <p:sldId id="314" r:id="rId15"/>
    <p:sldId id="313" r:id="rId16"/>
    <p:sldId id="315" r:id="rId17"/>
    <p:sldId id="316" r:id="rId18"/>
    <p:sldId id="317" r:id="rId19"/>
    <p:sldId id="305" r:id="rId20"/>
    <p:sldId id="306" r:id="rId21"/>
    <p:sldId id="308" r:id="rId22"/>
    <p:sldId id="307" r:id="rId23"/>
    <p:sldId id="309" r:id="rId24"/>
    <p:sldId id="278" r:id="rId25"/>
    <p:sldId id="311" r:id="rId26"/>
    <p:sldId id="272" r:id="rId27"/>
    <p:sldId id="281" r:id="rId28"/>
    <p:sldId id="268" r:id="rId29"/>
    <p:sldId id="265" r:id="rId30"/>
    <p:sldId id="296" r:id="rId31"/>
    <p:sldId id="297" r:id="rId32"/>
    <p:sldId id="312" r:id="rId33"/>
    <p:sldId id="318" r:id="rId34"/>
    <p:sldId id="266"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VS" userId="54d24a01e07898e0" providerId="LiveId" clId="{A6F78D5E-56F2-4541-9F57-55252227B364}"/>
    <pc:docChg chg="undo custSel modSld">
      <pc:chgData name="ADITYA VS" userId="54d24a01e07898e0" providerId="LiveId" clId="{A6F78D5E-56F2-4541-9F57-55252227B364}" dt="2026-04-23T04:19:52.852" v="1368" actId="20577"/>
      <pc:docMkLst>
        <pc:docMk/>
      </pc:docMkLst>
      <pc:sldChg chg="modSp mod">
        <pc:chgData name="ADITYA VS" userId="54d24a01e07898e0" providerId="LiveId" clId="{A6F78D5E-56F2-4541-9F57-55252227B364}" dt="2026-04-23T04:19:52.852" v="1368" actId="20577"/>
        <pc:sldMkLst>
          <pc:docMk/>
          <pc:sldMk cId="0" sldId="256"/>
        </pc:sldMkLst>
        <pc:spChg chg="mod">
          <ac:chgData name="ADITYA VS" userId="54d24a01e07898e0" providerId="LiveId" clId="{A6F78D5E-56F2-4541-9F57-55252227B364}" dt="2026-04-23T04:19:52.852" v="1368" actId="20577"/>
          <ac:spMkLst>
            <pc:docMk/>
            <pc:sldMk cId="0" sldId="25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ieeexplore.ieee.org/document/11239069"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ieeexplore.ieee.org/document/9924566"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ieeexplore.ieee.org/document/1008838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ieeexplore.ieee.org/document/9400819"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ieeexplore.ieee.org/document/10348318"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ieeexplore.ieee.org/document/10543599"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ieeexplore.ieee.org/document/10307245"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ieeexplore.ieee.org/document/9535496"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ieeexplore.ieee.org/document/11199799"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ieeexplore.ieee.org/document/10859520"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ieeexplore.ieee.org/document/8352400"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ieeexplore.ieee.org/document/10475331"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ieeexplore.ieee.org/document/8693161"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ieeexplore.ieee.org/document/10428773"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ieeexplore.ieee.org/document/10088414"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aadityaa2611/ISE_02-University-Projec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ieeexplore.ieee.org/document/9535496"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ieeexplore.ieee.org/document/9400819" TargetMode="External"/><Relationship Id="rId4" Type="http://schemas.openxmlformats.org/officeDocument/2006/relationships/hyperlink" Target="https://ieeexplore.ieee.org/document/9924566"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ieeexplore.ieee.org/document/10088381" TargetMode="External"/><Relationship Id="rId2" Type="http://schemas.openxmlformats.org/officeDocument/2006/relationships/hyperlink" Target="https://ieeexplore.ieee.org/document/11239069" TargetMode="External"/><Relationship Id="rId1" Type="http://schemas.openxmlformats.org/officeDocument/2006/relationships/slideLayout" Target="../slideLayouts/slideLayout2.xml"/><Relationship Id="rId4" Type="http://schemas.openxmlformats.org/officeDocument/2006/relationships/hyperlink" Target="https://ieeexplore.ieee.org/document/10307245"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ieeexplore.ieee.org/document/10543599" TargetMode="External"/><Relationship Id="rId2" Type="http://schemas.openxmlformats.org/officeDocument/2006/relationships/hyperlink" Target="https://ieeexplore.ieee.org/document/10859520" TargetMode="External"/><Relationship Id="rId1" Type="http://schemas.openxmlformats.org/officeDocument/2006/relationships/slideLayout" Target="../slideLayouts/slideLayout2.xml"/><Relationship Id="rId4" Type="http://schemas.openxmlformats.org/officeDocument/2006/relationships/hyperlink" Target="https://ieeexplore.ieee.org/document/10348318"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ieeexplore.ieee.org/document/10475331" TargetMode="External"/><Relationship Id="rId2" Type="http://schemas.openxmlformats.org/officeDocument/2006/relationships/hyperlink" Target="https://ieeexplore.ieee.org/document/11199799" TargetMode="External"/><Relationship Id="rId1" Type="http://schemas.openxmlformats.org/officeDocument/2006/relationships/slideLayout" Target="../slideLayouts/slideLayout2.xml"/><Relationship Id="rId4" Type="http://schemas.openxmlformats.org/officeDocument/2006/relationships/hyperlink" Target="https://ieeexplore.ieee.org/document/8352400"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ieeexplore.ieee.org/document/10428773" TargetMode="External"/><Relationship Id="rId2" Type="http://schemas.openxmlformats.org/officeDocument/2006/relationships/hyperlink" Target="https://ieeexplore.ieee.org/document/8693161" TargetMode="External"/><Relationship Id="rId1" Type="http://schemas.openxmlformats.org/officeDocument/2006/relationships/slideLayout" Target="../slideLayouts/slideLayout2.xml"/><Relationship Id="rId4" Type="http://schemas.openxmlformats.org/officeDocument/2006/relationships/hyperlink" Target="https://ieeexplore.ieee.org/document/10088414"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14400" y="788002"/>
            <a:ext cx="10363200" cy="962898"/>
          </a:xfrm>
          <a:prstGeom prst="rect">
            <a:avLst/>
          </a:prstGeom>
          <a:noFill/>
          <a:ln>
            <a:noFill/>
          </a:ln>
        </p:spPr>
        <p:txBody>
          <a:bodyPr spcFirstLastPara="1" wrap="square" lIns="91425" tIns="45700" rIns="91425" bIns="45700" anchor="ctr" anchorCtr="0">
            <a:noAutofit/>
          </a:bodyPr>
          <a:lstStyle/>
          <a:p>
            <a:pPr lvl="0" algn="ct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Image based breed recognition for cattle and buffaloes of India</a:t>
            </a:r>
            <a:br>
              <a:rPr lang="en-US" sz="2400" dirty="0">
                <a:latin typeface="Times New Roman" panose="02020603050405020304" pitchFamily="18" charset="0"/>
                <a:cs typeface="Times New Roman" panose="02020603050405020304" pitchFamily="18" charset="0"/>
              </a:rPr>
            </a:b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553346" y="2045352"/>
            <a:ext cx="4628253"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ISE_02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77700" y="2418720"/>
            <a:ext cx="5514300" cy="2020560"/>
          </a:xfrm>
          <a:prstGeom prst="rect">
            <a:avLst/>
          </a:prstGeom>
          <a:noFill/>
          <a:ln>
            <a:noFill/>
          </a:ln>
        </p:spPr>
        <p:txBody>
          <a:bodyPr spcFirstLastPara="1" wrap="square" lIns="91425" tIns="45700" rIns="91425" bIns="45700" anchor="t" anchorCtr="0">
            <a:normAutofit/>
          </a:bodyPr>
          <a:lstStyle/>
          <a:p>
            <a:pPr algn="ctr">
              <a:spcBef>
                <a:spcPts val="400"/>
              </a:spcBef>
              <a:buClr>
                <a:srgbClr val="17365D"/>
              </a:buClr>
              <a:buSzPts val="2000"/>
            </a:pPr>
            <a:r>
              <a:rPr lang="en-US"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Under the Supervision of,</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ctr">
              <a:spcBef>
                <a:spcPts val="340"/>
              </a:spcBef>
              <a:buClr>
                <a:srgbClr val="17365D"/>
              </a:buClr>
              <a:buSzPts val="1700"/>
            </a:pPr>
            <a:r>
              <a:rPr lang="en-US" sz="1800" b="1" dirty="0">
                <a:latin typeface="Times New Roman" panose="02020603050405020304" pitchFamily="18" charset="0"/>
                <a:cs typeface="Times New Roman" panose="02020603050405020304" pitchFamily="18" charset="0"/>
              </a:rPr>
              <a:t>Mr. John Bennet J</a:t>
            </a: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Assistant Professor</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School of Computer Science and Engineering</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Presidency University</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9" name="Google Shape;89;p13"/>
          <p:cNvGraphicFramePr/>
          <p:nvPr>
            <p:extLst>
              <p:ext uri="{D42A27DB-BD31-4B8C-83A1-F6EECF244321}">
                <p14:modId xmlns:p14="http://schemas.microsoft.com/office/powerpoint/2010/main" val="818332029"/>
              </p:ext>
            </p:extLst>
          </p:nvPr>
        </p:nvGraphicFramePr>
        <p:xfrm>
          <a:off x="208546" y="2597653"/>
          <a:ext cx="7042485" cy="4339904"/>
        </p:xfrm>
        <a:graphic>
          <a:graphicData uri="http://schemas.openxmlformats.org/drawingml/2006/table">
            <a:tbl>
              <a:tblPr firstRow="1" bandRow="1">
                <a:noFill/>
                <a:tableStyleId>{57690726-49DA-4552-BDEB-330DD8EA8BD9}</a:tableStyleId>
              </a:tblPr>
              <a:tblGrid>
                <a:gridCol w="2018022">
                  <a:extLst>
                    <a:ext uri="{9D8B030D-6E8A-4147-A177-3AD203B41FA5}">
                      <a16:colId xmlns:a16="http://schemas.microsoft.com/office/drawing/2014/main" val="20000"/>
                    </a:ext>
                  </a:extLst>
                </a:gridCol>
                <a:gridCol w="5024463">
                  <a:extLst>
                    <a:ext uri="{9D8B030D-6E8A-4147-A177-3AD203B41FA5}">
                      <a16:colId xmlns:a16="http://schemas.microsoft.com/office/drawing/2014/main" val="20001"/>
                    </a:ext>
                  </a:extLst>
                </a:gridCol>
              </a:tblGrid>
              <a:tr h="2325413">
                <a:tc>
                  <a:txBody>
                    <a:bodyPr/>
                    <a:lstStyle/>
                    <a:p>
                      <a:pPr marL="0" marR="0" lvl="1" indent="0" algn="ctr" rtl="0">
                        <a:lnSpc>
                          <a:spcPct val="150000"/>
                        </a:lnSpc>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Roll Number</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r>
                        <a:rPr lang="en-IN" sz="1800" b="1" u="none" strike="noStrike" cap="none" dirty="0">
                          <a:latin typeface="Times New Roman" panose="02020603050405020304" pitchFamily="18" charset="0"/>
                          <a:cs typeface="Times New Roman" panose="02020603050405020304" pitchFamily="18" charset="0"/>
                        </a:rPr>
                        <a:t>20221ISE0032</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r>
                        <a:rPr lang="en-IN" sz="1800" b="1" u="none" strike="noStrike" cap="none" dirty="0">
                          <a:latin typeface="Times New Roman" panose="02020603050405020304" pitchFamily="18" charset="0"/>
                          <a:cs typeface="Times New Roman" panose="02020603050405020304" pitchFamily="18" charset="0"/>
                        </a:rPr>
                        <a:t>20221ISE0062</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IN"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50000"/>
                        </a:lnSpc>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Student Name</a:t>
                      </a:r>
                      <a:endParaRPr lang="en-GB" sz="1800" b="1" u="none" strike="noStrike" cap="none"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
                          <a:srgbClr val="000000"/>
                        </a:buClr>
                        <a:buSzTx/>
                        <a:buFont typeface="Arial" panose="020B0604020202020204"/>
                        <a:buNone/>
                        <a:defRPr/>
                      </a:pPr>
                      <a:r>
                        <a:rPr lang="en-GB" sz="1800" b="1" u="none" strike="noStrike" cap="none" dirty="0">
                          <a:solidFill>
                            <a:schemeClr val="tx1"/>
                          </a:solidFill>
                          <a:latin typeface="Times New Roman" panose="02020603050405020304" pitchFamily="18" charset="0"/>
                          <a:cs typeface="Times New Roman" panose="02020603050405020304" pitchFamily="18" charset="0"/>
                        </a:rPr>
                        <a:t>Aditya V S</a:t>
                      </a:r>
                    </a:p>
                    <a:p>
                      <a:pPr marL="0" marR="0" lvl="0" indent="0" algn="ctr" defTabSz="914400" rtl="0" eaLnBrk="1" fontAlgn="auto" latinLnBrk="0" hangingPunct="1">
                        <a:lnSpc>
                          <a:spcPct val="150000"/>
                        </a:lnSpc>
                        <a:spcBef>
                          <a:spcPts val="0"/>
                        </a:spcBef>
                        <a:spcAft>
                          <a:spcPts val="0"/>
                        </a:spcAft>
                        <a:buClr>
                          <a:srgbClr val="000000"/>
                        </a:buClr>
                        <a:buSzTx/>
                        <a:buFont typeface="Arial" panose="020B0604020202020204"/>
                        <a:buNone/>
                        <a:defRPr/>
                      </a:pPr>
                      <a:r>
                        <a:rPr lang="en-GB" sz="1800" b="1" u="none" strike="noStrike" cap="none" dirty="0">
                          <a:solidFill>
                            <a:schemeClr val="tx1"/>
                          </a:solidFill>
                          <a:latin typeface="Times New Roman" panose="02020603050405020304" pitchFamily="18" charset="0"/>
                          <a:cs typeface="Times New Roman" panose="02020603050405020304" pitchFamily="18" charset="0"/>
                        </a:rPr>
                        <a:t>Chiranthan T C Nadig</a:t>
                      </a:r>
                    </a:p>
                    <a:p>
                      <a:pPr marL="0" marR="0" lvl="0" indent="0" algn="ctr" rtl="0">
                        <a:lnSpc>
                          <a:spcPct val="150000"/>
                        </a:lnSpc>
                        <a:spcBef>
                          <a:spcPts val="0"/>
                        </a:spcBef>
                        <a:spcAft>
                          <a:spcPts val="0"/>
                        </a:spcAft>
                        <a:buNone/>
                      </a:pPr>
                      <a:endParaRPr lang="en-GB" sz="1800" b="1" u="none" strike="noStrike" cap="none"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None/>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None/>
                      </a:pPr>
                      <a:endParaRPr sz="18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8381">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4660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CSE7302-</a:t>
            </a: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University Project</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Review-2</a:t>
            </a:r>
            <a:endParaRPr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p:txBody>
      </p:sp>
      <p:sp>
        <p:nvSpPr>
          <p:cNvPr id="8" name="Google Shape;91;p13"/>
          <p:cNvSpPr txBox="1"/>
          <p:nvPr/>
        </p:nvSpPr>
        <p:spPr>
          <a:xfrm>
            <a:off x="208546" y="4812022"/>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Information</a:t>
            </a:r>
            <a:r>
              <a:rPr lang="en-IN" alt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Science and Engineering</a:t>
            </a:r>
            <a:endPar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Gopal K Shyam</a:t>
            </a: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a:sym typeface="Verdana"/>
              </a:rPr>
              <a:t>Ms. Sumita </a:t>
            </a:r>
            <a:r>
              <a:rPr lang="en-US" sz="1800" b="1">
                <a:solidFill>
                  <a:schemeClr val="tx1"/>
                </a:solidFill>
                <a:latin typeface="Cambria" panose="02040503050406030204" pitchFamily="18" charset="0"/>
                <a:ea typeface="Cambria" panose="02040503050406030204" pitchFamily="18" charset="0"/>
                <a:cs typeface="Verdana"/>
                <a:sym typeface="Verdana"/>
              </a:rPr>
              <a:t>Guddin</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62000" y="1086603"/>
            <a:ext cx="10668000" cy="423264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1600" b="1"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sz="1600" b="1"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US" sz="1600" b="1"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1600" b="1" dirty="0">
                <a:latin typeface="Cambria" panose="02040503050406030204" pitchFamily="18" charset="0"/>
                <a:ea typeface="Cambria" panose="02040503050406030204" pitchFamily="18" charset="0"/>
              </a:rPr>
              <a:t>Existing Methods and Drawbacks</a:t>
            </a:r>
          </a:p>
          <a:p>
            <a:pPr marL="495300" indent="-342900" algn="just">
              <a:lnSpc>
                <a:spcPct val="200000"/>
              </a:lnSpc>
              <a:spcBef>
                <a:spcPts val="0"/>
              </a:spcBef>
              <a:buFont typeface="Arial" panose="020B0604020202020204" pitchFamily="34" charset="0"/>
              <a:buChar char="•"/>
            </a:pPr>
            <a:r>
              <a:rPr lang="en-IN" sz="1600" b="1" dirty="0">
                <a:latin typeface="Cambria" panose="02040503050406030204" pitchFamily="18" charset="0"/>
                <a:ea typeface="Cambria" panose="02040503050406030204" pitchFamily="18" charset="0"/>
              </a:rPr>
              <a:t>Proposed Method &amp; Feasibility Study </a:t>
            </a:r>
            <a:endParaRPr lang="en-US" sz="1600" b="1"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1600" b="1" dirty="0">
                <a:latin typeface="Cambria" panose="02040503050406030204" pitchFamily="18" charset="0"/>
                <a:ea typeface="Cambria" panose="02040503050406030204" pitchFamily="18" charset="0"/>
              </a:rPr>
              <a:t>Block Diagram</a:t>
            </a:r>
          </a:p>
          <a:p>
            <a:pPr marL="495300" indent="-342900" algn="just">
              <a:lnSpc>
                <a:spcPct val="200000"/>
              </a:lnSpc>
              <a:spcBef>
                <a:spcPts val="0"/>
              </a:spcBef>
              <a:buFont typeface="Arial" panose="020B0604020202020204" pitchFamily="34" charset="0"/>
              <a:buChar char="•"/>
            </a:pPr>
            <a:r>
              <a:rPr lang="en-US" sz="1600" b="1" dirty="0">
                <a:latin typeface="Cambria" panose="02040503050406030204" pitchFamily="18" charset="0"/>
                <a:ea typeface="Cambria" panose="02040503050406030204" pitchFamily="18" charset="0"/>
              </a:rPr>
              <a:t>Modules</a:t>
            </a:r>
          </a:p>
          <a:p>
            <a:pPr marL="495300" indent="-342900" algn="just">
              <a:lnSpc>
                <a:spcPct val="200000"/>
              </a:lnSpc>
              <a:spcBef>
                <a:spcPts val="0"/>
              </a:spcBef>
              <a:buFont typeface="Arial" panose="020B0604020202020204" pitchFamily="34" charset="0"/>
              <a:buChar char="•"/>
            </a:pPr>
            <a:r>
              <a:rPr lang="en-US" sz="1600" b="1" dirty="0">
                <a:latin typeface="Cambria" panose="02040503050406030204" pitchFamily="18" charset="0"/>
                <a:ea typeface="Cambria" panose="02040503050406030204" pitchFamily="18" charset="0"/>
              </a:rPr>
              <a:t>Hardware/Software Requirements</a:t>
            </a:r>
          </a:p>
          <a:p>
            <a:pPr marL="495300" indent="-342900" algn="just">
              <a:lnSpc>
                <a:spcPct val="200000"/>
              </a:lnSpc>
              <a:spcBef>
                <a:spcPts val="0"/>
              </a:spcBef>
              <a:buFont typeface="Arial" panose="020B0604020202020204" pitchFamily="34" charset="0"/>
              <a:buChar char="•"/>
            </a:pPr>
            <a:r>
              <a:rPr lang="en-US" sz="1600" b="1" dirty="0">
                <a:latin typeface="Cambria" panose="02040503050406030204" pitchFamily="18" charset="0"/>
                <a:ea typeface="Cambria" panose="02040503050406030204" pitchFamily="18" charset="0"/>
              </a:rPr>
              <a:t>Timeline</a:t>
            </a:r>
          </a:p>
          <a:p>
            <a:pPr marL="495300" indent="-342900" algn="just">
              <a:lnSpc>
                <a:spcPct val="200000"/>
              </a:lnSpc>
              <a:spcBef>
                <a:spcPts val="0"/>
              </a:spcBef>
              <a:buFont typeface="Arial" panose="020B0604020202020204" pitchFamily="34" charset="0"/>
              <a:buChar char="•"/>
            </a:pPr>
            <a:r>
              <a:rPr lang="en-US" sz="1600" b="1" dirty="0">
                <a:latin typeface="Cambria" panose="02040503050406030204" pitchFamily="18" charset="0"/>
                <a:ea typeface="Cambria" panose="020405030504060302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353BA-9F7B-784F-5D3C-86930084B514}"/>
              </a:ext>
            </a:extLst>
          </p:cNvPr>
          <p:cNvSpPr>
            <a:spLocks noGrp="1"/>
          </p:cNvSpPr>
          <p:nvPr>
            <p:ph type="title"/>
          </p:nvPr>
        </p:nvSpPr>
        <p:spPr/>
        <p:txBody>
          <a:bodyPr/>
          <a:lstStyle/>
          <a:p>
            <a:r>
              <a:rPr lang="en-IN" dirty="0"/>
              <a:t>Abstract:</a:t>
            </a:r>
          </a:p>
        </p:txBody>
      </p:sp>
      <p:sp>
        <p:nvSpPr>
          <p:cNvPr id="3" name="Text Placeholder 2">
            <a:extLst>
              <a:ext uri="{FF2B5EF4-FFF2-40B4-BE49-F238E27FC236}">
                <a16:creationId xmlns:a16="http://schemas.microsoft.com/office/drawing/2014/main" id="{9B5256BB-817E-6292-E7E7-1BCEB80C5E3F}"/>
              </a:ext>
            </a:extLst>
          </p:cNvPr>
          <p:cNvSpPr>
            <a:spLocks noGrp="1"/>
          </p:cNvSpPr>
          <p:nvPr>
            <p:ph type="body"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India has a wide variety of cattle and buffalo breeds that play an important role in agriculture and dairy farming. Correctly identifying these breeds is essential for breeding programs, disease control, and livestock management. However, traditional breed identification is usually done by experts and farmers, which can be time-consuming and sometimes inaccurate. This project proposes an image-based breed recognition system for Indian cattle and buffaloes using computer vision and deep learning techniques. Images of animals are collected and processed to extract important visual features such as face shape, skin pattern, horn structure, and body texture. A convolutional neural network (CNN) model is trained to classify different breeds automatically. The proposed system aims to provide fast, accurate, and user-friendly breed identification using images captured from mobile phones or cameras. This approach can help farmers, veterinarians, and researchers in making better decisions and supports the digital transformation of livestock management in India.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3092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8E426-B9F8-13E6-C10C-0BDF148854B7}"/>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5622C433-55FC-A830-1599-68A32CEF20D8}"/>
              </a:ext>
            </a:extLst>
          </p:cNvPr>
          <p:cNvGraphicFramePr>
            <a:graphicFrameLocks noGrp="1"/>
          </p:cNvGraphicFramePr>
          <p:nvPr>
            <p:extLst>
              <p:ext uri="{D42A27DB-BD31-4B8C-83A1-F6EECF244321}">
                <p14:modId xmlns:p14="http://schemas.microsoft.com/office/powerpoint/2010/main" val="3341756798"/>
              </p:ext>
            </p:extLst>
          </p:nvPr>
        </p:nvGraphicFramePr>
        <p:xfrm>
          <a:off x="167148" y="2297782"/>
          <a:ext cx="11857704" cy="4044130"/>
        </p:xfrm>
        <a:graphic>
          <a:graphicData uri="http://schemas.openxmlformats.org/drawingml/2006/table">
            <a:tbl>
              <a:tblPr firstRow="1" bandRow="1">
                <a:tableStyleId>{5C22544A-7EE6-4342-B048-85BDC9FD1C3A}</a:tableStyleId>
              </a:tblPr>
              <a:tblGrid>
                <a:gridCol w="2536723">
                  <a:extLst>
                    <a:ext uri="{9D8B030D-6E8A-4147-A177-3AD203B41FA5}">
                      <a16:colId xmlns:a16="http://schemas.microsoft.com/office/drawing/2014/main" val="540094644"/>
                    </a:ext>
                  </a:extLst>
                </a:gridCol>
                <a:gridCol w="2477729">
                  <a:extLst>
                    <a:ext uri="{9D8B030D-6E8A-4147-A177-3AD203B41FA5}">
                      <a16:colId xmlns:a16="http://schemas.microsoft.com/office/drawing/2014/main" val="3876261998"/>
                    </a:ext>
                  </a:extLst>
                </a:gridCol>
                <a:gridCol w="2035277">
                  <a:extLst>
                    <a:ext uri="{9D8B030D-6E8A-4147-A177-3AD203B41FA5}">
                      <a16:colId xmlns:a16="http://schemas.microsoft.com/office/drawing/2014/main" val="2395044300"/>
                    </a:ext>
                  </a:extLst>
                </a:gridCol>
                <a:gridCol w="2330246">
                  <a:extLst>
                    <a:ext uri="{9D8B030D-6E8A-4147-A177-3AD203B41FA5}">
                      <a16:colId xmlns:a16="http://schemas.microsoft.com/office/drawing/2014/main" val="2976926650"/>
                    </a:ext>
                  </a:extLst>
                </a:gridCol>
                <a:gridCol w="2477729">
                  <a:extLst>
                    <a:ext uri="{9D8B030D-6E8A-4147-A177-3AD203B41FA5}">
                      <a16:colId xmlns:a16="http://schemas.microsoft.com/office/drawing/2014/main" val="3454581191"/>
                    </a:ext>
                  </a:extLst>
                </a:gridCol>
              </a:tblGrid>
              <a:tr h="437430">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3586930">
                <a:tc>
                  <a:txBody>
                    <a:bodyPr/>
                    <a:lstStyle/>
                    <a:p>
                      <a:pPr lvl="3" algn="l"/>
                      <a:r>
                        <a:rPr lang="en-US" sz="1600" dirty="0"/>
                        <a:t>Earlier research on banana breed recognition mainly depended on </a:t>
                      </a:r>
                      <a:r>
                        <a:rPr lang="en-US" sz="1600" b="1" dirty="0"/>
                        <a:t>manual inspection by experts</a:t>
                      </a:r>
                      <a:r>
                        <a:rPr lang="en-US" sz="1600" dirty="0"/>
                        <a:t>, which is slow, costly, and subjective. Researchers introduced </a:t>
                      </a:r>
                      <a:r>
                        <a:rPr lang="en-US" sz="1600" b="1" dirty="0"/>
                        <a:t>image processing and traditional machine learning techniques.</a:t>
                      </a:r>
                      <a:r>
                        <a:rPr lang="en-US" sz="1600" dirty="0"/>
                        <a:t> </a:t>
                      </a:r>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Collect banana images of different breeds.</a:t>
                      </a:r>
                    </a:p>
                    <a:p>
                      <a:endParaRPr lang="en-US" sz="1600" dirty="0"/>
                    </a:p>
                    <a:p>
                      <a:r>
                        <a:rPr lang="en-US" sz="1600" dirty="0"/>
                        <a:t>Preprocess images Extract features:</a:t>
                      </a:r>
                    </a:p>
                    <a:p>
                      <a:endParaRPr lang="en-US" sz="1600" dirty="0"/>
                    </a:p>
                    <a:p>
                      <a:r>
                        <a:rPr lang="en-US" sz="1600" dirty="0"/>
                        <a:t>Manually for classic ML</a:t>
                      </a:r>
                    </a:p>
                    <a:p>
                      <a:endParaRPr lang="en-US" sz="1600" dirty="0"/>
                    </a:p>
                    <a:p>
                      <a:r>
                        <a:rPr lang="en-US" sz="1600" dirty="0"/>
                        <a:t>Automatically for deep learning</a:t>
                      </a:r>
                    </a:p>
                    <a:p>
                      <a:endParaRPr lang="en-US" sz="1600" dirty="0"/>
                    </a:p>
                    <a:p>
                      <a:r>
                        <a:rPr lang="en-US" sz="1600" dirty="0"/>
                        <a:t>Train multiple models separately</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Support Vector Machine (SVM)</a:t>
                      </a:r>
                    </a:p>
                    <a:p>
                      <a:endParaRPr lang="en-US" sz="1600" dirty="0"/>
                    </a:p>
                    <a:p>
                      <a:r>
                        <a:rPr lang="en-US" sz="1600" dirty="0"/>
                        <a:t>K-Nearest Neighbors (KNN)</a:t>
                      </a:r>
                    </a:p>
                    <a:p>
                      <a:endParaRPr lang="en-US" sz="1600" dirty="0"/>
                    </a:p>
                    <a:p>
                      <a:r>
                        <a:rPr lang="en-US" sz="1600" dirty="0"/>
                        <a:t>Random Forest</a:t>
                      </a:r>
                    </a:p>
                    <a:p>
                      <a:r>
                        <a:rPr lang="en-US" sz="1600" dirty="0"/>
                        <a:t>Convolutional Neural Networks (CNN)</a:t>
                      </a:r>
                    </a:p>
                    <a:p>
                      <a:endParaRPr lang="en-US" sz="1600" dirty="0"/>
                    </a:p>
                    <a:p>
                      <a:r>
                        <a:rPr lang="en-US" sz="1600" dirty="0"/>
                        <a:t>Transfer Learning models</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Works only on </a:t>
                      </a:r>
                      <a:r>
                        <a:rPr lang="en-US" sz="1600" b="1" dirty="0"/>
                        <a:t>banana breed images</a:t>
                      </a:r>
                      <a:r>
                        <a:rPr lang="en-US" sz="1600" dirty="0"/>
                        <a:t>, not transferable directly.</a:t>
                      </a:r>
                    </a:p>
                    <a:p>
                      <a:endParaRPr lang="en-US" sz="1600" dirty="0"/>
                    </a:p>
                    <a:p>
                      <a:r>
                        <a:rPr lang="en-US" sz="1600" dirty="0"/>
                        <a:t>Images are mostly </a:t>
                      </a:r>
                      <a:r>
                        <a:rPr lang="en-US" sz="1600" b="1" dirty="0"/>
                        <a:t>clean and well-captured </a:t>
                      </a:r>
                      <a:r>
                        <a:rPr lang="en-US" sz="1600" b="0" dirty="0"/>
                        <a:t>and cannot</a:t>
                      </a:r>
                      <a:endParaRPr lang="en-US" sz="1600" dirty="0"/>
                    </a:p>
                    <a:p>
                      <a:r>
                        <a:rPr lang="en-US" sz="1600" dirty="0"/>
                        <a:t> handle </a:t>
                      </a:r>
                      <a:r>
                        <a:rPr lang="en-US" sz="1600" b="1" dirty="0"/>
                        <a:t>multiple  objects in one image.</a:t>
                      </a:r>
                    </a:p>
                    <a:p>
                      <a:endParaRPr lang="en-US" sz="1600" dirty="0"/>
                    </a:p>
                    <a:p>
                      <a:r>
                        <a:rPr lang="en-US" sz="1600" dirty="0"/>
                        <a:t>Not tested in real-world agricultural conditions</a:t>
                      </a:r>
                    </a:p>
                    <a:p>
                      <a:endParaRPr lang="en-IN" sz="1600" b="1"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Collect real-world images with complex backgrounds.</a:t>
                      </a:r>
                    </a:p>
                    <a:p>
                      <a:endParaRPr lang="en-US" sz="1600" dirty="0"/>
                    </a:p>
                    <a:p>
                      <a:r>
                        <a:rPr lang="en-US" sz="1600" dirty="0"/>
                        <a:t>Use </a:t>
                      </a:r>
                      <a:r>
                        <a:rPr lang="en-US" sz="1600" b="1" dirty="0"/>
                        <a:t>object detection or segmentation</a:t>
                      </a:r>
                      <a:r>
                        <a:rPr lang="en-US" sz="1600" dirty="0"/>
                        <a:t> before classification.</a:t>
                      </a:r>
                    </a:p>
                    <a:p>
                      <a:endParaRPr lang="en-US" sz="1600" dirty="0"/>
                    </a:p>
                    <a:p>
                      <a:r>
                        <a:rPr lang="en-US" sz="1600" dirty="0"/>
                        <a:t>Extend approach to </a:t>
                      </a:r>
                      <a:r>
                        <a:rPr lang="en-US" sz="1600" b="1" dirty="0"/>
                        <a:t>animal or cattle breed recognition.</a:t>
                      </a:r>
                      <a:endParaRPr lang="en-US" sz="1600" dirty="0"/>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2EE8A4F1-47DB-F9FD-4533-8C461007B366}"/>
              </a:ext>
            </a:extLst>
          </p:cNvPr>
          <p:cNvSpPr txBox="1"/>
          <p:nvPr/>
        </p:nvSpPr>
        <p:spPr>
          <a:xfrm>
            <a:off x="812799" y="1218217"/>
            <a:ext cx="10169833"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 Comprehensive Analysis of Classic Machine Learning and Deep Learning Modeling for Breed Recognition of Bananas</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https://ieeexplore.ieee.org/document/11239069</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524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C71F7-6D39-6402-64A5-DA3E944EDF90}"/>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EB14F2AA-83E1-C743-AE9E-C1D463BC865D}"/>
              </a:ext>
            </a:extLst>
          </p:cNvPr>
          <p:cNvGraphicFramePr>
            <a:graphicFrameLocks noGrp="1"/>
          </p:cNvGraphicFramePr>
          <p:nvPr>
            <p:extLst>
              <p:ext uri="{D42A27DB-BD31-4B8C-83A1-F6EECF244321}">
                <p14:modId xmlns:p14="http://schemas.microsoft.com/office/powerpoint/2010/main" val="1022780765"/>
              </p:ext>
            </p:extLst>
          </p:nvPr>
        </p:nvGraphicFramePr>
        <p:xfrm>
          <a:off x="217948" y="2283106"/>
          <a:ext cx="11857704" cy="3718560"/>
        </p:xfrm>
        <a:graphic>
          <a:graphicData uri="http://schemas.openxmlformats.org/drawingml/2006/table">
            <a:tbl>
              <a:tblPr firstRow="1" bandRow="1">
                <a:tableStyleId>{5C22544A-7EE6-4342-B048-85BDC9FD1C3A}</a:tableStyleId>
              </a:tblPr>
              <a:tblGrid>
                <a:gridCol w="2800555">
                  <a:extLst>
                    <a:ext uri="{9D8B030D-6E8A-4147-A177-3AD203B41FA5}">
                      <a16:colId xmlns:a16="http://schemas.microsoft.com/office/drawing/2014/main" val="540094644"/>
                    </a:ext>
                  </a:extLst>
                </a:gridCol>
                <a:gridCol w="2222091">
                  <a:extLst>
                    <a:ext uri="{9D8B030D-6E8A-4147-A177-3AD203B41FA5}">
                      <a16:colId xmlns:a16="http://schemas.microsoft.com/office/drawing/2014/main" val="3876261998"/>
                    </a:ext>
                  </a:extLst>
                </a:gridCol>
                <a:gridCol w="2094271">
                  <a:extLst>
                    <a:ext uri="{9D8B030D-6E8A-4147-A177-3AD203B41FA5}">
                      <a16:colId xmlns:a16="http://schemas.microsoft.com/office/drawing/2014/main" val="2395044300"/>
                    </a:ext>
                  </a:extLst>
                </a:gridCol>
                <a:gridCol w="2390877">
                  <a:extLst>
                    <a:ext uri="{9D8B030D-6E8A-4147-A177-3AD203B41FA5}">
                      <a16:colId xmlns:a16="http://schemas.microsoft.com/office/drawing/2014/main" val="2976926650"/>
                    </a:ext>
                  </a:extLst>
                </a:gridCol>
                <a:gridCol w="2349910">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037243">
                <a:tc>
                  <a:txBody>
                    <a:bodyPr/>
                    <a:lstStyle/>
                    <a:p>
                      <a:pPr lvl="3" algn="l"/>
                      <a:r>
                        <a:rPr lang="en-IN" sz="1600" dirty="0">
                          <a:latin typeface="Times New Roman" panose="02020603050405020304" pitchFamily="18" charset="0"/>
                          <a:cs typeface="Times New Roman" panose="02020603050405020304" pitchFamily="18" charset="0"/>
                        </a:rPr>
                        <a:t>E</a:t>
                      </a:r>
                      <a:r>
                        <a:rPr lang="en-US" sz="1600" dirty="0">
                          <a:latin typeface="Times New Roman" panose="02020603050405020304" pitchFamily="18" charset="0"/>
                          <a:cs typeface="Times New Roman" panose="02020603050405020304" pitchFamily="18" charset="0"/>
                        </a:rPr>
                        <a:t>arlier systems for livestock monitoring mainly used </a:t>
                      </a:r>
                      <a:r>
                        <a:rPr lang="en-US" sz="1600" b="1" dirty="0">
                          <a:latin typeface="Times New Roman" panose="02020603050405020304" pitchFamily="18" charset="0"/>
                          <a:cs typeface="Times New Roman" panose="02020603050405020304" pitchFamily="18" charset="0"/>
                        </a:rPr>
                        <a:t>manual observation</a:t>
                      </a:r>
                      <a:r>
                        <a:rPr lang="en-US" sz="1600" dirty="0">
                          <a:latin typeface="Times New Roman" panose="02020603050405020304" pitchFamily="18" charset="0"/>
                          <a:cs typeface="Times New Roman" panose="02020603050405020304" pitchFamily="18" charset="0"/>
                        </a:rPr>
                        <a:t>, sensors, or RFID tags to check cattle activity and water intake. </a:t>
                      </a:r>
                    </a:p>
                    <a:p>
                      <a:pPr lvl="3" algn="l"/>
                      <a:endParaRPr lang="en-US" sz="1600" dirty="0">
                        <a:latin typeface="Times New Roman" panose="02020603050405020304" pitchFamily="18" charset="0"/>
                        <a:cs typeface="Times New Roman" panose="02020603050405020304" pitchFamily="18" charset="0"/>
                      </a:endParaRPr>
                    </a:p>
                    <a:p>
                      <a:pPr lvl="3" algn="l"/>
                      <a:r>
                        <a:rPr lang="en-US" sz="1600" dirty="0">
                          <a:latin typeface="Times New Roman" panose="02020603050405020304" pitchFamily="18" charset="0"/>
                          <a:cs typeface="Times New Roman" panose="02020603050405020304" pitchFamily="18" charset="0"/>
                        </a:rPr>
                        <a:t>Very few works used </a:t>
                      </a:r>
                      <a:r>
                        <a:rPr lang="en-US" sz="1600" b="1" dirty="0">
                          <a:latin typeface="Times New Roman" panose="02020603050405020304" pitchFamily="18" charset="0"/>
                          <a:cs typeface="Times New Roman" panose="02020603050405020304" pitchFamily="18" charset="0"/>
                        </a:rPr>
                        <a:t>computer vision</a:t>
                      </a:r>
                      <a:r>
                        <a:rPr lang="en-US" sz="1600" dirty="0">
                          <a:latin typeface="Times New Roman" panose="02020603050405020304" pitchFamily="18" charset="0"/>
                          <a:cs typeface="Times New Roman" panose="02020603050405020304" pitchFamily="18" charset="0"/>
                        </a:rPr>
                        <a:t>, and those that did were limited to controlled environments.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Camera installed near the water trough.</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Continuous video capture.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Extract frames from video.</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Recognize cattle using image-based techniques.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TensorFlow-based deep learning model.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CNN for image recognition.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Simple object detection and classification pipeline.</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mainly for </a:t>
                      </a:r>
                      <a:r>
                        <a:rPr lang="en-US" sz="1600" b="1" dirty="0">
                          <a:latin typeface="Times New Roman" panose="02020603050405020304" pitchFamily="18" charset="0"/>
                          <a:cs typeface="Times New Roman" panose="02020603050405020304" pitchFamily="18" charset="0"/>
                        </a:rPr>
                        <a:t>monitoring</a:t>
                      </a:r>
                      <a:r>
                        <a:rPr lang="en-US" sz="1600" dirty="0">
                          <a:latin typeface="Times New Roman" panose="02020603050405020304" pitchFamily="18" charset="0"/>
                          <a:cs typeface="Times New Roman" panose="02020603050405020304" pitchFamily="18" charset="0"/>
                        </a:rPr>
                        <a:t>, not breed identification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Accuracy depends heavily on camera position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Cannot handle multiple cattle clearly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breed classification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Extend recognition to </a:t>
                      </a:r>
                      <a:r>
                        <a:rPr lang="en-US" sz="1600" b="1" dirty="0">
                          <a:latin typeface="Times New Roman" panose="02020603050405020304" pitchFamily="18" charset="0"/>
                          <a:cs typeface="Times New Roman" panose="02020603050405020304" pitchFamily="18" charset="0"/>
                        </a:rPr>
                        <a:t>breed identification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Improve performance in crowded farm  environments</a:t>
                      </a:r>
                    </a:p>
                    <a:p>
                      <a:r>
                        <a:rPr lang="en-US" sz="1600" dirty="0">
                          <a:latin typeface="Times New Roman" panose="02020603050405020304" pitchFamily="18" charset="0"/>
                          <a:cs typeface="Times New Roman" panose="02020603050405020304" pitchFamily="18" charset="0"/>
                        </a:rPr>
                        <a:t>for </a:t>
                      </a:r>
                      <a:r>
                        <a:rPr lang="en-US" sz="1600" b="1" dirty="0">
                          <a:latin typeface="Times New Roman" panose="02020603050405020304" pitchFamily="18" charset="0"/>
                          <a:cs typeface="Times New Roman" panose="02020603050405020304" pitchFamily="18" charset="0"/>
                        </a:rPr>
                        <a:t>breed analysis</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DD28E8EA-1784-2426-B205-84DC8EA55F74}"/>
              </a:ext>
            </a:extLst>
          </p:cNvPr>
          <p:cNvSpPr txBox="1"/>
          <p:nvPr/>
        </p:nvSpPr>
        <p:spPr>
          <a:xfrm>
            <a:off x="812799" y="1183732"/>
            <a:ext cx="9520903" cy="1323439"/>
          </a:xfrm>
          <a:prstGeom prst="rect">
            <a:avLst/>
          </a:prstGeom>
          <a:noFill/>
        </p:spPr>
        <p:txBody>
          <a:bodyPr wrap="square">
            <a:spAutoFit/>
          </a:bodyPr>
          <a:lstStyle/>
          <a:p>
            <a:pPr algn="l">
              <a:buNone/>
            </a:pPr>
            <a:r>
              <a:rPr lang="en-US" sz="2000" b="1" i="0" dirty="0">
                <a:solidFill>
                  <a:srgbClr val="333333"/>
                </a:solidFill>
                <a:effectLst/>
                <a:latin typeface="Times New Roman" panose="02020603050405020304" pitchFamily="18" charset="0"/>
                <a:cs typeface="Times New Roman" panose="02020603050405020304" pitchFamily="18" charset="0"/>
              </a:rPr>
              <a:t>A Vision-Based Cattle Recognition System Using TensorFlow for Livestock Water Intake Monitoring</a:t>
            </a:r>
            <a:r>
              <a:rPr lang="en-US" sz="2000" b="1" dirty="0">
                <a:solidFill>
                  <a:srgbClr val="333333"/>
                </a:solidFill>
                <a:latin typeface="Times New Roman" panose="02020603050405020304" pitchFamily="18" charset="0"/>
                <a:cs typeface="Times New Roman" panose="02020603050405020304" pitchFamily="18" charset="0"/>
              </a:rPr>
              <a:t>.</a:t>
            </a:r>
          </a:p>
          <a:p>
            <a:r>
              <a:rPr lang="en-US" sz="2000" b="1" i="0" dirty="0">
                <a:solidFill>
                  <a:srgbClr val="333333"/>
                </a:solidFill>
                <a:effectLst/>
                <a:latin typeface="Times New Roman" panose="02020603050405020304" pitchFamily="18" charset="0"/>
                <a:cs typeface="Times New Roman" panose="02020603050405020304" pitchFamily="18" charset="0"/>
              </a:rPr>
              <a:t>Link</a:t>
            </a:r>
            <a:r>
              <a:rPr lang="en-US" sz="2000" b="1" dirty="0">
                <a:solidFill>
                  <a:srgbClr val="333333"/>
                </a:solidFill>
                <a:latin typeface="Times New Roman" panose="02020603050405020304" pitchFamily="18" charset="0"/>
                <a:cs typeface="Times New Roman" panose="02020603050405020304" pitchFamily="18" charset="0"/>
              </a:rPr>
              <a:t>: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https://ieeexplore.ieee.org/document/9924566</a:t>
            </a:r>
            <a:endParaRPr lang="en-US" sz="2000" b="1" dirty="0">
              <a:solidFill>
                <a:srgbClr val="333333"/>
              </a:solidFill>
              <a:latin typeface="Times New Roman" panose="02020603050405020304" pitchFamily="18" charset="0"/>
              <a:cs typeface="Times New Roman" panose="02020603050405020304" pitchFamily="18" charset="0"/>
            </a:endParaRPr>
          </a:p>
          <a:p>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8623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1EF-6390-CF55-F71D-634DC47D6DDC}"/>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23F58143-48CB-4ADC-C893-C17F6CDC24DD}"/>
              </a:ext>
            </a:extLst>
          </p:cNvPr>
          <p:cNvGraphicFramePr>
            <a:graphicFrameLocks noGrp="1"/>
          </p:cNvGraphicFramePr>
          <p:nvPr>
            <p:extLst>
              <p:ext uri="{D42A27DB-BD31-4B8C-83A1-F6EECF244321}">
                <p14:modId xmlns:p14="http://schemas.microsoft.com/office/powerpoint/2010/main" val="256841260"/>
              </p:ext>
            </p:extLst>
          </p:nvPr>
        </p:nvGraphicFramePr>
        <p:xfrm>
          <a:off x="167148" y="2425788"/>
          <a:ext cx="11857704" cy="3474720"/>
        </p:xfrm>
        <a:graphic>
          <a:graphicData uri="http://schemas.openxmlformats.org/drawingml/2006/table">
            <a:tbl>
              <a:tblPr firstRow="1" bandRow="1">
                <a:tableStyleId>{5C22544A-7EE6-4342-B048-85BDC9FD1C3A}</a:tableStyleId>
              </a:tblPr>
              <a:tblGrid>
                <a:gridCol w="2241755">
                  <a:extLst>
                    <a:ext uri="{9D8B030D-6E8A-4147-A177-3AD203B41FA5}">
                      <a16:colId xmlns:a16="http://schemas.microsoft.com/office/drawing/2014/main" val="540094644"/>
                    </a:ext>
                  </a:extLst>
                </a:gridCol>
                <a:gridCol w="1877962">
                  <a:extLst>
                    <a:ext uri="{9D8B030D-6E8A-4147-A177-3AD203B41FA5}">
                      <a16:colId xmlns:a16="http://schemas.microsoft.com/office/drawing/2014/main" val="3876261998"/>
                    </a:ext>
                  </a:extLst>
                </a:gridCol>
                <a:gridCol w="1848464">
                  <a:extLst>
                    <a:ext uri="{9D8B030D-6E8A-4147-A177-3AD203B41FA5}">
                      <a16:colId xmlns:a16="http://schemas.microsoft.com/office/drawing/2014/main" val="2395044300"/>
                    </a:ext>
                  </a:extLst>
                </a:gridCol>
                <a:gridCol w="2743200">
                  <a:extLst>
                    <a:ext uri="{9D8B030D-6E8A-4147-A177-3AD203B41FA5}">
                      <a16:colId xmlns:a16="http://schemas.microsoft.com/office/drawing/2014/main" val="2976926650"/>
                    </a:ext>
                  </a:extLst>
                </a:gridCol>
                <a:gridCol w="3146323">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113934">
                <a:tc>
                  <a:txBody>
                    <a:bodyPr/>
                    <a:lstStyle/>
                    <a:p>
                      <a:pPr lvl="3" algn="l"/>
                      <a:r>
                        <a:rPr lang="en-US" sz="1600" dirty="0">
                          <a:latin typeface="Times New Roman" panose="02020603050405020304" pitchFamily="18" charset="0"/>
                          <a:cs typeface="Times New Roman" panose="02020603050405020304" pitchFamily="18" charset="0"/>
                        </a:rPr>
                        <a:t>Traditional cattle identification relies on </a:t>
                      </a:r>
                      <a:r>
                        <a:rPr lang="en-US" sz="1600" b="1" dirty="0">
                          <a:latin typeface="Times New Roman" panose="02020603050405020304" pitchFamily="18" charset="0"/>
                          <a:cs typeface="Times New Roman" panose="02020603050405020304" pitchFamily="18" charset="0"/>
                        </a:rPr>
                        <a:t>ear tags, RFID chips, and manual inspection</a:t>
                      </a:r>
                      <a:r>
                        <a:rPr lang="en-US" sz="1600" dirty="0">
                          <a:latin typeface="Times New Roman" panose="02020603050405020304" pitchFamily="18" charset="0"/>
                          <a:cs typeface="Times New Roman" panose="02020603050405020304" pitchFamily="18" charset="0"/>
                        </a:rPr>
                        <a:t>, which are intrusive and error-prone.</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Image collection</a:t>
                      </a:r>
                    </a:p>
                    <a:p>
                      <a:pPr marL="0" indent="0" algn="l">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Image preprocessing </a:t>
                      </a:r>
                    </a:p>
                    <a:p>
                      <a:pPr marL="0" indent="0" algn="l">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Feature extraction</a:t>
                      </a:r>
                    </a:p>
                    <a:p>
                      <a:pPr marL="0" indent="0" algn="l">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Classification using </a:t>
                      </a:r>
                      <a:r>
                        <a:rPr lang="en-US" sz="1600" b="1" dirty="0">
                          <a:latin typeface="Times New Roman" panose="02020603050405020304" pitchFamily="18" charset="0"/>
                          <a:cs typeface="Times New Roman" panose="02020603050405020304" pitchFamily="18" charset="0"/>
                        </a:rPr>
                        <a:t>Support Vector Machine (SVM)</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Support Vector Machine (SVM).</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Handcrafted features based on </a:t>
                      </a:r>
                      <a:r>
                        <a:rPr lang="en-US" sz="1600" b="1" dirty="0">
                          <a:latin typeface="Times New Roman" panose="02020603050405020304" pitchFamily="18" charset="0"/>
                          <a:cs typeface="Times New Roman" panose="02020603050405020304" pitchFamily="18" charset="0"/>
                        </a:rPr>
                        <a:t>facial morphology and body shape.</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Relies on </a:t>
                      </a:r>
                      <a:r>
                        <a:rPr lang="en-US" sz="1600" b="1" dirty="0">
                          <a:latin typeface="Times New Roman" panose="02020603050405020304" pitchFamily="18" charset="0"/>
                          <a:cs typeface="Times New Roman" panose="02020603050405020304" pitchFamily="18" charset="0"/>
                        </a:rPr>
                        <a:t>manual feature extraction</a:t>
                      </a:r>
                      <a:r>
                        <a:rPr lang="en-US" sz="1600" dirty="0">
                          <a:latin typeface="Times New Roman" panose="02020603050405020304" pitchFamily="18" charset="0"/>
                          <a:cs typeface="Times New Roman" panose="02020603050405020304" pitchFamily="18" charset="0"/>
                        </a:rPr>
                        <a:t>, limiting scalability.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Cannot handle </a:t>
                      </a:r>
                      <a:r>
                        <a:rPr lang="en-US" sz="1600" b="1" dirty="0">
                          <a:latin typeface="Times New Roman" panose="02020603050405020304" pitchFamily="18" charset="0"/>
                          <a:cs typeface="Times New Roman" panose="02020603050405020304" pitchFamily="18" charset="0"/>
                        </a:rPr>
                        <a:t> background noise, or pose variation</a:t>
                      </a:r>
                      <a:r>
                        <a:rPr lang="en-US" sz="1600" dirty="0">
                          <a:latin typeface="Times New Roman" panose="02020603050405020304" pitchFamily="18" charset="0"/>
                          <a:cs typeface="Times New Roman" panose="02020603050405020304" pitchFamily="18" charset="0"/>
                        </a:rPr>
                        <a:t> well.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deep feature learning.</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Limited robustness under real farm conditions.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Replace SVM with </a:t>
                      </a:r>
                      <a:r>
                        <a:rPr lang="en-US" sz="1600" b="1" dirty="0">
                          <a:latin typeface="Times New Roman" panose="02020603050405020304" pitchFamily="18" charset="0"/>
                          <a:cs typeface="Times New Roman" panose="02020603050405020304" pitchFamily="18" charset="0"/>
                        </a:rPr>
                        <a:t>CNN-based feature extraction.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instance segmentation (Mask R-CNN)</a:t>
                      </a:r>
                      <a:r>
                        <a:rPr lang="en-US" sz="1600" dirty="0">
                          <a:latin typeface="Times New Roman" panose="02020603050405020304" pitchFamily="18" charset="0"/>
                          <a:cs typeface="Times New Roman" panose="02020603050405020304" pitchFamily="18" charset="0"/>
                        </a:rPr>
                        <a:t> before classification.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Train with </a:t>
                      </a:r>
                      <a:r>
                        <a:rPr lang="en-US" sz="1600" b="1" dirty="0">
                          <a:latin typeface="Times New Roman" panose="02020603050405020304" pitchFamily="18" charset="0"/>
                          <a:cs typeface="Times New Roman" panose="02020603050405020304" pitchFamily="18" charset="0"/>
                        </a:rPr>
                        <a:t>multi-angle and real-world datasets.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Automate breed recognition without manual preprocessing</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E4789776-5AE8-2B39-4246-36E47BAB42BF}"/>
              </a:ext>
            </a:extLst>
          </p:cNvPr>
          <p:cNvSpPr txBox="1"/>
          <p:nvPr/>
        </p:nvSpPr>
        <p:spPr>
          <a:xfrm>
            <a:off x="793135" y="1249494"/>
            <a:ext cx="9648723"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Cattle Breed Detection and Categorization Using Image Processing and Machine Learning</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https://ieeexplore.ieee.org/document/10088381</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6218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978C5-A9EC-2292-1CA5-75FEC3F45C9C}"/>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D4B5BD4C-8B45-9506-54E3-6F08F3C07D23}"/>
              </a:ext>
            </a:extLst>
          </p:cNvPr>
          <p:cNvGraphicFramePr>
            <a:graphicFrameLocks noGrp="1"/>
          </p:cNvGraphicFramePr>
          <p:nvPr>
            <p:extLst>
              <p:ext uri="{D42A27DB-BD31-4B8C-83A1-F6EECF244321}">
                <p14:modId xmlns:p14="http://schemas.microsoft.com/office/powerpoint/2010/main" val="3433058084"/>
              </p:ext>
            </p:extLst>
          </p:nvPr>
        </p:nvGraphicFramePr>
        <p:xfrm>
          <a:off x="334296" y="2484237"/>
          <a:ext cx="11857704" cy="347472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540094644"/>
                    </a:ext>
                  </a:extLst>
                </a:gridCol>
                <a:gridCol w="2043144">
                  <a:extLst>
                    <a:ext uri="{9D8B030D-6E8A-4147-A177-3AD203B41FA5}">
                      <a16:colId xmlns:a16="http://schemas.microsoft.com/office/drawing/2014/main" val="3876261998"/>
                    </a:ext>
                  </a:extLst>
                </a:gridCol>
                <a:gridCol w="1927123">
                  <a:extLst>
                    <a:ext uri="{9D8B030D-6E8A-4147-A177-3AD203B41FA5}">
                      <a16:colId xmlns:a16="http://schemas.microsoft.com/office/drawing/2014/main" val="2395044300"/>
                    </a:ext>
                  </a:extLst>
                </a:gridCol>
                <a:gridCol w="2733368">
                  <a:extLst>
                    <a:ext uri="{9D8B030D-6E8A-4147-A177-3AD203B41FA5}">
                      <a16:colId xmlns:a16="http://schemas.microsoft.com/office/drawing/2014/main" val="2976926650"/>
                    </a:ext>
                  </a:extLst>
                </a:gridCol>
                <a:gridCol w="2782529">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r>
                        <a:rPr lang="en-US" sz="1600" dirty="0">
                          <a:latin typeface="Times New Roman" panose="02020603050405020304" pitchFamily="18" charset="0"/>
                          <a:cs typeface="Times New Roman" panose="02020603050405020304" pitchFamily="18" charset="0"/>
                        </a:rPr>
                        <a:t>Earlier systems struggled with:</a:t>
                      </a:r>
                    </a:p>
                    <a:p>
                      <a:r>
                        <a:rPr lang="en-US" sz="1600" dirty="0">
                          <a:latin typeface="Times New Roman" panose="02020603050405020304" pitchFamily="18" charset="0"/>
                          <a:cs typeface="Times New Roman" panose="02020603050405020304" pitchFamily="18" charset="0"/>
                        </a:rPr>
                        <a:t>Overlapping cattle</a:t>
                      </a:r>
                    </a:p>
                    <a:p>
                      <a:r>
                        <a:rPr lang="en-US" sz="1600" dirty="0">
                          <a:latin typeface="Times New Roman" panose="02020603050405020304" pitchFamily="18" charset="0"/>
                          <a:cs typeface="Times New Roman" panose="02020603050405020304" pitchFamily="18" charset="0"/>
                        </a:rPr>
                        <a:t>Complex farm backgrounds</a:t>
                      </a:r>
                    </a:p>
                    <a:p>
                      <a:r>
                        <a:rPr lang="en-US" sz="1600" dirty="0">
                          <a:latin typeface="Times New Roman" panose="02020603050405020304" pitchFamily="18" charset="0"/>
                          <a:cs typeface="Times New Roman" panose="02020603050405020304" pitchFamily="18" charset="0"/>
                        </a:rPr>
                        <a:t>Traditional segmentation methods failed under poor lighting and clutter.</a:t>
                      </a: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Input farm images</a:t>
                      </a:r>
                    </a:p>
                    <a:p>
                      <a:r>
                        <a:rPr lang="en-US" sz="1600" dirty="0">
                          <a:latin typeface="Times New Roman" panose="02020603050405020304" pitchFamily="18" charset="0"/>
                          <a:cs typeface="Times New Roman" panose="02020603050405020304" pitchFamily="18" charset="0"/>
                        </a:rPr>
                        <a:t>Preprocessing and augmentation and segmentation using </a:t>
                      </a:r>
                      <a:r>
                        <a:rPr lang="en-US" sz="1600" b="1" dirty="0">
                          <a:latin typeface="Times New Roman" panose="02020603050405020304" pitchFamily="18" charset="0"/>
                          <a:cs typeface="Times New Roman" panose="02020603050405020304" pitchFamily="18" charset="0"/>
                        </a:rPr>
                        <a:t>Enhanced Mask R-CNN.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Contour extraction for individual cattle</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Enhanced Mask R-CNN.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Backbone CNN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-based)</a:t>
                      </a:r>
                    </a:p>
                    <a:p>
                      <a:r>
                        <a:rPr lang="en-US" sz="1600" dirty="0">
                          <a:latin typeface="Times New Roman" panose="02020603050405020304" pitchFamily="18" charset="0"/>
                          <a:cs typeface="Times New Roman" panose="02020603050405020304" pitchFamily="18" charset="0"/>
                        </a:rPr>
                        <a:t>Improved mask generation for precise boundary detection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Focuses only on </a:t>
                      </a:r>
                      <a:r>
                        <a:rPr lang="en-US" sz="1600" b="1" dirty="0">
                          <a:latin typeface="Times New Roman" panose="02020603050405020304" pitchFamily="18" charset="0"/>
                          <a:cs typeface="Times New Roman" panose="02020603050405020304" pitchFamily="18" charset="0"/>
                        </a:rPr>
                        <a:t>segmentation</a:t>
                      </a:r>
                      <a:r>
                        <a:rPr lang="en-US" sz="1600" dirty="0">
                          <a:latin typeface="Times New Roman" panose="02020603050405020304" pitchFamily="18" charset="0"/>
                          <a:cs typeface="Times New Roman" panose="02020603050405020304" pitchFamily="18" charset="0"/>
                        </a:rPr>
                        <a:t>, not breed recognition.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classification or identity mapping.</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High computational cost.</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Not optimized for mobile or low-resource environments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a:latin typeface="Times New Roman" panose="02020603050405020304" pitchFamily="18" charset="0"/>
                          <a:cs typeface="Times New Roman" panose="02020603050405020304" pitchFamily="18" charset="0"/>
                        </a:rPr>
                        <a:t>Using CNN for Classification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Optimize with </a:t>
                      </a:r>
                      <a:r>
                        <a:rPr lang="en-IN" sz="1600" b="1" dirty="0">
                          <a:latin typeface="Times New Roman" panose="02020603050405020304" pitchFamily="18" charset="0"/>
                          <a:cs typeface="Times New Roman" panose="02020603050405020304" pitchFamily="18" charset="0"/>
                        </a:rPr>
                        <a:t>lighter backbones (</a:t>
                      </a:r>
                      <a:r>
                        <a:rPr lang="en-IN" sz="1600" b="1" dirty="0" err="1">
                          <a:latin typeface="Times New Roman" panose="02020603050405020304" pitchFamily="18" charset="0"/>
                          <a:cs typeface="Times New Roman" panose="02020603050405020304" pitchFamily="18" charset="0"/>
                        </a:rPr>
                        <a:t>MobileNet</a:t>
                      </a:r>
                      <a:r>
                        <a:rPr lang="en-IN" sz="1600" b="1" dirty="0">
                          <a:latin typeface="Times New Roman" panose="02020603050405020304" pitchFamily="18" charset="0"/>
                          <a:cs typeface="Times New Roman" panose="02020603050405020304" pitchFamily="18" charset="0"/>
                        </a:rPr>
                        <a:t>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Extend system for </a:t>
                      </a:r>
                      <a:r>
                        <a:rPr lang="en-IN" sz="1600" b="1" dirty="0">
                          <a:latin typeface="Times New Roman" panose="02020603050405020304" pitchFamily="18" charset="0"/>
                          <a:cs typeface="Times New Roman" panose="02020603050405020304" pitchFamily="18" charset="0"/>
                        </a:rPr>
                        <a:t>breed recognition for cattle and buffalos.</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81A1E453-A495-B6BF-CDEF-205933361A0A}"/>
              </a:ext>
            </a:extLst>
          </p:cNvPr>
          <p:cNvSpPr txBox="1"/>
          <p:nvPr/>
        </p:nvSpPr>
        <p:spPr>
          <a:xfrm>
            <a:off x="717754" y="1160798"/>
            <a:ext cx="9950246"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Contour Extraction of Individual Cattle From an Image Using Enhanced Mask R-CNN Instance Segmentation Method</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https://ieeexplore.ieee.org/document/9400819</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3237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3C498-FB12-CA4E-FCDD-749497E0B4A5}"/>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DB69640F-9020-B23E-B306-D71922560B80}"/>
              </a:ext>
            </a:extLst>
          </p:cNvPr>
          <p:cNvGraphicFramePr>
            <a:graphicFrameLocks noGrp="1"/>
          </p:cNvGraphicFramePr>
          <p:nvPr>
            <p:extLst>
              <p:ext uri="{D42A27DB-BD31-4B8C-83A1-F6EECF244321}">
                <p14:modId xmlns:p14="http://schemas.microsoft.com/office/powerpoint/2010/main" val="284362423"/>
              </p:ext>
            </p:extLst>
          </p:nvPr>
        </p:nvGraphicFramePr>
        <p:xfrm>
          <a:off x="167148" y="2816769"/>
          <a:ext cx="11857704" cy="298704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540094644"/>
                    </a:ext>
                  </a:extLst>
                </a:gridCol>
                <a:gridCol w="2593751">
                  <a:extLst>
                    <a:ext uri="{9D8B030D-6E8A-4147-A177-3AD203B41FA5}">
                      <a16:colId xmlns:a16="http://schemas.microsoft.com/office/drawing/2014/main" val="3876261998"/>
                    </a:ext>
                  </a:extLst>
                </a:gridCol>
                <a:gridCol w="1907458">
                  <a:extLst>
                    <a:ext uri="{9D8B030D-6E8A-4147-A177-3AD203B41FA5}">
                      <a16:colId xmlns:a16="http://schemas.microsoft.com/office/drawing/2014/main" val="2395044300"/>
                    </a:ext>
                  </a:extLst>
                </a:gridCol>
                <a:gridCol w="2585884">
                  <a:extLst>
                    <a:ext uri="{9D8B030D-6E8A-4147-A177-3AD203B41FA5}">
                      <a16:colId xmlns:a16="http://schemas.microsoft.com/office/drawing/2014/main" val="2976926650"/>
                    </a:ext>
                  </a:extLst>
                </a:gridCol>
                <a:gridCol w="2399071">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pPr lvl="3" algn="l"/>
                      <a:r>
                        <a:rPr lang="en-US" sz="1600" dirty="0">
                          <a:latin typeface="Times New Roman" panose="02020603050405020304" pitchFamily="18" charset="0"/>
                          <a:cs typeface="Times New Roman" panose="02020603050405020304" pitchFamily="18" charset="0"/>
                        </a:rPr>
                        <a:t>Most cow face recognition methods rely on </a:t>
                      </a:r>
                      <a:r>
                        <a:rPr lang="en-US" sz="1600" b="1" dirty="0">
                          <a:latin typeface="Times New Roman" panose="02020603050405020304" pitchFamily="18" charset="0"/>
                          <a:cs typeface="Times New Roman" panose="02020603050405020304" pitchFamily="18" charset="0"/>
                        </a:rPr>
                        <a:t>CNNs</a:t>
                      </a:r>
                      <a:r>
                        <a:rPr lang="en-US" sz="1600" dirty="0">
                          <a:latin typeface="Times New Roman" panose="02020603050405020304" pitchFamily="18" charset="0"/>
                          <a:cs typeface="Times New Roman" panose="02020603050405020304" pitchFamily="18" charset="0"/>
                        </a:rPr>
                        <a:t> and assume that training labels are clean. However, in real farms, labels often contain </a:t>
                      </a:r>
                      <a:r>
                        <a:rPr lang="en-US" sz="1600" b="1" dirty="0">
                          <a:latin typeface="Times New Roman" panose="02020603050405020304" pitchFamily="18" charset="0"/>
                          <a:cs typeface="Times New Roman" panose="02020603050405020304" pitchFamily="18" charset="0"/>
                        </a:rPr>
                        <a:t>errors (noise)</a:t>
                      </a:r>
                      <a:r>
                        <a:rPr lang="en-US" sz="1600" dirty="0">
                          <a:latin typeface="Times New Roman" panose="02020603050405020304" pitchFamily="18" charset="0"/>
                          <a:cs typeface="Times New Roman" panose="02020603050405020304" pitchFamily="18" charset="0"/>
                        </a:rPr>
                        <a:t>, which reduces accuracy.</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Collect cow face images</a:t>
                      </a:r>
                    </a:p>
                    <a:p>
                      <a:r>
                        <a:rPr lang="en-US" sz="1600" dirty="0">
                          <a:latin typeface="Times New Roman" panose="02020603050405020304" pitchFamily="18" charset="0"/>
                          <a:cs typeface="Times New Roman" panose="02020603050405020304" pitchFamily="18" charset="0"/>
                        </a:rPr>
                        <a:t>Introduce noisy labels intentionally</a:t>
                      </a: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Vision Transformer (</a:t>
                      </a:r>
                      <a:r>
                        <a:rPr lang="en-US" sz="1600" b="1" dirty="0" err="1">
                          <a:latin typeface="Times New Roman" panose="02020603050405020304" pitchFamily="18" charset="0"/>
                          <a:cs typeface="Times New Roman" panose="02020603050405020304" pitchFamily="18" charset="0"/>
                        </a:rPr>
                        <a:t>ViT</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to learn global features</a:t>
                      </a:r>
                    </a:p>
                    <a:p>
                      <a:r>
                        <a:rPr lang="en-US" sz="1600" dirty="0">
                          <a:latin typeface="Times New Roman" panose="02020603050405020304" pitchFamily="18" charset="0"/>
                          <a:cs typeface="Times New Roman" panose="02020603050405020304" pitchFamily="18" charset="0"/>
                        </a:rPr>
                        <a:t>Apply noise-robust learning strategy</a:t>
                      </a:r>
                    </a:p>
                    <a:p>
                      <a:r>
                        <a:rPr lang="en-US" sz="1600" dirty="0">
                          <a:latin typeface="Times New Roman" panose="02020603050405020304" pitchFamily="18" charset="0"/>
                          <a:cs typeface="Times New Roman" panose="02020603050405020304" pitchFamily="18" charset="0"/>
                        </a:rPr>
                        <a:t>Identify individual cows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Vision Transformer (</a:t>
                      </a:r>
                      <a:r>
                        <a:rPr lang="en-US" sz="1600" b="1" dirty="0" err="1">
                          <a:latin typeface="Times New Roman" panose="02020603050405020304" pitchFamily="18" charset="0"/>
                          <a:cs typeface="Times New Roman" panose="02020603050405020304" pitchFamily="18" charset="0"/>
                        </a:rPr>
                        <a:t>ViT</a:t>
                      </a:r>
                      <a:r>
                        <a:rPr lang="en-US" sz="1600" b="1"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Noise-robust loss functions</a:t>
                      </a:r>
                    </a:p>
                    <a:p>
                      <a:r>
                        <a:rPr lang="en-US" sz="1600" dirty="0">
                          <a:latin typeface="Times New Roman" panose="02020603050405020304" pitchFamily="18" charset="0"/>
                          <a:cs typeface="Times New Roman" panose="02020603050405020304" pitchFamily="18" charset="0"/>
                        </a:rPr>
                        <a:t>Attention-based feature learning</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High computation requirement</a:t>
                      </a:r>
                    </a:p>
                    <a:p>
                      <a:r>
                        <a:rPr lang="en-US" sz="1600" dirty="0">
                          <a:latin typeface="Times New Roman" panose="02020603050405020304" pitchFamily="18" charset="0"/>
                          <a:cs typeface="Times New Roman" panose="02020603050405020304" pitchFamily="18" charset="0"/>
                        </a:rPr>
                        <a:t>Needs large datasets</a:t>
                      </a:r>
                    </a:p>
                    <a:p>
                      <a:r>
                        <a:rPr lang="en-US" sz="1600" dirty="0">
                          <a:latin typeface="Times New Roman" panose="02020603050405020304" pitchFamily="18" charset="0"/>
                          <a:cs typeface="Times New Roman" panose="02020603050405020304" pitchFamily="18" charset="0"/>
                        </a:rPr>
                        <a:t>Focuses on </a:t>
                      </a:r>
                      <a:r>
                        <a:rPr lang="en-US" sz="1600" b="1" dirty="0">
                          <a:latin typeface="Times New Roman" panose="02020603050405020304" pitchFamily="18" charset="0"/>
                          <a:cs typeface="Times New Roman" panose="02020603050405020304" pitchFamily="18" charset="0"/>
                        </a:rPr>
                        <a:t>identity recognition</a:t>
                      </a:r>
                      <a:r>
                        <a:rPr lang="en-US" sz="1600" dirty="0">
                          <a:latin typeface="Times New Roman" panose="02020603050405020304" pitchFamily="18" charset="0"/>
                          <a:cs typeface="Times New Roman" panose="02020603050405020304" pitchFamily="18" charset="0"/>
                        </a:rPr>
                        <a:t>, not breed recognition</a:t>
                      </a:r>
                    </a:p>
                    <a:p>
                      <a:r>
                        <a:rPr lang="en-US" sz="1600" dirty="0">
                          <a:latin typeface="Times New Roman" panose="02020603050405020304" pitchFamily="18" charset="0"/>
                          <a:cs typeface="Times New Roman" panose="02020603050405020304" pitchFamily="18" charset="0"/>
                        </a:rPr>
                        <a:t>No background removal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Combine </a:t>
                      </a:r>
                      <a:r>
                        <a:rPr lang="en-US" sz="1600" b="1" dirty="0">
                          <a:latin typeface="Times New Roman" panose="02020603050405020304" pitchFamily="18" charset="0"/>
                          <a:cs typeface="Times New Roman" panose="02020603050405020304" pitchFamily="18" charset="0"/>
                        </a:rPr>
                        <a:t>segmentation + transformer</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lightweight transformer variants</a:t>
                      </a:r>
                    </a:p>
                    <a:p>
                      <a:r>
                        <a:rPr lang="en-US" sz="1600" dirty="0">
                          <a:latin typeface="Times New Roman" panose="02020603050405020304" pitchFamily="18" charset="0"/>
                          <a:cs typeface="Times New Roman" panose="02020603050405020304" pitchFamily="18" charset="0"/>
                        </a:rPr>
                        <a:t>Extend from identity recognition to </a:t>
                      </a:r>
                      <a:r>
                        <a:rPr lang="en-US" sz="1600" b="1" dirty="0">
                          <a:latin typeface="Times New Roman" panose="02020603050405020304" pitchFamily="18" charset="0"/>
                          <a:cs typeface="Times New Roman" panose="02020603050405020304" pitchFamily="18" charset="0"/>
                        </a:rPr>
                        <a:t>breed recognition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Improve usability in real farm environments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8FBDE050-51BC-AC87-C54E-15160ADC4267}"/>
              </a:ext>
            </a:extLst>
          </p:cNvPr>
          <p:cNvSpPr txBox="1"/>
          <p:nvPr/>
        </p:nvSpPr>
        <p:spPr>
          <a:xfrm>
            <a:off x="812799" y="1281622"/>
            <a:ext cx="7524955"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Cow Face Recognition with Noise Labels Using Vision Transformer</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https://ieeexplore.ieee.org/document/10348318</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56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3125D-0FD5-4FB9-2978-7F81BDE5F01F}"/>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3B8F6D6F-E701-46E9-4BF0-A181A9AB05BA}"/>
              </a:ext>
            </a:extLst>
          </p:cNvPr>
          <p:cNvGraphicFramePr>
            <a:graphicFrameLocks noGrp="1"/>
          </p:cNvGraphicFramePr>
          <p:nvPr>
            <p:extLst>
              <p:ext uri="{D42A27DB-BD31-4B8C-83A1-F6EECF244321}">
                <p14:modId xmlns:p14="http://schemas.microsoft.com/office/powerpoint/2010/main" val="1586903474"/>
              </p:ext>
            </p:extLst>
          </p:nvPr>
        </p:nvGraphicFramePr>
        <p:xfrm>
          <a:off x="217948" y="2726990"/>
          <a:ext cx="11857704" cy="2766305"/>
        </p:xfrm>
        <a:graphic>
          <a:graphicData uri="http://schemas.openxmlformats.org/drawingml/2006/table">
            <a:tbl>
              <a:tblPr firstRow="1" bandRow="1">
                <a:tableStyleId>{5C22544A-7EE6-4342-B048-85BDC9FD1C3A}</a:tableStyleId>
              </a:tblPr>
              <a:tblGrid>
                <a:gridCol w="2290917">
                  <a:extLst>
                    <a:ext uri="{9D8B030D-6E8A-4147-A177-3AD203B41FA5}">
                      <a16:colId xmlns:a16="http://schemas.microsoft.com/office/drawing/2014/main" val="540094644"/>
                    </a:ext>
                  </a:extLst>
                </a:gridCol>
                <a:gridCol w="2556387">
                  <a:extLst>
                    <a:ext uri="{9D8B030D-6E8A-4147-A177-3AD203B41FA5}">
                      <a16:colId xmlns:a16="http://schemas.microsoft.com/office/drawing/2014/main" val="3876261998"/>
                    </a:ext>
                  </a:extLst>
                </a:gridCol>
                <a:gridCol w="1907458">
                  <a:extLst>
                    <a:ext uri="{9D8B030D-6E8A-4147-A177-3AD203B41FA5}">
                      <a16:colId xmlns:a16="http://schemas.microsoft.com/office/drawing/2014/main" val="2395044300"/>
                    </a:ext>
                  </a:extLst>
                </a:gridCol>
                <a:gridCol w="2320413">
                  <a:extLst>
                    <a:ext uri="{9D8B030D-6E8A-4147-A177-3AD203B41FA5}">
                      <a16:colId xmlns:a16="http://schemas.microsoft.com/office/drawing/2014/main" val="2976926650"/>
                    </a:ext>
                  </a:extLst>
                </a:gridCol>
                <a:gridCol w="2782529">
                  <a:extLst>
                    <a:ext uri="{9D8B030D-6E8A-4147-A177-3AD203B41FA5}">
                      <a16:colId xmlns:a16="http://schemas.microsoft.com/office/drawing/2014/main" val="3454581191"/>
                    </a:ext>
                  </a:extLst>
                </a:gridCol>
              </a:tblGrid>
              <a:tr h="185689">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dog breed detection systems used only CNNs, which struggled when the dog was not clearly visible. Object detection was not included, reducing accuracy in real-world images.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latin typeface="Times New Roman" panose="02020603050405020304" pitchFamily="18" charset="0"/>
                          <a:cs typeface="Times New Roman" panose="02020603050405020304" pitchFamily="18" charset="0"/>
                        </a:rPr>
                        <a:t>Detect dog using </a:t>
                      </a:r>
                      <a:r>
                        <a:rPr lang="en-IN" sz="1600" b="1" dirty="0">
                          <a:latin typeface="Times New Roman" panose="02020603050405020304" pitchFamily="18" charset="0"/>
                          <a:cs typeface="Times New Roman" panose="02020603050405020304" pitchFamily="18" charset="0"/>
                        </a:rPr>
                        <a:t>YOLOv7</a:t>
                      </a:r>
                      <a:endParaRPr lang="en-IN" sz="1600" dirty="0">
                        <a:latin typeface="Times New Roman" panose="02020603050405020304" pitchFamily="18" charset="0"/>
                        <a:cs typeface="Times New Roman" panose="02020603050405020304" pitchFamily="18" charset="0"/>
                      </a:endParaRPr>
                    </a:p>
                    <a:p>
                      <a:pPr algn="l"/>
                      <a:r>
                        <a:rPr lang="en-IN" sz="1600" dirty="0">
                          <a:latin typeface="Times New Roman" panose="02020603050405020304" pitchFamily="18" charset="0"/>
                          <a:cs typeface="Times New Roman" panose="02020603050405020304" pitchFamily="18" charset="0"/>
                        </a:rPr>
                        <a:t>Crop detected region</a:t>
                      </a:r>
                    </a:p>
                    <a:p>
                      <a:pPr algn="l"/>
                      <a:r>
                        <a:rPr lang="en-IN" sz="1600" dirty="0">
                          <a:latin typeface="Times New Roman" panose="02020603050405020304" pitchFamily="18" charset="0"/>
                          <a:cs typeface="Times New Roman" panose="02020603050405020304" pitchFamily="18" charset="0"/>
                        </a:rPr>
                        <a:t>Extract features using CNN</a:t>
                      </a:r>
                    </a:p>
                    <a:p>
                      <a:pPr algn="l"/>
                      <a:r>
                        <a:rPr lang="en-IN" sz="1600" dirty="0">
                          <a:latin typeface="Times New Roman" panose="02020603050405020304" pitchFamily="18" charset="0"/>
                          <a:cs typeface="Times New Roman" panose="02020603050405020304" pitchFamily="18" charset="0"/>
                        </a:rPr>
                        <a:t>Optimize CNN using </a:t>
                      </a:r>
                      <a:r>
                        <a:rPr lang="en-IN" sz="1600" b="1" dirty="0">
                          <a:latin typeface="Times New Roman" panose="02020603050405020304" pitchFamily="18" charset="0"/>
                          <a:cs typeface="Times New Roman" panose="02020603050405020304" pitchFamily="18" charset="0"/>
                        </a:rPr>
                        <a:t>Whale Optimization Algorithm (WOA)</a:t>
                      </a:r>
                      <a:endParaRPr lang="en-IN" sz="1600" dirty="0">
                        <a:latin typeface="Times New Roman" panose="02020603050405020304" pitchFamily="18" charset="0"/>
                        <a:cs typeface="Times New Roman" panose="02020603050405020304" pitchFamily="18" charset="0"/>
                      </a:endParaRPr>
                    </a:p>
                    <a:p>
                      <a:pPr algn="l"/>
                      <a:r>
                        <a:rPr lang="en-IN" sz="1600" dirty="0">
                          <a:latin typeface="Times New Roman" panose="02020603050405020304" pitchFamily="18" charset="0"/>
                          <a:cs typeface="Times New Roman" panose="02020603050405020304" pitchFamily="18" charset="0"/>
                        </a:rPr>
                        <a:t>Classify dog breed</a:t>
                      </a:r>
                    </a:p>
                    <a:p>
                      <a:pPr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a:latin typeface="Times New Roman" panose="02020603050405020304" pitchFamily="18" charset="0"/>
                          <a:cs typeface="Times New Roman" panose="02020603050405020304" pitchFamily="18" charset="0"/>
                        </a:rPr>
                        <a:t>YOLOv7</a:t>
                      </a:r>
                      <a:r>
                        <a:rPr lang="en-IN" sz="1600" dirty="0">
                          <a:latin typeface="Times New Roman" panose="02020603050405020304" pitchFamily="18" charset="0"/>
                          <a:cs typeface="Times New Roman" panose="02020603050405020304" pitchFamily="18" charset="0"/>
                        </a:rPr>
                        <a:t> – object detection</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CNN</a:t>
                      </a:r>
                      <a:r>
                        <a:rPr lang="en-IN" sz="1600" dirty="0">
                          <a:latin typeface="Times New Roman" panose="02020603050405020304" pitchFamily="18" charset="0"/>
                          <a:cs typeface="Times New Roman" panose="02020603050405020304" pitchFamily="18" charset="0"/>
                        </a:rPr>
                        <a:t> – classification</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WOA</a:t>
                      </a:r>
                      <a:r>
                        <a:rPr lang="en-IN" sz="1600" dirty="0">
                          <a:latin typeface="Times New Roman" panose="02020603050405020304" pitchFamily="18" charset="0"/>
                          <a:cs typeface="Times New Roman" panose="02020603050405020304" pitchFamily="18" charset="0"/>
                        </a:rPr>
                        <a:t> – optimization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Designed only for dogs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High computation cost</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segmentation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Not tested in farm conditions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Use CNN for classification Add segmentation for better accuracy</a:t>
                      </a:r>
                    </a:p>
                    <a:p>
                      <a:r>
                        <a:rPr lang="en-US" sz="1600" dirty="0">
                          <a:latin typeface="Times New Roman" panose="02020603050405020304" pitchFamily="18" charset="0"/>
                          <a:cs typeface="Times New Roman" panose="02020603050405020304" pitchFamily="18" charset="0"/>
                        </a:rPr>
                        <a:t>Replace heavy models with lightweight ones</a:t>
                      </a:r>
                    </a:p>
                    <a:p>
                      <a:r>
                        <a:rPr lang="en-US" sz="1600" dirty="0">
                          <a:latin typeface="Times New Roman" panose="02020603050405020304" pitchFamily="18" charset="0"/>
                          <a:cs typeface="Times New Roman" panose="02020603050405020304" pitchFamily="18" charset="0"/>
                        </a:rPr>
                        <a:t>Apply approach to </a:t>
                      </a:r>
                      <a:r>
                        <a:rPr lang="en-US" sz="1600" b="1" dirty="0">
                          <a:latin typeface="Times New Roman" panose="02020603050405020304" pitchFamily="18" charset="0"/>
                          <a:cs typeface="Times New Roman" panose="02020603050405020304" pitchFamily="18" charset="0"/>
                        </a:rPr>
                        <a:t>cattle breed identification</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35069591-9436-846E-CEFB-6522D7935A86}"/>
              </a:ext>
            </a:extLst>
          </p:cNvPr>
          <p:cNvSpPr txBox="1"/>
          <p:nvPr/>
        </p:nvSpPr>
        <p:spPr>
          <a:xfrm>
            <a:off x="812800" y="1143970"/>
            <a:ext cx="6096000"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Dog Breed Detection using YOLOv7 and WOA CNN </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https://ieeexplore.ieee.org/document/10543599</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2331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E94A-4869-A219-2662-F5B9F623920B}"/>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C6410C34-D33B-8D77-B163-A7B385B8221B}"/>
              </a:ext>
            </a:extLst>
          </p:cNvPr>
          <p:cNvGraphicFramePr>
            <a:graphicFrameLocks noGrp="1"/>
          </p:cNvGraphicFramePr>
          <p:nvPr>
            <p:extLst>
              <p:ext uri="{D42A27DB-BD31-4B8C-83A1-F6EECF244321}">
                <p14:modId xmlns:p14="http://schemas.microsoft.com/office/powerpoint/2010/main" val="4041724112"/>
              </p:ext>
            </p:extLst>
          </p:nvPr>
        </p:nvGraphicFramePr>
        <p:xfrm>
          <a:off x="217948" y="3089788"/>
          <a:ext cx="11773145" cy="298704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540094644"/>
                    </a:ext>
                  </a:extLst>
                </a:gridCol>
                <a:gridCol w="2277480">
                  <a:extLst>
                    <a:ext uri="{9D8B030D-6E8A-4147-A177-3AD203B41FA5}">
                      <a16:colId xmlns:a16="http://schemas.microsoft.com/office/drawing/2014/main" val="3876261998"/>
                    </a:ext>
                  </a:extLst>
                </a:gridCol>
                <a:gridCol w="1448118">
                  <a:extLst>
                    <a:ext uri="{9D8B030D-6E8A-4147-A177-3AD203B41FA5}">
                      <a16:colId xmlns:a16="http://schemas.microsoft.com/office/drawing/2014/main" val="2395044300"/>
                    </a:ext>
                  </a:extLst>
                </a:gridCol>
                <a:gridCol w="2893478">
                  <a:extLst>
                    <a:ext uri="{9D8B030D-6E8A-4147-A177-3AD203B41FA5}">
                      <a16:colId xmlns:a16="http://schemas.microsoft.com/office/drawing/2014/main" val="2976926650"/>
                    </a:ext>
                  </a:extLst>
                </a:gridCol>
                <a:gridCol w="2782529">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r>
                        <a:rPr lang="en-US" sz="1600" dirty="0">
                          <a:latin typeface="Times New Roman" panose="02020603050405020304" pitchFamily="18" charset="0"/>
                          <a:cs typeface="Times New Roman" panose="02020603050405020304" pitchFamily="18" charset="0"/>
                        </a:rPr>
                        <a:t>CNN-based models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VGG,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 widely used</a:t>
                      </a:r>
                    </a:p>
                    <a:p>
                      <a:r>
                        <a:rPr lang="en-US" sz="1600" dirty="0">
                          <a:latin typeface="Times New Roman" panose="02020603050405020304" pitchFamily="18" charset="0"/>
                          <a:cs typeface="Times New Roman" panose="02020603050405020304" pitchFamily="18" charset="0"/>
                        </a:rPr>
                        <a:t>Transfer learning improves performance</a:t>
                      </a:r>
                    </a:p>
                    <a:p>
                      <a:r>
                        <a:rPr lang="en-US" sz="1600" dirty="0">
                          <a:latin typeface="Times New Roman" panose="02020603050405020304" pitchFamily="18" charset="0"/>
                          <a:cs typeface="Times New Roman" panose="02020603050405020304" pitchFamily="18" charset="0"/>
                        </a:rPr>
                        <a:t>Major issues: overfitting and lack of interpretability</a:t>
                      </a: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Dataset preparation (Udacity Dogs – 133 breeds)</a:t>
                      </a:r>
                    </a:p>
                    <a:p>
                      <a:r>
                        <a:rPr lang="en-US" sz="1600" dirty="0">
                          <a:latin typeface="Times New Roman" panose="02020603050405020304" pitchFamily="18" charset="0"/>
                          <a:cs typeface="Times New Roman" panose="02020603050405020304" pitchFamily="18" charset="0"/>
                        </a:rPr>
                        <a:t>Image resizing and augmentation</a:t>
                      </a:r>
                    </a:p>
                    <a:p>
                      <a:r>
                        <a:rPr lang="en-US" sz="1600" dirty="0">
                          <a:latin typeface="Times New Roman" panose="02020603050405020304" pitchFamily="18" charset="0"/>
                          <a:cs typeface="Times New Roman" panose="02020603050405020304" pitchFamily="18" charset="0"/>
                        </a:rPr>
                        <a:t>Transfer learning with pretrained CNNs</a:t>
                      </a:r>
                    </a:p>
                    <a:p>
                      <a:r>
                        <a:rPr lang="en-US" sz="1600" dirty="0">
                          <a:latin typeface="Times New Roman" panose="02020603050405020304" pitchFamily="18" charset="0"/>
                          <a:cs typeface="Times New Roman" panose="02020603050405020304" pitchFamily="18" charset="0"/>
                        </a:rPr>
                        <a:t>Performance comparison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600" b="1" dirty="0">
                          <a:latin typeface="Times New Roman" panose="02020603050405020304" pitchFamily="18" charset="0"/>
                          <a:cs typeface="Times New Roman" panose="02020603050405020304" pitchFamily="18" charset="0"/>
                        </a:rPr>
                        <a:t>VGG19</a:t>
                      </a:r>
                    </a:p>
                    <a:p>
                      <a:endParaRPr lang="fr-FR" sz="1600" dirty="0">
                        <a:latin typeface="Times New Roman" panose="02020603050405020304" pitchFamily="18" charset="0"/>
                        <a:cs typeface="Times New Roman" panose="02020603050405020304" pitchFamily="18" charset="0"/>
                      </a:endParaRPr>
                    </a:p>
                    <a:p>
                      <a:r>
                        <a:rPr lang="fr-FR" sz="1600" b="1" dirty="0">
                          <a:latin typeface="Times New Roman" panose="02020603050405020304" pitchFamily="18" charset="0"/>
                          <a:cs typeface="Times New Roman" panose="02020603050405020304" pitchFamily="18" charset="0"/>
                        </a:rPr>
                        <a:t>Inception V3</a:t>
                      </a:r>
                    </a:p>
                    <a:p>
                      <a:endParaRPr lang="fr-FR" sz="1600" dirty="0">
                        <a:latin typeface="Times New Roman" panose="02020603050405020304" pitchFamily="18" charset="0"/>
                        <a:cs typeface="Times New Roman" panose="02020603050405020304" pitchFamily="18" charset="0"/>
                      </a:endParaRPr>
                    </a:p>
                    <a:p>
                      <a:r>
                        <a:rPr lang="fr-FR" sz="1600" b="1" dirty="0" err="1">
                          <a:latin typeface="Times New Roman" panose="02020603050405020304" pitchFamily="18" charset="0"/>
                          <a:cs typeface="Times New Roman" panose="02020603050405020304" pitchFamily="18" charset="0"/>
                        </a:rPr>
                        <a:t>Resnet</a:t>
                      </a:r>
                      <a:endParaRPr lang="fr-FR" sz="1600" b="1" dirty="0">
                        <a:latin typeface="Times New Roman" panose="02020603050405020304" pitchFamily="18" charset="0"/>
                        <a:cs typeface="Times New Roman" panose="02020603050405020304" pitchFamily="18" charset="0"/>
                      </a:endParaRPr>
                    </a:p>
                    <a:p>
                      <a:endParaRPr lang="fr-FR" sz="1600" dirty="0">
                        <a:latin typeface="Times New Roman" panose="02020603050405020304" pitchFamily="18" charset="0"/>
                        <a:cs typeface="Times New Roman" panose="02020603050405020304" pitchFamily="18" charset="0"/>
                      </a:endParaRPr>
                    </a:p>
                    <a:p>
                      <a:r>
                        <a:rPr lang="fr-FR" sz="1600" b="1" dirty="0" err="1">
                          <a:latin typeface="Times New Roman" panose="02020603050405020304" pitchFamily="18" charset="0"/>
                          <a:cs typeface="Times New Roman" panose="02020603050405020304" pitchFamily="18" charset="0"/>
                        </a:rPr>
                        <a:t>MobileNet</a:t>
                      </a:r>
                      <a:r>
                        <a:rPr lang="fr-FR" sz="1600" b="1" dirty="0">
                          <a:latin typeface="Times New Roman" panose="02020603050405020304" pitchFamily="18" charset="0"/>
                          <a:cs typeface="Times New Roman" panose="02020603050405020304" pitchFamily="18" charset="0"/>
                        </a:rPr>
                        <a:t> V2</a:t>
                      </a:r>
                      <a:endParaRPr lang="fr-FR"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Not domain-specific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segmentation before classification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real-world noisy dataset handling</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Interpretability issues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Adapt best-performing CNNs to </a:t>
                      </a:r>
                      <a:r>
                        <a:rPr lang="en-IN" sz="1600" b="1" dirty="0">
                          <a:latin typeface="Times New Roman" panose="02020603050405020304" pitchFamily="18" charset="0"/>
                          <a:cs typeface="Times New Roman" panose="02020603050405020304" pitchFamily="18" charset="0"/>
                        </a:rPr>
                        <a:t>cattle datasets</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Add </a:t>
                      </a:r>
                      <a:r>
                        <a:rPr lang="en-IN" sz="1600" b="1" dirty="0">
                          <a:latin typeface="Times New Roman" panose="02020603050405020304" pitchFamily="18" charset="0"/>
                          <a:cs typeface="Times New Roman" panose="02020603050405020304" pitchFamily="18" charset="0"/>
                        </a:rPr>
                        <a:t>instance segmentation before classification.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Add a breed detection feature for buffalo.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2D9C8698-D830-718B-9652-A9FF0C15771A}"/>
              </a:ext>
            </a:extLst>
          </p:cNvPr>
          <p:cNvSpPr txBox="1"/>
          <p:nvPr/>
        </p:nvSpPr>
        <p:spPr>
          <a:xfrm>
            <a:off x="812800" y="1264243"/>
            <a:ext cx="9924026"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Identifying the Optimal Deep Learning Based Image Recognition Technique for Dog Breed Detection</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https://ieeexplore.ieee.org/document/10307245</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202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BEF0E-4DCA-E080-2487-964E4F96BB38}"/>
              </a:ext>
            </a:extLst>
          </p:cNvPr>
          <p:cNvSpPr>
            <a:spLocks noGrp="1"/>
          </p:cNvSpPr>
          <p:nvPr>
            <p:ph type="title"/>
          </p:nvPr>
        </p:nvSpPr>
        <p:spPr/>
        <p:txBody>
          <a:bodyPr/>
          <a:lstStyle/>
          <a:p>
            <a:r>
              <a:rPr lang="en-IN" dirty="0"/>
              <a:t>Literature Survey</a:t>
            </a:r>
          </a:p>
        </p:txBody>
      </p:sp>
      <p:sp>
        <p:nvSpPr>
          <p:cNvPr id="9" name="TextBox 8">
            <a:extLst>
              <a:ext uri="{FF2B5EF4-FFF2-40B4-BE49-F238E27FC236}">
                <a16:creationId xmlns:a16="http://schemas.microsoft.com/office/drawing/2014/main" id="{42A902F7-2FA0-38C4-5B55-131F2F7D4F73}"/>
              </a:ext>
            </a:extLst>
          </p:cNvPr>
          <p:cNvSpPr txBox="1"/>
          <p:nvPr/>
        </p:nvSpPr>
        <p:spPr>
          <a:xfrm>
            <a:off x="812800" y="1301286"/>
            <a:ext cx="7495458"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Graph Synthesis for Pig Breed Classification From Muzzle Images</a:t>
            </a:r>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Link: </a:t>
            </a:r>
            <a:r>
              <a:rPr lang="en-IN" sz="2000" b="1" dirty="0">
                <a:latin typeface="Times New Roman" panose="02020603050405020304" pitchFamily="18" charset="0"/>
                <a:cs typeface="Times New Roman" panose="02020603050405020304" pitchFamily="18" charset="0"/>
                <a:hlinkClick r:id="rId2"/>
              </a:rPr>
              <a:t>https://ieeexplore.ieee.org/document/9535496</a:t>
            </a:r>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5E22E936-538D-23E7-2B52-5E7CF98496C3}"/>
              </a:ext>
            </a:extLst>
          </p:cNvPr>
          <p:cNvGraphicFramePr>
            <a:graphicFrameLocks noGrp="1"/>
          </p:cNvGraphicFramePr>
          <p:nvPr>
            <p:extLst>
              <p:ext uri="{D42A27DB-BD31-4B8C-83A1-F6EECF244321}">
                <p14:modId xmlns:p14="http://schemas.microsoft.com/office/powerpoint/2010/main" val="216900562"/>
              </p:ext>
            </p:extLst>
          </p:nvPr>
        </p:nvGraphicFramePr>
        <p:xfrm>
          <a:off x="217948" y="2244210"/>
          <a:ext cx="11857704" cy="323088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3210806657"/>
                    </a:ext>
                  </a:extLst>
                </a:gridCol>
                <a:gridCol w="2434796">
                  <a:extLst>
                    <a:ext uri="{9D8B030D-6E8A-4147-A177-3AD203B41FA5}">
                      <a16:colId xmlns:a16="http://schemas.microsoft.com/office/drawing/2014/main" val="1241854262"/>
                    </a:ext>
                  </a:extLst>
                </a:gridCol>
                <a:gridCol w="1789471">
                  <a:extLst>
                    <a:ext uri="{9D8B030D-6E8A-4147-A177-3AD203B41FA5}">
                      <a16:colId xmlns:a16="http://schemas.microsoft.com/office/drawing/2014/main" val="704067927"/>
                    </a:ext>
                  </a:extLst>
                </a:gridCol>
                <a:gridCol w="2784168">
                  <a:extLst>
                    <a:ext uri="{9D8B030D-6E8A-4147-A177-3AD203B41FA5}">
                      <a16:colId xmlns:a16="http://schemas.microsoft.com/office/drawing/2014/main" val="3675009457"/>
                    </a:ext>
                  </a:extLst>
                </a:gridCol>
                <a:gridCol w="2477729">
                  <a:extLst>
                    <a:ext uri="{9D8B030D-6E8A-4147-A177-3AD203B41FA5}">
                      <a16:colId xmlns:a16="http://schemas.microsoft.com/office/drawing/2014/main" val="971684428"/>
                    </a:ext>
                  </a:extLst>
                </a:gridCol>
              </a:tblGrid>
              <a:tr h="445511">
                <a:tc>
                  <a:txBody>
                    <a:bodyPr/>
                    <a:lstStyle/>
                    <a:p>
                      <a:pPr algn="ctr"/>
                      <a:r>
                        <a:rPr lang="en-IN" sz="2400" dirty="0">
                          <a:solidFill>
                            <a:schemeClr val="tx1"/>
                          </a:solidFill>
                        </a:rPr>
                        <a:t>Existing Work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5950598"/>
                  </a:ext>
                </a:extLst>
              </a:tr>
              <a:tr h="2702764">
                <a:tc>
                  <a:txBody>
                    <a:bodyPr/>
                    <a:lstStyle/>
                    <a:p>
                      <a:pPr lvl="3" algn="l"/>
                      <a:r>
                        <a:rPr lang="en-US" sz="1600" dirty="0"/>
                        <a:t>Some previous research also explored </a:t>
                      </a:r>
                      <a:r>
                        <a:rPr lang="en-US" sz="1600" b="1" dirty="0"/>
                        <a:t>tag-based breed identification</a:t>
                      </a:r>
                      <a:r>
                        <a:rPr lang="en-US" sz="1600" dirty="0"/>
                        <a:t>, where specific were used to recognize animals.</a:t>
                      </a:r>
                    </a:p>
                    <a:p>
                      <a:pPr lvl="3" algn="l"/>
                      <a:r>
                        <a:rPr lang="en-US" sz="1600" dirty="0">
                          <a:latin typeface="Arial Rounded MT Bold" panose="020F0704030504030204" pitchFamily="34" charset="0"/>
                        </a:rPr>
                        <a:t>Physical Inspection </a:t>
                      </a:r>
                      <a:r>
                        <a:rPr lang="en-US" sz="1600" dirty="0">
                          <a:latin typeface="+mj-lt"/>
                        </a:rPr>
                        <a:t>was done to identify.</a:t>
                      </a:r>
                      <a:endParaRPr lang="en-IN" sz="16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mj-lt"/>
                        </a:rPr>
                        <a:t>Collected muzzle images.</a:t>
                      </a:r>
                    </a:p>
                    <a:p>
                      <a:r>
                        <a:rPr lang="en-IN" sz="1600" dirty="0">
                          <a:latin typeface="+mj-lt"/>
                        </a:rPr>
                        <a:t>Contrast enhancement of those pictures.</a:t>
                      </a:r>
                    </a:p>
                    <a:p>
                      <a:r>
                        <a:rPr lang="en-IN" sz="1600" dirty="0">
                          <a:latin typeface="+mj-lt"/>
                        </a:rPr>
                        <a:t>Feature Extraction. Later extracted features were converted into nodes and edges for the graph. Graph based classifiers were used to identify the breed.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0" dirty="0">
                          <a:latin typeface="+mj-lt"/>
                        </a:rPr>
                        <a:t>Image processing</a:t>
                      </a:r>
                    </a:p>
                    <a:p>
                      <a:endParaRPr lang="en-IN" sz="1600" b="0" dirty="0">
                        <a:latin typeface="+mj-lt"/>
                      </a:endParaRPr>
                    </a:p>
                    <a:p>
                      <a:r>
                        <a:rPr lang="en-IN" sz="1600" b="0" dirty="0">
                          <a:latin typeface="+mj-lt"/>
                        </a:rPr>
                        <a:t>Texture analysis</a:t>
                      </a:r>
                    </a:p>
                    <a:p>
                      <a:endParaRPr lang="en-IN" sz="1600" b="0" dirty="0">
                        <a:latin typeface="+mj-lt"/>
                      </a:endParaRPr>
                    </a:p>
                    <a:p>
                      <a:r>
                        <a:rPr lang="en-IN" sz="1600" b="0" dirty="0">
                          <a:latin typeface="+mj-lt"/>
                        </a:rPr>
                        <a:t>Graph Synthesis</a:t>
                      </a:r>
                    </a:p>
                    <a:p>
                      <a:endParaRPr lang="en-IN" sz="1600" b="0" dirty="0">
                        <a:latin typeface="+mj-lt"/>
                      </a:endParaRPr>
                    </a:p>
                    <a:p>
                      <a:r>
                        <a:rPr lang="en-IN" sz="1600" b="0" dirty="0">
                          <a:latin typeface="+mj-lt"/>
                        </a:rPr>
                        <a:t>Graph based 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0" dirty="0">
                          <a:latin typeface="+mj-lt"/>
                        </a:rPr>
                        <a:t>Applicable only for pigs .</a:t>
                      </a:r>
                    </a:p>
                    <a:p>
                      <a:endParaRPr lang="en-IN" sz="1600" b="0" dirty="0">
                        <a:latin typeface="+mj-lt"/>
                      </a:endParaRPr>
                    </a:p>
                    <a:p>
                      <a:r>
                        <a:rPr lang="en-IN" sz="1600" b="0" dirty="0">
                          <a:latin typeface="+mj-lt"/>
                        </a:rPr>
                        <a:t>Requires close-up images.</a:t>
                      </a:r>
                    </a:p>
                    <a:p>
                      <a:endParaRPr lang="en-IN" sz="1600" b="0" dirty="0">
                        <a:latin typeface="+mj-lt"/>
                      </a:endParaRPr>
                    </a:p>
                    <a:p>
                      <a:r>
                        <a:rPr lang="en-IN" sz="1600" b="0" dirty="0">
                          <a:latin typeface="+mj-lt"/>
                        </a:rPr>
                        <a:t>Hard to collect the images.</a:t>
                      </a:r>
                    </a:p>
                    <a:p>
                      <a:endParaRPr lang="en-IN" sz="1600" b="0" dirty="0">
                        <a:latin typeface="+mj-lt"/>
                      </a:endParaRPr>
                    </a:p>
                    <a:p>
                      <a:r>
                        <a:rPr lang="en-IN" sz="1600" b="0" dirty="0">
                          <a:latin typeface="+mj-lt"/>
                        </a:rPr>
                        <a:t>Less scalability</a:t>
                      </a:r>
                      <a:r>
                        <a:rPr lang="en-IN" sz="1600" b="1" dirty="0">
                          <a:latin typeface="Arial Rounded MT Bold" panose="020F0704030504030204" pitchFamily="34" charset="0"/>
                        </a:rPr>
                        <a:t>.</a:t>
                      </a:r>
                    </a:p>
                    <a:p>
                      <a:endParaRPr lang="en-IN" sz="1600" b="1"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Use of full body images</a:t>
                      </a:r>
                    </a:p>
                    <a:p>
                      <a:endParaRPr lang="en-US" sz="1600" dirty="0"/>
                    </a:p>
                    <a:p>
                      <a:r>
                        <a:rPr lang="en-US" sz="1600" dirty="0"/>
                        <a:t>Extend the system to </a:t>
                      </a:r>
                      <a:r>
                        <a:rPr lang="en-US" sz="1600" b="1" dirty="0"/>
                        <a:t>accurate breed recognition.</a:t>
                      </a:r>
                    </a:p>
                    <a:p>
                      <a:endParaRPr lang="en-US" sz="1600" dirty="0"/>
                    </a:p>
                    <a:p>
                      <a:r>
                        <a:rPr lang="en-US" sz="1600" dirty="0"/>
                        <a:t>Deploy as a real-time </a:t>
                      </a:r>
                      <a:r>
                        <a:rPr lang="en-US" sz="1600" b="1" dirty="0"/>
                        <a:t>web or </a:t>
                      </a:r>
                      <a:r>
                        <a:rPr lang="en-US" sz="1600" b="1"/>
                        <a:t>mobile application.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2300951"/>
                  </a:ext>
                </a:extLst>
              </a:tr>
            </a:tbl>
          </a:graphicData>
        </a:graphic>
      </p:graphicFrame>
    </p:spTree>
    <p:extLst>
      <p:ext uri="{BB962C8B-B14F-4D97-AF65-F5344CB8AC3E}">
        <p14:creationId xmlns:p14="http://schemas.microsoft.com/office/powerpoint/2010/main" val="2533286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8B349-BF4D-4CCA-AA00-FC75B89FDB8D}"/>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F1523D77-C810-6C56-D1BB-F606A113A7C4}"/>
              </a:ext>
            </a:extLst>
          </p:cNvPr>
          <p:cNvGraphicFramePr>
            <a:graphicFrameLocks noGrp="1"/>
          </p:cNvGraphicFramePr>
          <p:nvPr>
            <p:extLst>
              <p:ext uri="{D42A27DB-BD31-4B8C-83A1-F6EECF244321}">
                <p14:modId xmlns:p14="http://schemas.microsoft.com/office/powerpoint/2010/main" val="2419592427"/>
              </p:ext>
            </p:extLst>
          </p:nvPr>
        </p:nvGraphicFramePr>
        <p:xfrm>
          <a:off x="162232" y="2311939"/>
          <a:ext cx="11867536" cy="3718560"/>
        </p:xfrm>
        <a:graphic>
          <a:graphicData uri="http://schemas.openxmlformats.org/drawingml/2006/table">
            <a:tbl>
              <a:tblPr firstRow="1" bandRow="1">
                <a:tableStyleId>{5C22544A-7EE6-4342-B048-85BDC9FD1C3A}</a:tableStyleId>
              </a:tblPr>
              <a:tblGrid>
                <a:gridCol w="2625213">
                  <a:extLst>
                    <a:ext uri="{9D8B030D-6E8A-4147-A177-3AD203B41FA5}">
                      <a16:colId xmlns:a16="http://schemas.microsoft.com/office/drawing/2014/main" val="540094644"/>
                    </a:ext>
                  </a:extLst>
                </a:gridCol>
                <a:gridCol w="2561303">
                  <a:extLst>
                    <a:ext uri="{9D8B030D-6E8A-4147-A177-3AD203B41FA5}">
                      <a16:colId xmlns:a16="http://schemas.microsoft.com/office/drawing/2014/main" val="3876261998"/>
                    </a:ext>
                  </a:extLst>
                </a:gridCol>
                <a:gridCol w="1828800">
                  <a:extLst>
                    <a:ext uri="{9D8B030D-6E8A-4147-A177-3AD203B41FA5}">
                      <a16:colId xmlns:a16="http://schemas.microsoft.com/office/drawing/2014/main" val="2395044300"/>
                    </a:ext>
                  </a:extLst>
                </a:gridCol>
                <a:gridCol w="2308252">
                  <a:extLst>
                    <a:ext uri="{9D8B030D-6E8A-4147-A177-3AD203B41FA5}">
                      <a16:colId xmlns:a16="http://schemas.microsoft.com/office/drawing/2014/main" val="2976926650"/>
                    </a:ext>
                  </a:extLst>
                </a:gridCol>
                <a:gridCol w="2543968">
                  <a:extLst>
                    <a:ext uri="{9D8B030D-6E8A-4147-A177-3AD203B41FA5}">
                      <a16:colId xmlns:a16="http://schemas.microsoft.com/office/drawing/2014/main" val="3454581191"/>
                    </a:ext>
                  </a:extLst>
                </a:gridCol>
              </a:tblGrid>
              <a:tr h="436953">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711451">
                <a:tc>
                  <a:txBody>
                    <a:bodyPr/>
                    <a:lstStyle/>
                    <a:p>
                      <a:r>
                        <a:rPr lang="en-US" sz="1600" dirty="0">
                          <a:latin typeface="Times New Roman" panose="02020603050405020304" pitchFamily="18" charset="0"/>
                          <a:cs typeface="Times New Roman" panose="02020603050405020304" pitchFamily="18" charset="0"/>
                        </a:rPr>
                        <a:t>Traditional cattle identification methods such as </a:t>
                      </a:r>
                      <a:r>
                        <a:rPr lang="en-US" sz="1600" b="1" dirty="0">
                          <a:latin typeface="Times New Roman" panose="02020603050405020304" pitchFamily="18" charset="0"/>
                          <a:cs typeface="Times New Roman" panose="02020603050405020304" pitchFamily="18" charset="0"/>
                        </a:rPr>
                        <a:t>ear tags, RFID, and microchips</a:t>
                      </a:r>
                      <a:r>
                        <a:rPr lang="en-US" sz="1600" dirty="0">
                          <a:latin typeface="Times New Roman" panose="02020603050405020304" pitchFamily="18" charset="0"/>
                          <a:cs typeface="Times New Roman" panose="02020603050405020304" pitchFamily="18" charset="0"/>
                        </a:rPr>
                        <a:t> are harmful or unreliable. Deep learning models give good accuracy but require </a:t>
                      </a:r>
                      <a:r>
                        <a:rPr lang="en-US" sz="1600" b="1" dirty="0">
                          <a:latin typeface="Times New Roman" panose="02020603050405020304" pitchFamily="18" charset="0"/>
                          <a:cs typeface="Times New Roman" panose="02020603050405020304" pitchFamily="18" charset="0"/>
                        </a:rPr>
                        <a:t>retraining whenever new cattle are added</a:t>
                      </a:r>
                      <a:r>
                        <a:rPr lang="en-US" sz="1600" dirty="0">
                          <a:latin typeface="Times New Roman" panose="02020603050405020304" pitchFamily="18" charset="0"/>
                          <a:cs typeface="Times New Roman" panose="02020603050405020304" pitchFamily="18" charset="0"/>
                        </a:rPr>
                        <a:t>, which is costly.</a:t>
                      </a:r>
                    </a:p>
                    <a:p>
                      <a:endParaRPr lang="en-US" sz="1600" b="1" dirty="0">
                        <a:latin typeface="Times New Roman" panose="02020603050405020304" pitchFamily="18" charset="0"/>
                        <a:cs typeface="Times New Roman" panose="02020603050405020304" pitchFamily="18" charset="0"/>
                      </a:endParaRP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latin typeface="Times New Roman" panose="02020603050405020304" pitchFamily="18" charset="0"/>
                          <a:cs typeface="Times New Roman" panose="02020603050405020304" pitchFamily="18" charset="0"/>
                        </a:rPr>
                        <a:t>Capture cattle face images from </a:t>
                      </a:r>
                      <a:r>
                        <a:rPr lang="en-US" sz="1600" b="1" dirty="0">
                          <a:latin typeface="Times New Roman" panose="02020603050405020304" pitchFamily="18" charset="0"/>
                          <a:cs typeface="Times New Roman" panose="02020603050405020304" pitchFamily="18" charset="0"/>
                        </a:rPr>
                        <a:t>multiple angles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Extract key points by face detection</a:t>
                      </a:r>
                    </a:p>
                    <a:p>
                      <a:r>
                        <a:rPr lang="en-US" sz="1600" dirty="0">
                          <a:latin typeface="Times New Roman" panose="02020603050405020304" pitchFamily="18" charset="0"/>
                          <a:cs typeface="Times New Roman" panose="02020603050405020304" pitchFamily="18" charset="0"/>
                        </a:rPr>
                        <a:t>Feature Extraction</a:t>
                      </a:r>
                    </a:p>
                    <a:p>
                      <a:r>
                        <a:rPr lang="en-US" sz="1600" dirty="0">
                          <a:latin typeface="Times New Roman" panose="02020603050405020304" pitchFamily="18" charset="0"/>
                          <a:cs typeface="Times New Roman" panose="02020603050405020304" pitchFamily="18" charset="0"/>
                        </a:rPr>
                        <a:t>Match images using </a:t>
                      </a:r>
                      <a:r>
                        <a:rPr lang="en-US" sz="1600" b="1" dirty="0">
                          <a:latin typeface="Times New Roman" panose="02020603050405020304" pitchFamily="18" charset="0"/>
                          <a:cs typeface="Times New Roman" panose="02020603050405020304" pitchFamily="18" charset="0"/>
                        </a:rPr>
                        <a:t>improved Super Glue</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Super Point-booster</a:t>
                      </a:r>
                      <a:r>
                        <a:rPr lang="en-US" sz="1600" dirty="0">
                          <a:latin typeface="Times New Roman" panose="02020603050405020304" pitchFamily="18" charset="0"/>
                          <a:cs typeface="Times New Roman" panose="02020603050405020304" pitchFamily="18" charset="0"/>
                        </a:rPr>
                        <a:t> (feature extraction)</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Feature-Booster Network</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Efficient Glue (Improved Super Glue)</a:t>
                      </a:r>
                      <a:r>
                        <a:rPr lang="en-US" sz="1600" dirty="0">
                          <a:latin typeface="Times New Roman" panose="02020603050405020304" pitchFamily="18" charset="0"/>
                          <a:cs typeface="Times New Roman" panose="02020603050405020304" pitchFamily="18" charset="0"/>
                        </a:rPr>
                        <a:t> for matching</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Matching time slightly increases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Works mainly for </a:t>
                      </a:r>
                      <a:r>
                        <a:rPr lang="en-US" sz="1600" b="1" dirty="0">
                          <a:latin typeface="Times New Roman" panose="02020603050405020304" pitchFamily="18" charset="0"/>
                          <a:cs typeface="Times New Roman" panose="02020603050405020304" pitchFamily="18" charset="0"/>
                        </a:rPr>
                        <a:t>face recognition</a:t>
                      </a:r>
                      <a:r>
                        <a:rPr lang="en-US" sz="1600" dirty="0">
                          <a:latin typeface="Times New Roman" panose="02020603050405020304" pitchFamily="18" charset="0"/>
                          <a:cs typeface="Times New Roman" panose="02020603050405020304" pitchFamily="18" charset="0"/>
                        </a:rPr>
                        <a:t>, not breed classification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Complex architecture</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Use feature matching output for </a:t>
                      </a:r>
                      <a:r>
                        <a:rPr lang="en-US" sz="1600" b="1" dirty="0">
                          <a:latin typeface="Times New Roman" panose="02020603050405020304" pitchFamily="18" charset="0"/>
                          <a:cs typeface="Times New Roman" panose="02020603050405020304" pitchFamily="18" charset="0"/>
                        </a:rPr>
                        <a:t>breed classification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Combine with CNN-based classifier</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Reduce complexity using lightweight models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Apply to Indian cattle breeds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9A9EB608-3489-61A8-C004-E795A6F64059}"/>
              </a:ext>
            </a:extLst>
          </p:cNvPr>
          <p:cNvSpPr txBox="1"/>
          <p:nvPr/>
        </p:nvSpPr>
        <p:spPr>
          <a:xfrm>
            <a:off x="812799" y="1150965"/>
            <a:ext cx="7987071"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Research on Multi-View Cattle Facial Recognition Algorithm Based on Feature Matching </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https://ieeexplore.ieee.org/document/11199799</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0044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EB20-4C4F-717F-8995-AA2A5DA559B8}"/>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B87A3B0D-AD3F-1474-1147-0698A90CAE19}"/>
              </a:ext>
            </a:extLst>
          </p:cNvPr>
          <p:cNvGraphicFramePr>
            <a:graphicFrameLocks noGrp="1"/>
          </p:cNvGraphicFramePr>
          <p:nvPr>
            <p:extLst>
              <p:ext uri="{D42A27DB-BD31-4B8C-83A1-F6EECF244321}">
                <p14:modId xmlns:p14="http://schemas.microsoft.com/office/powerpoint/2010/main" val="11513100"/>
              </p:ext>
            </p:extLst>
          </p:nvPr>
        </p:nvGraphicFramePr>
        <p:xfrm>
          <a:off x="167148" y="2566218"/>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540094644"/>
                    </a:ext>
                  </a:extLst>
                </a:gridCol>
                <a:gridCol w="2271251">
                  <a:extLst>
                    <a:ext uri="{9D8B030D-6E8A-4147-A177-3AD203B41FA5}">
                      <a16:colId xmlns:a16="http://schemas.microsoft.com/office/drawing/2014/main" val="3876261998"/>
                    </a:ext>
                  </a:extLst>
                </a:gridCol>
                <a:gridCol w="1887794">
                  <a:extLst>
                    <a:ext uri="{9D8B030D-6E8A-4147-A177-3AD203B41FA5}">
                      <a16:colId xmlns:a16="http://schemas.microsoft.com/office/drawing/2014/main" val="2395044300"/>
                    </a:ext>
                  </a:extLst>
                </a:gridCol>
                <a:gridCol w="2566219">
                  <a:extLst>
                    <a:ext uri="{9D8B030D-6E8A-4147-A177-3AD203B41FA5}">
                      <a16:colId xmlns:a16="http://schemas.microsoft.com/office/drawing/2014/main" val="2976926650"/>
                    </a:ext>
                  </a:extLst>
                </a:gridCol>
                <a:gridCol w="2379407">
                  <a:extLst>
                    <a:ext uri="{9D8B030D-6E8A-4147-A177-3AD203B41FA5}">
                      <a16:colId xmlns:a16="http://schemas.microsoft.com/office/drawing/2014/main" val="3454581191"/>
                    </a:ext>
                  </a:extLst>
                </a:gridCol>
              </a:tblGrid>
              <a:tr h="266313">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pPr lvl="3" algn="l"/>
                      <a:r>
                        <a:rPr lang="en-IN" sz="1600" dirty="0">
                          <a:latin typeface="Times New Roman" panose="02020603050405020304" pitchFamily="18" charset="0"/>
                          <a:cs typeface="Times New Roman" panose="02020603050405020304" pitchFamily="18" charset="0"/>
                        </a:rPr>
                        <a:t>T</a:t>
                      </a:r>
                      <a:r>
                        <a:rPr lang="en-US" sz="1600" dirty="0" err="1">
                          <a:latin typeface="Times New Roman" panose="02020603050405020304" pitchFamily="18" charset="0"/>
                          <a:cs typeface="Times New Roman" panose="02020603050405020304" pitchFamily="18" charset="0"/>
                        </a:rPr>
                        <a:t>raditionally</a:t>
                      </a:r>
                      <a:r>
                        <a:rPr lang="en-US" sz="1600" dirty="0">
                          <a:latin typeface="Times New Roman" panose="02020603050405020304" pitchFamily="18" charset="0"/>
                          <a:cs typeface="Times New Roman" panose="02020603050405020304" pitchFamily="18" charset="0"/>
                        </a:rPr>
                        <a:t>, cattle breed identification was done manually based on physical appearance. Later, machine learning models were introduced but required </a:t>
                      </a:r>
                      <a:r>
                        <a:rPr lang="en-US" sz="1600" b="1" dirty="0">
                          <a:latin typeface="Times New Roman" panose="02020603050405020304" pitchFamily="18" charset="0"/>
                          <a:cs typeface="Times New Roman" panose="02020603050405020304" pitchFamily="18" charset="0"/>
                        </a:rPr>
                        <a:t>manual feature extraction</a:t>
                      </a:r>
                      <a:r>
                        <a:rPr lang="en-US" sz="1600" dirty="0">
                          <a:latin typeface="Times New Roman" panose="02020603050405020304" pitchFamily="18" charset="0"/>
                          <a:cs typeface="Times New Roman" panose="02020603050405020304" pitchFamily="18" charset="0"/>
                        </a:rPr>
                        <a:t>. Recent works use </a:t>
                      </a:r>
                      <a:r>
                        <a:rPr lang="en-US" sz="1600" b="1" dirty="0">
                          <a:latin typeface="Times New Roman" panose="02020603050405020304" pitchFamily="18" charset="0"/>
                          <a:cs typeface="Times New Roman" panose="02020603050405020304" pitchFamily="18" charset="0"/>
                        </a:rPr>
                        <a:t>deep learning</a:t>
                      </a:r>
                      <a:r>
                        <a:rPr lang="en-US" sz="1600" dirty="0">
                          <a:latin typeface="Times New Roman" panose="02020603050405020304" pitchFamily="18" charset="0"/>
                          <a:cs typeface="Times New Roman" panose="02020603050405020304" pitchFamily="18" charset="0"/>
                        </a:rPr>
                        <a:t>, but most focus on limited datasets and clean images.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Collect cattle images</a:t>
                      </a:r>
                    </a:p>
                    <a:p>
                      <a:r>
                        <a:rPr lang="en-US" sz="1600" dirty="0">
                          <a:latin typeface="Times New Roman" panose="02020603050405020304" pitchFamily="18" charset="0"/>
                          <a:cs typeface="Times New Roman" panose="02020603050405020304" pitchFamily="18" charset="0"/>
                        </a:rPr>
                        <a:t>Preprocess images (resize, normalize)</a:t>
                      </a:r>
                    </a:p>
                    <a:p>
                      <a:r>
                        <a:rPr lang="en-US" sz="1600" dirty="0">
                          <a:latin typeface="Times New Roman" panose="02020603050405020304" pitchFamily="18" charset="0"/>
                          <a:cs typeface="Times New Roman" panose="02020603050405020304" pitchFamily="18" charset="0"/>
                        </a:rPr>
                        <a:t>Train deep learning models</a:t>
                      </a:r>
                    </a:p>
                    <a:p>
                      <a:r>
                        <a:rPr lang="en-US" sz="1600" dirty="0">
                          <a:latin typeface="Times New Roman" panose="02020603050405020304" pitchFamily="18" charset="0"/>
                          <a:cs typeface="Times New Roman" panose="02020603050405020304" pitchFamily="18" charset="0"/>
                        </a:rPr>
                        <a:t>Extract features automatically</a:t>
                      </a:r>
                    </a:p>
                    <a:p>
                      <a:r>
                        <a:rPr lang="en-US" sz="1600" dirty="0">
                          <a:latin typeface="Times New Roman" panose="02020603050405020304" pitchFamily="18" charset="0"/>
                          <a:cs typeface="Times New Roman" panose="02020603050405020304" pitchFamily="18" charset="0"/>
                        </a:rPr>
                        <a:t>Classify cattle breed</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CNN-based deep learning models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Transfer learning approaches</a:t>
                      </a:r>
                    </a:p>
                    <a:p>
                      <a:r>
                        <a:rPr lang="en-US" sz="1600" dirty="0">
                          <a:latin typeface="Times New Roman" panose="02020603050405020304" pitchFamily="18" charset="0"/>
                          <a:cs typeface="Times New Roman" panose="02020603050405020304" pitchFamily="18" charset="0"/>
                        </a:rPr>
                        <a:t>Image classification networks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well only with </a:t>
                      </a:r>
                      <a:r>
                        <a:rPr lang="en-US" sz="1600" b="1" dirty="0">
                          <a:latin typeface="Times New Roman" panose="02020603050405020304" pitchFamily="18" charset="0"/>
                          <a:cs typeface="Times New Roman" panose="02020603050405020304" pitchFamily="18" charset="0"/>
                        </a:rPr>
                        <a:t>single cattle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handling of background noise</a:t>
                      </a:r>
                    </a:p>
                    <a:p>
                      <a:r>
                        <a:rPr lang="en-US" sz="1600" dirty="0">
                          <a:latin typeface="Times New Roman" panose="02020603050405020304" pitchFamily="18" charset="0"/>
                          <a:cs typeface="Times New Roman" panose="02020603050405020304" pitchFamily="18" charset="0"/>
                        </a:rPr>
                        <a:t>Limited number of cattle breeds</a:t>
                      </a:r>
                    </a:p>
                    <a:p>
                      <a:r>
                        <a:rPr lang="en-US" sz="1600" dirty="0">
                          <a:latin typeface="Times New Roman" panose="02020603050405020304" pitchFamily="18" charset="0"/>
                          <a:cs typeface="Times New Roman" panose="02020603050405020304" pitchFamily="18" charset="0"/>
                        </a:rPr>
                        <a:t>No real-time or farm-level deployment</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Use </a:t>
                      </a:r>
                      <a:r>
                        <a:rPr lang="en-US" sz="1600" b="1" dirty="0">
                          <a:latin typeface="Times New Roman" panose="02020603050405020304" pitchFamily="18" charset="0"/>
                          <a:cs typeface="Times New Roman" panose="02020603050405020304" pitchFamily="18" charset="0"/>
                        </a:rPr>
                        <a:t>real farm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Add </a:t>
                      </a:r>
                      <a:r>
                        <a:rPr lang="en-US" sz="1600" b="1" dirty="0">
                          <a:latin typeface="Times New Roman" panose="02020603050405020304" pitchFamily="18" charset="0"/>
                          <a:cs typeface="Times New Roman" panose="02020603050405020304" pitchFamily="18" charset="0"/>
                        </a:rPr>
                        <a:t>cattle detection before classification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Increase number of supported breeds</a:t>
                      </a:r>
                    </a:p>
                    <a:p>
                      <a:r>
                        <a:rPr lang="en-US" sz="1600" dirty="0">
                          <a:latin typeface="Times New Roman" panose="02020603050405020304" pitchFamily="18" charset="0"/>
                          <a:cs typeface="Times New Roman" panose="02020603050405020304" pitchFamily="18" charset="0"/>
                        </a:rPr>
                        <a:t>Improve robustness in different lighting and backgrounds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C5DDDB04-9807-218F-6A1F-55868F0FC6E9}"/>
              </a:ext>
            </a:extLst>
          </p:cNvPr>
          <p:cNvSpPr txBox="1"/>
          <p:nvPr/>
        </p:nvSpPr>
        <p:spPr>
          <a:xfrm>
            <a:off x="812800" y="1060902"/>
            <a:ext cx="9717548"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Identification of Cattle’s Breed Type by Processing Image using Deep Learning Models </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https://ieeexplore.ieee.org/document/10859520</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506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2E3CC-DDF8-300D-364A-0809B5A7AFEB}"/>
              </a:ext>
            </a:extLst>
          </p:cNvPr>
          <p:cNvSpPr>
            <a:spLocks noGrp="1"/>
          </p:cNvSpPr>
          <p:nvPr>
            <p:ph type="title"/>
          </p:nvPr>
        </p:nvSpPr>
        <p:spPr/>
        <p:txBody>
          <a:bodyPr/>
          <a:lstStyle/>
          <a:p>
            <a:r>
              <a:rPr lang="en-IN" dirty="0"/>
              <a:t>Literature Survey</a:t>
            </a:r>
          </a:p>
        </p:txBody>
      </p:sp>
      <p:sp>
        <p:nvSpPr>
          <p:cNvPr id="5" name="TextBox 4">
            <a:extLst>
              <a:ext uri="{FF2B5EF4-FFF2-40B4-BE49-F238E27FC236}">
                <a16:creationId xmlns:a16="http://schemas.microsoft.com/office/drawing/2014/main" id="{D69442CD-60F5-825C-4009-B5DF1633FD55}"/>
              </a:ext>
            </a:extLst>
          </p:cNvPr>
          <p:cNvSpPr txBox="1"/>
          <p:nvPr/>
        </p:nvSpPr>
        <p:spPr>
          <a:xfrm>
            <a:off x="812799" y="1085409"/>
            <a:ext cx="11054736"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Automatic Cattle Identification based on Fusion of Texture Features Extracted from Muzzle Images</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https://ieeexplore.ieee.org/document/8352400</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0C7C6504-6CCD-17B7-41A2-2EFBB55648DB}"/>
              </a:ext>
            </a:extLst>
          </p:cNvPr>
          <p:cNvGraphicFramePr>
            <a:graphicFrameLocks noGrp="1"/>
          </p:cNvGraphicFramePr>
          <p:nvPr>
            <p:extLst>
              <p:ext uri="{D42A27DB-BD31-4B8C-83A1-F6EECF244321}">
                <p14:modId xmlns:p14="http://schemas.microsoft.com/office/powerpoint/2010/main" val="2415765396"/>
              </p:ext>
            </p:extLst>
          </p:nvPr>
        </p:nvGraphicFramePr>
        <p:xfrm>
          <a:off x="167148" y="1949245"/>
          <a:ext cx="11857704" cy="396240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1064001352"/>
                    </a:ext>
                  </a:extLst>
                </a:gridCol>
                <a:gridCol w="2271251">
                  <a:extLst>
                    <a:ext uri="{9D8B030D-6E8A-4147-A177-3AD203B41FA5}">
                      <a16:colId xmlns:a16="http://schemas.microsoft.com/office/drawing/2014/main" val="3519479652"/>
                    </a:ext>
                  </a:extLst>
                </a:gridCol>
                <a:gridCol w="1887794">
                  <a:extLst>
                    <a:ext uri="{9D8B030D-6E8A-4147-A177-3AD203B41FA5}">
                      <a16:colId xmlns:a16="http://schemas.microsoft.com/office/drawing/2014/main" val="1339802645"/>
                    </a:ext>
                  </a:extLst>
                </a:gridCol>
                <a:gridCol w="2566219">
                  <a:extLst>
                    <a:ext uri="{9D8B030D-6E8A-4147-A177-3AD203B41FA5}">
                      <a16:colId xmlns:a16="http://schemas.microsoft.com/office/drawing/2014/main" val="2942609819"/>
                    </a:ext>
                  </a:extLst>
                </a:gridCol>
                <a:gridCol w="2379407">
                  <a:extLst>
                    <a:ext uri="{9D8B030D-6E8A-4147-A177-3AD203B41FA5}">
                      <a16:colId xmlns:a16="http://schemas.microsoft.com/office/drawing/2014/main" val="2193928382"/>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0323972"/>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cattle identification systems mostly used </a:t>
                      </a:r>
                      <a:r>
                        <a:rPr lang="en-US" sz="1600" b="1" dirty="0">
                          <a:latin typeface="Times New Roman" panose="02020603050405020304" pitchFamily="18" charset="0"/>
                          <a:cs typeface="Times New Roman" panose="02020603050405020304" pitchFamily="18" charset="0"/>
                        </a:rPr>
                        <a:t>ear tags and microchips</a:t>
                      </a:r>
                      <a:r>
                        <a:rPr lang="en-US" sz="1600" dirty="0">
                          <a:latin typeface="Times New Roman" panose="02020603050405020304" pitchFamily="18" charset="0"/>
                          <a:cs typeface="Times New Roman" panose="02020603050405020304" pitchFamily="18" charset="0"/>
                        </a:rPr>
                        <a:t>, but these methods are costly, easy to tamper with, and may hurt animals.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Muzzle image acquisition.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Image processing.</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Texture and Feature Extraction.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Feature Fusion.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a:latin typeface="Times New Roman" panose="02020603050405020304" pitchFamily="18" charset="0"/>
                          <a:cs typeface="Times New Roman" panose="02020603050405020304" pitchFamily="18" charset="0"/>
                        </a:rPr>
                        <a:t>Gabor Wavelet Transform</a:t>
                      </a:r>
                    </a:p>
                    <a:p>
                      <a:r>
                        <a:rPr lang="en-IN" sz="1600" dirty="0">
                          <a:latin typeface="Times New Roman" panose="02020603050405020304" pitchFamily="18" charset="0"/>
                          <a:cs typeface="Times New Roman" panose="02020603050405020304" pitchFamily="18" charset="0"/>
                        </a:rPr>
                        <a:t> </a:t>
                      </a:r>
                    </a:p>
                    <a:p>
                      <a:r>
                        <a:rPr lang="en-IN" sz="1600" b="1" dirty="0" err="1">
                          <a:latin typeface="Times New Roman" panose="02020603050405020304" pitchFamily="18" charset="0"/>
                          <a:cs typeface="Times New Roman" panose="02020603050405020304" pitchFamily="18" charset="0"/>
                        </a:rPr>
                        <a:t>tLBP</a:t>
                      </a:r>
                      <a:r>
                        <a:rPr lang="en-IN" sz="1600" b="1" dirty="0">
                          <a:latin typeface="Times New Roman" panose="02020603050405020304" pitchFamily="18" charset="0"/>
                          <a:cs typeface="Times New Roman" panose="02020603050405020304" pitchFamily="18" charset="0"/>
                        </a:rPr>
                        <a:t> (</a:t>
                      </a:r>
                      <a:r>
                        <a:rPr lang="en-IN" sz="1600" b="0" dirty="0">
                          <a:latin typeface="Times New Roman" panose="02020603050405020304" pitchFamily="18" charset="0"/>
                          <a:cs typeface="Times New Roman" panose="02020603050405020304" pitchFamily="18" charset="0"/>
                        </a:rPr>
                        <a:t>Transition Local Binary Pattern</a:t>
                      </a:r>
                      <a:r>
                        <a:rPr lang="en-IN" sz="1600" b="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PCA</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0" dirty="0">
                          <a:latin typeface="Times New Roman" panose="02020603050405020304" pitchFamily="18" charset="0"/>
                          <a:cs typeface="Times New Roman" panose="02020603050405020304" pitchFamily="18" charset="0"/>
                        </a:rPr>
                        <a:t>Principal Component Analysis</a:t>
                      </a:r>
                      <a:r>
                        <a:rPr lang="en-IN" sz="1600" b="1" dirty="0">
                          <a:latin typeface="Times New Roman" panose="02020603050405020304" pitchFamily="18" charset="0"/>
                          <a:cs typeface="Times New Roman" panose="02020603050405020304" pitchFamily="18" charset="0"/>
                        </a:rPr>
                        <a:t>)</a:t>
                      </a:r>
                    </a:p>
                    <a:p>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SVM (</a:t>
                      </a:r>
                      <a:r>
                        <a:rPr lang="en-IN" sz="1600" b="0" dirty="0">
                          <a:latin typeface="Times New Roman" panose="02020603050405020304" pitchFamily="18" charset="0"/>
                          <a:cs typeface="Times New Roman" panose="02020603050405020304" pitchFamily="18" charset="0"/>
                        </a:rPr>
                        <a:t>Support Vector Machine</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only on </a:t>
                      </a:r>
                      <a:r>
                        <a:rPr lang="en-US" sz="1600" b="1" dirty="0">
                          <a:latin typeface="Times New Roman" panose="02020603050405020304" pitchFamily="18" charset="0"/>
                          <a:cs typeface="Times New Roman" panose="02020603050405020304" pitchFamily="18" charset="0"/>
                        </a:rPr>
                        <a:t>static muzzle images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Performance may drop with </a:t>
                      </a:r>
                      <a:r>
                        <a:rPr lang="en-US" sz="1600" b="1" dirty="0">
                          <a:latin typeface="Times New Roman" panose="02020603050405020304" pitchFamily="18" charset="0"/>
                          <a:cs typeface="Times New Roman" panose="02020603050405020304" pitchFamily="18" charset="0"/>
                        </a:rPr>
                        <a:t>movement and lighting changes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Identifies </a:t>
                      </a:r>
                      <a:r>
                        <a:rPr lang="en-US" sz="1600" b="1" dirty="0">
                          <a:latin typeface="Times New Roman" panose="02020603050405020304" pitchFamily="18" charset="0"/>
                          <a:cs typeface="Times New Roman" panose="02020603050405020304" pitchFamily="18" charset="0"/>
                        </a:rPr>
                        <a:t>individual cattle</a:t>
                      </a:r>
                      <a:r>
                        <a:rPr lang="en-US" sz="1600" dirty="0">
                          <a:latin typeface="Times New Roman" panose="02020603050405020304" pitchFamily="18" charset="0"/>
                          <a:cs typeface="Times New Roman" panose="02020603050405020304" pitchFamily="18" charset="0"/>
                        </a:rPr>
                        <a:t>, not </a:t>
                      </a:r>
                      <a:r>
                        <a:rPr lang="en-US" sz="1600" b="1" dirty="0">
                          <a:latin typeface="Times New Roman" panose="02020603050405020304" pitchFamily="18" charset="0"/>
                          <a:cs typeface="Times New Roman" panose="02020603050405020304" pitchFamily="18" charset="0"/>
                        </a:rPr>
                        <a:t>breed</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Requires </a:t>
                      </a:r>
                      <a:r>
                        <a:rPr lang="en-US" sz="1600" b="1" dirty="0">
                          <a:latin typeface="Times New Roman" panose="02020603050405020304" pitchFamily="18" charset="0"/>
                          <a:cs typeface="Times New Roman" panose="02020603050405020304" pitchFamily="18" charset="0"/>
                        </a:rPr>
                        <a:t>clear close-up muzzle images</a:t>
                      </a:r>
                      <a:endParaRPr lang="en-US" sz="1600"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Extend from </a:t>
                      </a:r>
                      <a:r>
                        <a:rPr lang="en-US" sz="1600" b="1" dirty="0">
                          <a:latin typeface="Times New Roman" panose="02020603050405020304" pitchFamily="18" charset="0"/>
                          <a:cs typeface="Times New Roman" panose="02020603050405020304" pitchFamily="18" charset="0"/>
                        </a:rPr>
                        <a:t>individual identification to breed recognition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automatic detection</a:t>
                      </a:r>
                      <a:r>
                        <a:rPr lang="en-US" sz="1600" dirty="0">
                          <a:latin typeface="Times New Roman" panose="02020603050405020304" pitchFamily="18" charset="0"/>
                          <a:cs typeface="Times New Roman" panose="02020603050405020304" pitchFamily="18" charset="0"/>
                        </a:rPr>
                        <a:t> instead of manual muzzle capture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Combine with </a:t>
                      </a:r>
                      <a:r>
                        <a:rPr lang="en-US" sz="1600" b="1" dirty="0">
                          <a:latin typeface="Times New Roman" panose="02020603050405020304" pitchFamily="18" charset="0"/>
                          <a:cs typeface="Times New Roman" panose="02020603050405020304" pitchFamily="18" charset="0"/>
                        </a:rPr>
                        <a:t>deep learning models</a:t>
                      </a:r>
                      <a:r>
                        <a:rPr lang="en-US" sz="1600" dirty="0">
                          <a:latin typeface="Times New Roman" panose="02020603050405020304" pitchFamily="18" charset="0"/>
                          <a:cs typeface="Times New Roman" panose="02020603050405020304" pitchFamily="18" charset="0"/>
                        </a:rPr>
                        <a:t> for robustness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5384333"/>
                  </a:ext>
                </a:extLst>
              </a:tr>
            </a:tbl>
          </a:graphicData>
        </a:graphic>
      </p:graphicFrame>
    </p:spTree>
    <p:extLst>
      <p:ext uri="{BB962C8B-B14F-4D97-AF65-F5344CB8AC3E}">
        <p14:creationId xmlns:p14="http://schemas.microsoft.com/office/powerpoint/2010/main" val="171520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EC0B-C850-108F-5EA3-9085D9FA7F8A}"/>
              </a:ext>
            </a:extLst>
          </p:cNvPr>
          <p:cNvSpPr>
            <a:spLocks noGrp="1"/>
          </p:cNvSpPr>
          <p:nvPr>
            <p:ph type="title"/>
          </p:nvPr>
        </p:nvSpPr>
        <p:spPr/>
        <p:txBody>
          <a:bodyPr/>
          <a:lstStyle/>
          <a:p>
            <a:r>
              <a:rPr lang="en-IN" dirty="0"/>
              <a:t>Literature Survey</a:t>
            </a:r>
          </a:p>
        </p:txBody>
      </p:sp>
      <p:sp>
        <p:nvSpPr>
          <p:cNvPr id="5" name="TextBox 4">
            <a:extLst>
              <a:ext uri="{FF2B5EF4-FFF2-40B4-BE49-F238E27FC236}">
                <a16:creationId xmlns:a16="http://schemas.microsoft.com/office/drawing/2014/main" id="{7E5B4E43-5649-B6A3-34E1-91AF9A76D1FB}"/>
              </a:ext>
            </a:extLst>
          </p:cNvPr>
          <p:cNvSpPr txBox="1"/>
          <p:nvPr/>
        </p:nvSpPr>
        <p:spPr>
          <a:xfrm>
            <a:off x="812799" y="1023847"/>
            <a:ext cx="10504130"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Video-Based Analysis of Cattle Behaviors: Improved Classification Using </a:t>
            </a:r>
            <a:r>
              <a:rPr lang="en-US" sz="2000" b="1" i="0" dirty="0" err="1">
                <a:solidFill>
                  <a:srgbClr val="333333"/>
                </a:solidFill>
                <a:effectLst/>
                <a:latin typeface="Times New Roman" panose="02020603050405020304" pitchFamily="18" charset="0"/>
                <a:cs typeface="Times New Roman" panose="02020603050405020304" pitchFamily="18" charset="0"/>
              </a:rPr>
              <a:t>FlowEQ</a:t>
            </a:r>
            <a:r>
              <a:rPr lang="en-US" sz="2000" b="1" i="0" dirty="0">
                <a:solidFill>
                  <a:srgbClr val="333333"/>
                </a:solidFill>
                <a:effectLst/>
                <a:latin typeface="Times New Roman" panose="02020603050405020304" pitchFamily="18" charset="0"/>
                <a:cs typeface="Times New Roman" panose="02020603050405020304" pitchFamily="18" charset="0"/>
              </a:rPr>
              <a:t> Transform</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https://ieeexplore.ieee.org/document/10475331</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1C6E7695-C87C-B25D-96DB-25BC3AD8BC6A}"/>
              </a:ext>
            </a:extLst>
          </p:cNvPr>
          <p:cNvGraphicFramePr>
            <a:graphicFrameLocks noGrp="1"/>
          </p:cNvGraphicFramePr>
          <p:nvPr>
            <p:extLst>
              <p:ext uri="{D42A27DB-BD31-4B8C-83A1-F6EECF244321}">
                <p14:modId xmlns:p14="http://schemas.microsoft.com/office/powerpoint/2010/main" val="2781807435"/>
              </p:ext>
            </p:extLst>
          </p:nvPr>
        </p:nvGraphicFramePr>
        <p:xfrm>
          <a:off x="217948" y="2519516"/>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2521947434"/>
                    </a:ext>
                  </a:extLst>
                </a:gridCol>
                <a:gridCol w="2271251">
                  <a:extLst>
                    <a:ext uri="{9D8B030D-6E8A-4147-A177-3AD203B41FA5}">
                      <a16:colId xmlns:a16="http://schemas.microsoft.com/office/drawing/2014/main" val="3175287899"/>
                    </a:ext>
                  </a:extLst>
                </a:gridCol>
                <a:gridCol w="1887794">
                  <a:extLst>
                    <a:ext uri="{9D8B030D-6E8A-4147-A177-3AD203B41FA5}">
                      <a16:colId xmlns:a16="http://schemas.microsoft.com/office/drawing/2014/main" val="3000455099"/>
                    </a:ext>
                  </a:extLst>
                </a:gridCol>
                <a:gridCol w="2566219">
                  <a:extLst>
                    <a:ext uri="{9D8B030D-6E8A-4147-A177-3AD203B41FA5}">
                      <a16:colId xmlns:a16="http://schemas.microsoft.com/office/drawing/2014/main" val="3374516598"/>
                    </a:ext>
                  </a:extLst>
                </a:gridCol>
                <a:gridCol w="2379407">
                  <a:extLst>
                    <a:ext uri="{9D8B030D-6E8A-4147-A177-3AD203B41FA5}">
                      <a16:colId xmlns:a16="http://schemas.microsoft.com/office/drawing/2014/main" val="2943266578"/>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7663258"/>
                  </a:ext>
                </a:extLst>
              </a:tr>
              <a:tr h="2309105">
                <a:tc>
                  <a:txBody>
                    <a:bodyPr/>
                    <a:lstStyle/>
                    <a:p>
                      <a:pPr lvl="3" algn="l"/>
                      <a:r>
                        <a:rPr lang="en-US" sz="1600" dirty="0">
                          <a:latin typeface="Times New Roman" panose="02020603050405020304" pitchFamily="18" charset="0"/>
                          <a:cs typeface="Times New Roman" panose="02020603050405020304" pitchFamily="18" charset="0"/>
                        </a:rPr>
                        <a:t>Most earlier cattle behavior monitoring systems depended on </a:t>
                      </a:r>
                      <a:r>
                        <a:rPr lang="en-US" sz="1600" b="1" dirty="0">
                          <a:latin typeface="Times New Roman" panose="02020603050405020304" pitchFamily="18" charset="0"/>
                          <a:cs typeface="Times New Roman" panose="02020603050405020304" pitchFamily="18" charset="0"/>
                        </a:rPr>
                        <a:t>manual observation or wearable sensors</a:t>
                      </a:r>
                      <a:r>
                        <a:rPr lang="en-US" sz="1600" dirty="0">
                          <a:latin typeface="Times New Roman" panose="02020603050405020304" pitchFamily="18" charset="0"/>
                          <a:cs typeface="Times New Roman" panose="02020603050405020304" pitchFamily="18" charset="0"/>
                        </a:rPr>
                        <a:t>, which are time-consuming and costly. Some video-based approaches existed, but they struggled with </a:t>
                      </a:r>
                      <a:r>
                        <a:rPr lang="en-US" sz="1600" b="1" dirty="0">
                          <a:latin typeface="Times New Roman" panose="02020603050405020304" pitchFamily="18" charset="0"/>
                          <a:cs typeface="Times New Roman" panose="02020603050405020304" pitchFamily="18" charset="0"/>
                        </a:rPr>
                        <a:t>noise, lighting variation, and background movement</a:t>
                      </a: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Video acquisition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Frame Extraction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Motion feature extraction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Flow EQ transform</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Feature Representation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Behaviour 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err="1">
                          <a:latin typeface="Times New Roman" panose="02020603050405020304" pitchFamily="18" charset="0"/>
                          <a:cs typeface="Times New Roman" panose="02020603050405020304" pitchFamily="18" charset="0"/>
                        </a:rPr>
                        <a:t>FlowEQ</a:t>
                      </a:r>
                      <a:r>
                        <a:rPr lang="en-IN" sz="1600" b="1" dirty="0">
                          <a:latin typeface="Times New Roman" panose="02020603050405020304" pitchFamily="18" charset="0"/>
                          <a:cs typeface="Times New Roman" panose="02020603050405020304" pitchFamily="18" charset="0"/>
                        </a:rPr>
                        <a:t> Transform</a:t>
                      </a:r>
                      <a:r>
                        <a:rPr lang="en-IN" sz="1600" dirty="0">
                          <a:latin typeface="Times New Roman" panose="02020603050405020304" pitchFamily="18" charset="0"/>
                          <a:cs typeface="Times New Roman" panose="02020603050405020304" pitchFamily="18" charset="0"/>
                        </a:rPr>
                        <a:t> – enhances motion information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Feature extraction from motion patterns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Focuses only on </a:t>
                      </a:r>
                      <a:r>
                        <a:rPr lang="en-US" sz="1600" b="1" dirty="0">
                          <a:latin typeface="Times New Roman" panose="02020603050405020304" pitchFamily="18" charset="0"/>
                          <a:cs typeface="Times New Roman" panose="02020603050405020304" pitchFamily="18" charset="0"/>
                        </a:rPr>
                        <a:t>behavior analysis</a:t>
                      </a:r>
                      <a:r>
                        <a:rPr lang="en-US" sz="1600" dirty="0">
                          <a:latin typeface="Times New Roman" panose="02020603050405020304" pitchFamily="18" charset="0"/>
                          <a:cs typeface="Times New Roman" panose="02020603050405020304" pitchFamily="18" charset="0"/>
                        </a:rPr>
                        <a:t>, not breed recognition</a:t>
                      </a:r>
                    </a:p>
                    <a:p>
                      <a:r>
                        <a:rPr lang="en-US" sz="1600" dirty="0">
                          <a:latin typeface="Times New Roman" panose="02020603050405020304" pitchFamily="18" charset="0"/>
                          <a:cs typeface="Times New Roman" panose="02020603050405020304" pitchFamily="18" charset="0"/>
                        </a:rPr>
                        <a:t>Cannot identify </a:t>
                      </a:r>
                      <a:r>
                        <a:rPr lang="en-US" sz="1600" b="1" dirty="0">
                          <a:latin typeface="Times New Roman" panose="02020603050405020304" pitchFamily="18" charset="0"/>
                          <a:cs typeface="Times New Roman" panose="02020603050405020304" pitchFamily="18" charset="0"/>
                        </a:rPr>
                        <a:t>individual cattle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Does not include object detection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Provide breed recognition for cows and buffalo.</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Add </a:t>
                      </a:r>
                      <a:r>
                        <a:rPr lang="en-US" sz="1600" b="1" dirty="0">
                          <a:latin typeface="Times New Roman" panose="02020603050405020304" pitchFamily="18" charset="0"/>
                          <a:cs typeface="Times New Roman" panose="02020603050405020304" pitchFamily="18" charset="0"/>
                        </a:rPr>
                        <a:t>object detection and segmentation.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Extend system to support </a:t>
                      </a:r>
                      <a:r>
                        <a:rPr lang="en-US" sz="1600" b="1" dirty="0">
                          <a:latin typeface="Times New Roman" panose="02020603050405020304" pitchFamily="18" charset="0"/>
                          <a:cs typeface="Times New Roman" panose="02020603050405020304" pitchFamily="18" charset="0"/>
                        </a:rPr>
                        <a:t>breed classification</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4709359"/>
                  </a:ext>
                </a:extLst>
              </a:tr>
            </a:tbl>
          </a:graphicData>
        </a:graphic>
      </p:graphicFrame>
    </p:spTree>
    <p:extLst>
      <p:ext uri="{BB962C8B-B14F-4D97-AF65-F5344CB8AC3E}">
        <p14:creationId xmlns:p14="http://schemas.microsoft.com/office/powerpoint/2010/main" val="3734375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26A9D-A84B-2AC8-BCFA-26912F584A61}"/>
              </a:ext>
            </a:extLst>
          </p:cNvPr>
          <p:cNvSpPr>
            <a:spLocks noGrp="1"/>
          </p:cNvSpPr>
          <p:nvPr>
            <p:ph type="title"/>
          </p:nvPr>
        </p:nvSpPr>
        <p:spPr/>
        <p:txBody>
          <a:bodyPr/>
          <a:lstStyle/>
          <a:p>
            <a:r>
              <a:rPr lang="en-IN" dirty="0"/>
              <a:t>Literature Survey</a:t>
            </a:r>
          </a:p>
        </p:txBody>
      </p:sp>
      <p:sp>
        <p:nvSpPr>
          <p:cNvPr id="5" name="TextBox 4">
            <a:extLst>
              <a:ext uri="{FF2B5EF4-FFF2-40B4-BE49-F238E27FC236}">
                <a16:creationId xmlns:a16="http://schemas.microsoft.com/office/drawing/2014/main" id="{5007E5C6-5435-5197-6B55-B7E6170A0A05}"/>
              </a:ext>
            </a:extLst>
          </p:cNvPr>
          <p:cNvSpPr txBox="1"/>
          <p:nvPr/>
        </p:nvSpPr>
        <p:spPr>
          <a:xfrm>
            <a:off x="812799" y="1151666"/>
            <a:ext cx="9442246"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Automatic Cattle Identification based on Multi-Channel LBP on Muzzle Images</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https://ieeexplore.ieee.org/document/8693161</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F29BBD82-01A7-0377-DEFC-8EC188FBEA5A}"/>
              </a:ext>
            </a:extLst>
          </p:cNvPr>
          <p:cNvGraphicFramePr>
            <a:graphicFrameLocks noGrp="1"/>
          </p:cNvGraphicFramePr>
          <p:nvPr>
            <p:extLst>
              <p:ext uri="{D42A27DB-BD31-4B8C-83A1-F6EECF244321}">
                <p14:modId xmlns:p14="http://schemas.microsoft.com/office/powerpoint/2010/main" val="1158121451"/>
              </p:ext>
            </p:extLst>
          </p:nvPr>
        </p:nvGraphicFramePr>
        <p:xfrm>
          <a:off x="167148" y="2401529"/>
          <a:ext cx="11857704" cy="347472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3363763026"/>
                    </a:ext>
                  </a:extLst>
                </a:gridCol>
                <a:gridCol w="2271251">
                  <a:extLst>
                    <a:ext uri="{9D8B030D-6E8A-4147-A177-3AD203B41FA5}">
                      <a16:colId xmlns:a16="http://schemas.microsoft.com/office/drawing/2014/main" val="316725115"/>
                    </a:ext>
                  </a:extLst>
                </a:gridCol>
                <a:gridCol w="1887794">
                  <a:extLst>
                    <a:ext uri="{9D8B030D-6E8A-4147-A177-3AD203B41FA5}">
                      <a16:colId xmlns:a16="http://schemas.microsoft.com/office/drawing/2014/main" val="565844593"/>
                    </a:ext>
                  </a:extLst>
                </a:gridCol>
                <a:gridCol w="2566219">
                  <a:extLst>
                    <a:ext uri="{9D8B030D-6E8A-4147-A177-3AD203B41FA5}">
                      <a16:colId xmlns:a16="http://schemas.microsoft.com/office/drawing/2014/main" val="3142499170"/>
                    </a:ext>
                  </a:extLst>
                </a:gridCol>
                <a:gridCol w="2379407">
                  <a:extLst>
                    <a:ext uri="{9D8B030D-6E8A-4147-A177-3AD203B41FA5}">
                      <a16:colId xmlns:a16="http://schemas.microsoft.com/office/drawing/2014/main" val="7427749"/>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1425627"/>
                  </a:ext>
                </a:extLst>
              </a:tr>
              <a:tr h="2309105">
                <a:tc>
                  <a:txBody>
                    <a:bodyPr/>
                    <a:lstStyle/>
                    <a:p>
                      <a:pPr marL="0" marR="0" lvl="3"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600" dirty="0">
                          <a:latin typeface="Times New Roman" panose="02020603050405020304" pitchFamily="18" charset="0"/>
                          <a:cs typeface="Times New Roman" panose="02020603050405020304" pitchFamily="18" charset="0"/>
                        </a:rPr>
                        <a:t>T</a:t>
                      </a:r>
                      <a:r>
                        <a:rPr lang="en-US" sz="1600" dirty="0" err="1">
                          <a:latin typeface="Times New Roman" panose="02020603050405020304" pitchFamily="18" charset="0"/>
                          <a:cs typeface="Times New Roman" panose="02020603050405020304" pitchFamily="18" charset="0"/>
                        </a:rPr>
                        <a:t>raditionally</a:t>
                      </a:r>
                      <a:r>
                        <a:rPr lang="en-US" sz="1600" dirty="0">
                          <a:latin typeface="Times New Roman" panose="02020603050405020304" pitchFamily="18" charset="0"/>
                          <a:cs typeface="Times New Roman" panose="02020603050405020304" pitchFamily="18" charset="0"/>
                        </a:rPr>
                        <a:t>, cattle breed identification was done manually based on physical appearance. Later, machine learning models were introduced but required </a:t>
                      </a:r>
                      <a:r>
                        <a:rPr lang="en-US" sz="1600" b="1" dirty="0">
                          <a:latin typeface="Times New Roman" panose="02020603050405020304" pitchFamily="18" charset="0"/>
                          <a:cs typeface="Times New Roman" panose="02020603050405020304" pitchFamily="18" charset="0"/>
                        </a:rPr>
                        <a:t>manual feature extraction</a:t>
                      </a:r>
                      <a:r>
                        <a:rPr lang="en-US" sz="1600" dirty="0">
                          <a:latin typeface="Times New Roman" panose="02020603050405020304" pitchFamily="18" charset="0"/>
                          <a:cs typeface="Times New Roman" panose="02020603050405020304" pitchFamily="18" charset="0"/>
                        </a:rPr>
                        <a:t>. Recent works use </a:t>
                      </a:r>
                      <a:r>
                        <a:rPr lang="en-US" sz="1600" b="1" dirty="0">
                          <a:latin typeface="Times New Roman" panose="02020603050405020304" pitchFamily="18" charset="0"/>
                          <a:cs typeface="Times New Roman" panose="02020603050405020304" pitchFamily="18" charset="0"/>
                        </a:rPr>
                        <a:t>deep learning</a:t>
                      </a:r>
                      <a:r>
                        <a:rPr lang="en-US" sz="1600" dirty="0">
                          <a:latin typeface="Times New Roman" panose="02020603050405020304" pitchFamily="18" charset="0"/>
                          <a:cs typeface="Times New Roman" panose="02020603050405020304" pitchFamily="18" charset="0"/>
                        </a:rPr>
                        <a:t>, but most focus on limited datasets and clean images.</a:t>
                      </a:r>
                      <a:endParaRPr lang="en-IN" sz="1600" dirty="0">
                        <a:latin typeface="Times New Roman" panose="02020603050405020304" pitchFamily="18" charset="0"/>
                        <a:cs typeface="Times New Roman" panose="02020603050405020304" pitchFamily="18" charset="0"/>
                      </a:endParaRP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 Image acquisition.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Image processing.</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Multi channel Texture and Feature Extraction.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Feature vector formation.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Classification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Multi channel LBP</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Texture Based Feature Extraction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Classification(SVM,NN)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Limited number of buffalo types supported</a:t>
                      </a:r>
                    </a:p>
                    <a:p>
                      <a:endParaRPr lang="en-US" sz="1600" dirty="0"/>
                    </a:p>
                    <a:p>
                      <a:r>
                        <a:rPr lang="en-US" sz="1600" dirty="0"/>
                        <a:t>Accuracy depends on dataset quality</a:t>
                      </a:r>
                    </a:p>
                    <a:p>
                      <a:endParaRPr lang="en-US" sz="1600" dirty="0"/>
                    </a:p>
                    <a:p>
                      <a:r>
                        <a:rPr lang="en-IN" sz="1600" b="0" dirty="0">
                          <a:latin typeface="+mj-lt"/>
                          <a:cs typeface="Times New Roman" panose="02020603050405020304" pitchFamily="18" charset="0"/>
                        </a:rPr>
                        <a:t>Requires close up images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I</a:t>
                      </a:r>
                      <a:r>
                        <a:rPr lang="en-US" sz="1600" dirty="0" err="1"/>
                        <a:t>ncrease</a:t>
                      </a:r>
                      <a:r>
                        <a:rPr lang="en-US" sz="1600" dirty="0"/>
                        <a:t> dataset size and diversity.</a:t>
                      </a:r>
                    </a:p>
                    <a:p>
                      <a:endParaRPr lang="en-US" sz="1600" dirty="0"/>
                    </a:p>
                    <a:p>
                      <a:r>
                        <a:rPr lang="en-US" sz="1600" dirty="0"/>
                        <a:t>Extend system to </a:t>
                      </a:r>
                      <a:r>
                        <a:rPr lang="en-US" sz="1600" b="1" dirty="0"/>
                        <a:t>cattle and buffalo breed recognition.</a:t>
                      </a:r>
                    </a:p>
                    <a:p>
                      <a:endParaRPr lang="en-US" sz="1600" dirty="0"/>
                    </a:p>
                    <a:p>
                      <a:r>
                        <a:rPr lang="en-US" sz="1600" dirty="0"/>
                        <a:t>Improve robustness in real farm environments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8645603"/>
                  </a:ext>
                </a:extLst>
              </a:tr>
            </a:tbl>
          </a:graphicData>
        </a:graphic>
      </p:graphicFrame>
    </p:spTree>
    <p:extLst>
      <p:ext uri="{BB962C8B-B14F-4D97-AF65-F5344CB8AC3E}">
        <p14:creationId xmlns:p14="http://schemas.microsoft.com/office/powerpoint/2010/main" val="2323844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C8DAC-2552-18CA-2829-58794077F1E9}"/>
              </a:ext>
            </a:extLst>
          </p:cNvPr>
          <p:cNvSpPr>
            <a:spLocks noGrp="1"/>
          </p:cNvSpPr>
          <p:nvPr>
            <p:ph type="title"/>
          </p:nvPr>
        </p:nvSpPr>
        <p:spPr/>
        <p:txBody>
          <a:bodyPr/>
          <a:lstStyle/>
          <a:p>
            <a:r>
              <a:rPr lang="en-IN" dirty="0"/>
              <a:t>Literature Survey</a:t>
            </a:r>
          </a:p>
        </p:txBody>
      </p:sp>
      <p:sp>
        <p:nvSpPr>
          <p:cNvPr id="5" name="TextBox 4">
            <a:extLst>
              <a:ext uri="{FF2B5EF4-FFF2-40B4-BE49-F238E27FC236}">
                <a16:creationId xmlns:a16="http://schemas.microsoft.com/office/drawing/2014/main" id="{E3C1CC0B-7537-D24E-BF1C-BBF0160D66C4}"/>
              </a:ext>
            </a:extLst>
          </p:cNvPr>
          <p:cNvSpPr txBox="1"/>
          <p:nvPr/>
        </p:nvSpPr>
        <p:spPr>
          <a:xfrm>
            <a:off x="812799" y="1122170"/>
            <a:ext cx="10668000"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Identification of Different Types of Buffalo Using YOLO Algorithm Based on Computer Vision</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https://ieeexplore.ieee.org/document/10428773</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740D9DA-C721-BE50-740A-1F8B70B64BF7}"/>
              </a:ext>
            </a:extLst>
          </p:cNvPr>
          <p:cNvGraphicFramePr>
            <a:graphicFrameLocks noGrp="1"/>
          </p:cNvGraphicFramePr>
          <p:nvPr>
            <p:extLst>
              <p:ext uri="{D42A27DB-BD31-4B8C-83A1-F6EECF244321}">
                <p14:modId xmlns:p14="http://schemas.microsoft.com/office/powerpoint/2010/main" val="1840248768"/>
              </p:ext>
            </p:extLst>
          </p:nvPr>
        </p:nvGraphicFramePr>
        <p:xfrm>
          <a:off x="167148" y="2401529"/>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3363763026"/>
                    </a:ext>
                  </a:extLst>
                </a:gridCol>
                <a:gridCol w="2271251">
                  <a:extLst>
                    <a:ext uri="{9D8B030D-6E8A-4147-A177-3AD203B41FA5}">
                      <a16:colId xmlns:a16="http://schemas.microsoft.com/office/drawing/2014/main" val="316725115"/>
                    </a:ext>
                  </a:extLst>
                </a:gridCol>
                <a:gridCol w="1887794">
                  <a:extLst>
                    <a:ext uri="{9D8B030D-6E8A-4147-A177-3AD203B41FA5}">
                      <a16:colId xmlns:a16="http://schemas.microsoft.com/office/drawing/2014/main" val="565844593"/>
                    </a:ext>
                  </a:extLst>
                </a:gridCol>
                <a:gridCol w="2566219">
                  <a:extLst>
                    <a:ext uri="{9D8B030D-6E8A-4147-A177-3AD203B41FA5}">
                      <a16:colId xmlns:a16="http://schemas.microsoft.com/office/drawing/2014/main" val="3142499170"/>
                    </a:ext>
                  </a:extLst>
                </a:gridCol>
                <a:gridCol w="2379407">
                  <a:extLst>
                    <a:ext uri="{9D8B030D-6E8A-4147-A177-3AD203B41FA5}">
                      <a16:colId xmlns:a16="http://schemas.microsoft.com/office/drawing/2014/main" val="7427749"/>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1425627"/>
                  </a:ext>
                </a:extLst>
              </a:tr>
              <a:tr h="2309105">
                <a:tc>
                  <a:txBody>
                    <a:bodyPr/>
                    <a:lstStyle/>
                    <a:p>
                      <a:pPr lvl="3" algn="l"/>
                      <a:r>
                        <a:rPr lang="en-US" sz="1600" dirty="0"/>
                        <a:t>Traditionally, buffalo type identification was done </a:t>
                      </a:r>
                      <a:r>
                        <a:rPr lang="en-US" sz="1600" b="1" dirty="0"/>
                        <a:t>manually by experts</a:t>
                      </a:r>
                      <a:r>
                        <a:rPr lang="en-US" sz="1600" dirty="0"/>
                        <a:t>, which is slow and depends on experience. Some earlier computer vision works used </a:t>
                      </a:r>
                      <a:r>
                        <a:rPr lang="en-US" sz="1600" b="1" dirty="0"/>
                        <a:t>simple image processing and classical machine learning.</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A</a:t>
                      </a:r>
                      <a:r>
                        <a:rPr lang="en-US" sz="1600" dirty="0" err="1"/>
                        <a:t>nnotate</a:t>
                      </a:r>
                      <a:r>
                        <a:rPr lang="en-US" sz="1600" dirty="0"/>
                        <a:t> images with buffalo types</a:t>
                      </a:r>
                    </a:p>
                    <a:p>
                      <a:r>
                        <a:rPr lang="en-US" sz="1600" dirty="0"/>
                        <a:t>Apply image preprocessing</a:t>
                      </a:r>
                    </a:p>
                    <a:p>
                      <a:r>
                        <a:rPr lang="en-US" sz="1600" dirty="0"/>
                        <a:t>Use </a:t>
                      </a:r>
                      <a:r>
                        <a:rPr lang="en-US" sz="1600" b="1" dirty="0"/>
                        <a:t>YOLO object detection algorithm</a:t>
                      </a:r>
                      <a:r>
                        <a:rPr lang="en-US" sz="1600" dirty="0"/>
                        <a:t> to detect buffalo</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t>YOLO (You Only Look Once)</a:t>
                      </a:r>
                      <a:r>
                        <a:rPr lang="en-US" sz="1600" dirty="0"/>
                        <a:t> algorithm</a:t>
                      </a:r>
                    </a:p>
                    <a:p>
                      <a:r>
                        <a:rPr lang="en-US" sz="1600" dirty="0"/>
                        <a:t>Single-stage object detection model</a:t>
                      </a:r>
                    </a:p>
                    <a:p>
                      <a:r>
                        <a:rPr lang="en-US" sz="1600" dirty="0"/>
                        <a:t>Deep learning–based real-time detection framework</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Limited number of buffalo types supported</a:t>
                      </a:r>
                    </a:p>
                    <a:p>
                      <a:r>
                        <a:rPr lang="en-US" sz="1600" dirty="0"/>
                        <a:t>Accuracy depends on dataset quality</a:t>
                      </a:r>
                    </a:p>
                    <a:p>
                      <a:r>
                        <a:rPr lang="en-US" sz="1600" dirty="0"/>
                        <a:t>No segmentation for precise shape extraction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I</a:t>
                      </a:r>
                      <a:r>
                        <a:rPr lang="en-US" sz="1600" dirty="0" err="1"/>
                        <a:t>ncrease</a:t>
                      </a:r>
                      <a:r>
                        <a:rPr lang="en-US" sz="1600" dirty="0"/>
                        <a:t> dataset size and diversity</a:t>
                      </a:r>
                    </a:p>
                    <a:p>
                      <a:r>
                        <a:rPr lang="en-US" sz="1600" dirty="0"/>
                        <a:t>Add </a:t>
                      </a:r>
                      <a:r>
                        <a:rPr lang="en-US" sz="1600" b="1" dirty="0"/>
                        <a:t>segmentation after detection</a:t>
                      </a:r>
                      <a:endParaRPr lang="en-US" sz="1600" dirty="0"/>
                    </a:p>
                    <a:p>
                      <a:r>
                        <a:rPr lang="en-US" sz="1600" dirty="0"/>
                        <a:t>Extend system to </a:t>
                      </a:r>
                      <a:r>
                        <a:rPr lang="en-US" sz="1600" b="1" dirty="0"/>
                        <a:t>cattle and buffalo breed recognition</a:t>
                      </a:r>
                      <a:endParaRPr lang="en-US" sz="1600" dirty="0"/>
                    </a:p>
                    <a:p>
                      <a:r>
                        <a:rPr lang="en-US" sz="1600" dirty="0"/>
                        <a:t>Improve robustness in real farm environments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8645603"/>
                  </a:ext>
                </a:extLst>
              </a:tr>
            </a:tbl>
          </a:graphicData>
        </a:graphic>
      </p:graphicFrame>
    </p:spTree>
    <p:extLst>
      <p:ext uri="{BB962C8B-B14F-4D97-AF65-F5344CB8AC3E}">
        <p14:creationId xmlns:p14="http://schemas.microsoft.com/office/powerpoint/2010/main" val="1492268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218DF-DC49-C55A-70CD-BBB7C22C59A5}"/>
              </a:ext>
            </a:extLst>
          </p:cNvPr>
          <p:cNvSpPr>
            <a:spLocks noGrp="1"/>
          </p:cNvSpPr>
          <p:nvPr>
            <p:ph type="title"/>
          </p:nvPr>
        </p:nvSpPr>
        <p:spPr/>
        <p:txBody>
          <a:bodyPr/>
          <a:lstStyle/>
          <a:p>
            <a:r>
              <a:rPr lang="en-IN" dirty="0"/>
              <a:t>Literature Survey</a:t>
            </a:r>
          </a:p>
        </p:txBody>
      </p:sp>
      <p:sp>
        <p:nvSpPr>
          <p:cNvPr id="5" name="TextBox 4">
            <a:extLst>
              <a:ext uri="{FF2B5EF4-FFF2-40B4-BE49-F238E27FC236}">
                <a16:creationId xmlns:a16="http://schemas.microsoft.com/office/drawing/2014/main" id="{9D6A25ED-EF14-9400-DF47-82A8BCF141D1}"/>
              </a:ext>
            </a:extLst>
          </p:cNvPr>
          <p:cNvSpPr txBox="1"/>
          <p:nvPr/>
        </p:nvSpPr>
        <p:spPr>
          <a:xfrm>
            <a:off x="812800" y="1004183"/>
            <a:ext cx="8468852"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A hybrid deep learning based robust framework for cattle identification</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https://ieeexplore.ieee.org/document/10088414</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FF8BE0A-2F89-B566-86E3-55596AB692BB}"/>
              </a:ext>
            </a:extLst>
          </p:cNvPr>
          <p:cNvGraphicFramePr>
            <a:graphicFrameLocks noGrp="1"/>
          </p:cNvGraphicFramePr>
          <p:nvPr>
            <p:extLst>
              <p:ext uri="{D42A27DB-BD31-4B8C-83A1-F6EECF244321}">
                <p14:modId xmlns:p14="http://schemas.microsoft.com/office/powerpoint/2010/main" val="4213022647"/>
              </p:ext>
            </p:extLst>
          </p:nvPr>
        </p:nvGraphicFramePr>
        <p:xfrm>
          <a:off x="167148" y="2539181"/>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1564784200"/>
                    </a:ext>
                  </a:extLst>
                </a:gridCol>
                <a:gridCol w="2084438">
                  <a:extLst>
                    <a:ext uri="{9D8B030D-6E8A-4147-A177-3AD203B41FA5}">
                      <a16:colId xmlns:a16="http://schemas.microsoft.com/office/drawing/2014/main" val="4251222783"/>
                    </a:ext>
                  </a:extLst>
                </a:gridCol>
                <a:gridCol w="2074607">
                  <a:extLst>
                    <a:ext uri="{9D8B030D-6E8A-4147-A177-3AD203B41FA5}">
                      <a16:colId xmlns:a16="http://schemas.microsoft.com/office/drawing/2014/main" val="351441658"/>
                    </a:ext>
                  </a:extLst>
                </a:gridCol>
                <a:gridCol w="2566219">
                  <a:extLst>
                    <a:ext uri="{9D8B030D-6E8A-4147-A177-3AD203B41FA5}">
                      <a16:colId xmlns:a16="http://schemas.microsoft.com/office/drawing/2014/main" val="3983988384"/>
                    </a:ext>
                  </a:extLst>
                </a:gridCol>
                <a:gridCol w="2379407">
                  <a:extLst>
                    <a:ext uri="{9D8B030D-6E8A-4147-A177-3AD203B41FA5}">
                      <a16:colId xmlns:a16="http://schemas.microsoft.com/office/drawing/2014/main" val="2724166129"/>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7967000"/>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cattle identification methods mainly relied on </a:t>
                      </a:r>
                      <a:r>
                        <a:rPr lang="en-US" sz="1600" b="1" dirty="0">
                          <a:latin typeface="Times New Roman" panose="02020603050405020304" pitchFamily="18" charset="0"/>
                          <a:cs typeface="Times New Roman" panose="02020603050405020304" pitchFamily="18" charset="0"/>
                        </a:rPr>
                        <a:t>ear tags, RFID, tattooing, and branding</a:t>
                      </a:r>
                      <a:r>
                        <a:rPr lang="en-US" sz="1600" dirty="0">
                          <a:latin typeface="Times New Roman" panose="02020603050405020304" pitchFamily="18" charset="0"/>
                          <a:cs typeface="Times New Roman" panose="02020603050405020304" pitchFamily="18" charset="0"/>
                        </a:rPr>
                        <a:t>. These methods often fail due to </a:t>
                      </a:r>
                      <a:r>
                        <a:rPr lang="en-US" sz="1600" b="1" dirty="0">
                          <a:latin typeface="Times New Roman" panose="02020603050405020304" pitchFamily="18" charset="0"/>
                          <a:cs typeface="Times New Roman" panose="02020603050405020304" pitchFamily="18" charset="0"/>
                        </a:rPr>
                        <a:t>tag loss, fraud, animal discomfort, and poor scalability</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Data Collection &amp; Augmentation</a:t>
                      </a:r>
                    </a:p>
                    <a:p>
                      <a:r>
                        <a:rPr lang="en-IN" sz="1600" dirty="0">
                          <a:latin typeface="Times New Roman" panose="02020603050405020304" pitchFamily="18" charset="0"/>
                          <a:cs typeface="Times New Roman" panose="02020603050405020304" pitchFamily="18" charset="0"/>
                        </a:rPr>
                        <a:t>Image Denoising</a:t>
                      </a:r>
                    </a:p>
                    <a:p>
                      <a:r>
                        <a:rPr lang="en-IN" sz="1600" dirty="0">
                          <a:latin typeface="Times New Roman" panose="02020603050405020304" pitchFamily="18" charset="0"/>
                          <a:cs typeface="Times New Roman" panose="02020603050405020304" pitchFamily="18" charset="0"/>
                        </a:rPr>
                        <a:t>Image Enhancement</a:t>
                      </a:r>
                    </a:p>
                    <a:p>
                      <a:r>
                        <a:rPr lang="en-IN" sz="1600" dirty="0">
                          <a:latin typeface="Times New Roman" panose="02020603050405020304" pitchFamily="18" charset="0"/>
                          <a:cs typeface="Times New Roman" panose="02020603050405020304" pitchFamily="18" charset="0"/>
                        </a:rPr>
                        <a:t>Feature Extraction</a:t>
                      </a:r>
                    </a:p>
                    <a:p>
                      <a:r>
                        <a:rPr lang="en-IN" sz="1600" dirty="0">
                          <a:latin typeface="Times New Roman" panose="02020603050405020304" pitchFamily="18" charset="0"/>
                          <a:cs typeface="Times New Roman" panose="02020603050405020304" pitchFamily="18" charset="0"/>
                        </a:rPr>
                        <a:t>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CDAE </a:t>
                      </a:r>
                      <a:r>
                        <a:rPr lang="en-US" sz="1600" b="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Convolutional Denoising Autoencoder)</a:t>
                      </a:r>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LS-GAN </a:t>
                      </a:r>
                      <a:r>
                        <a:rPr lang="en-US" sz="1600" b="0" dirty="0">
                          <a:latin typeface="Times New Roman" panose="02020603050405020304" pitchFamily="18" charset="0"/>
                          <a:cs typeface="Times New Roman" panose="02020603050405020304" pitchFamily="18" charset="0"/>
                        </a:rPr>
                        <a:t>(Least Squares GAN)</a:t>
                      </a:r>
                    </a:p>
                    <a:p>
                      <a:r>
                        <a:rPr lang="en-US" sz="1600" b="1" dirty="0" err="1">
                          <a:latin typeface="Times New Roman" panose="02020603050405020304" pitchFamily="18" charset="0"/>
                          <a:cs typeface="Times New Roman" panose="02020603050405020304" pitchFamily="18" charset="0"/>
                        </a:rPr>
                        <a:t>Xception</a:t>
                      </a:r>
                      <a:r>
                        <a:rPr lang="en-US" sz="1600" b="1" dirty="0">
                          <a:latin typeface="Times New Roman" panose="02020603050405020304" pitchFamily="18" charset="0"/>
                          <a:cs typeface="Times New Roman" panose="02020603050405020304" pitchFamily="18" charset="0"/>
                        </a:rPr>
                        <a:t> Network </a:t>
                      </a:r>
                      <a:r>
                        <a:rPr lang="en-US" sz="1600" b="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Extreme Inception Network)</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CNN (1D)</a:t>
                      </a:r>
                      <a:r>
                        <a:rPr lang="en-US" sz="1600" dirty="0">
                          <a:latin typeface="Times New Roman" panose="02020603050405020304" pitchFamily="18" charset="0"/>
                          <a:cs typeface="Times New Roman" panose="02020603050405020304" pitchFamily="18" charset="0"/>
                        </a:rPr>
                        <a:t> </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only on </a:t>
                      </a:r>
                      <a:r>
                        <a:rPr lang="en-US" sz="1600" b="1" dirty="0">
                          <a:latin typeface="Times New Roman" panose="02020603050405020304" pitchFamily="18" charset="0"/>
                          <a:cs typeface="Times New Roman" panose="02020603050405020304" pitchFamily="18" charset="0"/>
                        </a:rPr>
                        <a:t>face and muzzle images</a:t>
                      </a:r>
                      <a:r>
                        <a:rPr lang="en-US" sz="1600" dirty="0">
                          <a:latin typeface="Times New Roman" panose="02020603050405020304" pitchFamily="18" charset="0"/>
                          <a:cs typeface="Times New Roman" panose="02020603050405020304" pitchFamily="18" charset="0"/>
                        </a:rPr>
                        <a:t>, not full body</a:t>
                      </a:r>
                    </a:p>
                    <a:p>
                      <a:r>
                        <a:rPr lang="en-US" sz="1600" dirty="0">
                          <a:latin typeface="Times New Roman" panose="02020603050405020304" pitchFamily="18" charset="0"/>
                          <a:cs typeface="Times New Roman" panose="02020603050405020304" pitchFamily="18" charset="0"/>
                        </a:rPr>
                        <a:t>Identifies </a:t>
                      </a:r>
                      <a:r>
                        <a:rPr lang="en-US" sz="1600" b="1" dirty="0">
                          <a:latin typeface="Times New Roman" panose="02020603050405020304" pitchFamily="18" charset="0"/>
                          <a:cs typeface="Times New Roman" panose="02020603050405020304" pitchFamily="18" charset="0"/>
                        </a:rPr>
                        <a:t>individual cows</a:t>
                      </a:r>
                      <a:r>
                        <a:rPr lang="en-US" sz="1600" dirty="0">
                          <a:latin typeface="Times New Roman" panose="02020603050405020304" pitchFamily="18" charset="0"/>
                          <a:cs typeface="Times New Roman" panose="02020603050405020304" pitchFamily="18" charset="0"/>
                        </a:rPr>
                        <a:t>, not </a:t>
                      </a:r>
                      <a:r>
                        <a:rPr lang="en-US" sz="1600" b="1" dirty="0">
                          <a:latin typeface="Times New Roman" panose="02020603050405020304" pitchFamily="18" charset="0"/>
                          <a:cs typeface="Times New Roman" panose="02020603050405020304" pitchFamily="18" charset="0"/>
                        </a:rPr>
                        <a:t>breed classification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Dataset size is still limited to </a:t>
                      </a:r>
                      <a:r>
                        <a:rPr lang="en-US" sz="1600" b="1" dirty="0">
                          <a:latin typeface="Times New Roman" panose="02020603050405020304" pitchFamily="18" charset="0"/>
                          <a:cs typeface="Times New Roman" panose="02020603050405020304" pitchFamily="18" charset="0"/>
                        </a:rPr>
                        <a:t>20 cows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Not tested in highly crowded or outdoor uncontrolled farm scenes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Expand system to </a:t>
                      </a:r>
                      <a:r>
                        <a:rPr lang="en-US" sz="1600" b="1" dirty="0">
                          <a:latin typeface="Times New Roman" panose="02020603050405020304" pitchFamily="18" charset="0"/>
                          <a:cs typeface="Times New Roman" panose="02020603050405020304" pitchFamily="18" charset="0"/>
                        </a:rPr>
                        <a:t>breed recognition of cattle and buffaloes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object detection (YOLO)</a:t>
                      </a:r>
                      <a:r>
                        <a:rPr lang="en-US" sz="1600" dirty="0">
                          <a:latin typeface="Times New Roman" panose="02020603050405020304" pitchFamily="18" charset="0"/>
                          <a:cs typeface="Times New Roman" panose="02020603050405020304" pitchFamily="18" charset="0"/>
                        </a:rPr>
                        <a:t> for automatic animal detection</a:t>
                      </a:r>
                    </a:p>
                    <a:p>
                      <a:r>
                        <a:rPr lang="en-US" sz="1600" dirty="0">
                          <a:latin typeface="Times New Roman" panose="02020603050405020304" pitchFamily="18" charset="0"/>
                          <a:cs typeface="Times New Roman" panose="02020603050405020304" pitchFamily="18" charset="0"/>
                        </a:rPr>
                        <a:t>Handle </a:t>
                      </a:r>
                      <a:r>
                        <a:rPr lang="en-US" sz="1600" b="1" dirty="0">
                          <a:latin typeface="Times New Roman" panose="02020603050405020304" pitchFamily="18" charset="0"/>
                          <a:cs typeface="Times New Roman" panose="02020603050405020304" pitchFamily="18" charset="0"/>
                        </a:rPr>
                        <a:t>real-time video input</a:t>
                      </a:r>
                      <a:r>
                        <a:rPr lang="en-US" sz="1600" dirty="0">
                          <a:latin typeface="Times New Roman" panose="02020603050405020304" pitchFamily="18" charset="0"/>
                          <a:cs typeface="Times New Roman" panose="02020603050405020304" pitchFamily="18" charset="0"/>
                        </a:rPr>
                        <a:t> from farms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69887362"/>
                  </a:ext>
                </a:extLst>
              </a:tr>
            </a:tbl>
          </a:graphicData>
        </a:graphic>
      </p:graphicFrame>
    </p:spTree>
    <p:extLst>
      <p:ext uri="{BB962C8B-B14F-4D97-AF65-F5344CB8AC3E}">
        <p14:creationId xmlns:p14="http://schemas.microsoft.com/office/powerpoint/2010/main" val="2733394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A342B-D92E-CC75-31E2-139786656B51}"/>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DE1F7C26-C8A3-C946-F337-495B64D4930F}"/>
              </a:ext>
            </a:extLst>
          </p:cNvPr>
          <p:cNvSpPr>
            <a:spLocks noGrp="1" noChangeArrowheads="1"/>
          </p:cNvSpPr>
          <p:nvPr>
            <p:ph type="body" idx="1"/>
          </p:nvPr>
        </p:nvSpPr>
        <p:spPr bwMode="auto">
          <a:xfrm>
            <a:off x="812800" y="1092534"/>
            <a:ext cx="1089432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develop an </a:t>
            </a:r>
            <a:r>
              <a:rPr lang="en-US" b="1" dirty="0">
                <a:latin typeface="Times New Roman" panose="02020603050405020304" pitchFamily="18" charset="0"/>
                <a:cs typeface="Times New Roman" panose="02020603050405020304" pitchFamily="18" charset="0"/>
              </a:rPr>
              <a:t>image-based automated system</a:t>
            </a:r>
            <a:r>
              <a:rPr lang="en-US" dirty="0">
                <a:latin typeface="Times New Roman" panose="02020603050405020304" pitchFamily="18" charset="0"/>
                <a:cs typeface="Times New Roman" panose="02020603050405020304" pitchFamily="18" charset="0"/>
              </a:rPr>
              <a:t> for cattle and buffalo breed recognition.</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apply </a:t>
            </a:r>
            <a:r>
              <a:rPr lang="en-US" b="1" dirty="0">
                <a:latin typeface="Times New Roman" panose="02020603050405020304" pitchFamily="18" charset="0"/>
                <a:cs typeface="Times New Roman" panose="02020603050405020304" pitchFamily="18" charset="0"/>
              </a:rPr>
              <a:t>deep learning (CNN)</a:t>
            </a:r>
            <a:r>
              <a:rPr lang="en-US" dirty="0">
                <a:latin typeface="Times New Roman" panose="02020603050405020304" pitchFamily="18" charset="0"/>
                <a:cs typeface="Times New Roman" panose="02020603050405020304" pitchFamily="18" charset="0"/>
              </a:rPr>
              <a:t> for accurate breed classification.</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support </a:t>
            </a:r>
            <a:r>
              <a:rPr lang="en-US" b="1" dirty="0">
                <a:latin typeface="Times New Roman" panose="02020603050405020304" pitchFamily="18" charset="0"/>
                <a:cs typeface="Times New Roman" panose="02020603050405020304" pitchFamily="18" charset="0"/>
              </a:rPr>
              <a:t>Indian cattle and buffalo breeds.</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reduce dependency on </a:t>
            </a:r>
            <a:r>
              <a:rPr lang="en-US" b="1" dirty="0">
                <a:latin typeface="Times New Roman" panose="02020603050405020304" pitchFamily="18" charset="0"/>
                <a:cs typeface="Times New Roman" panose="02020603050405020304" pitchFamily="18" charset="0"/>
              </a:rPr>
              <a:t>manual breed identification.</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build a </a:t>
            </a:r>
            <a:r>
              <a:rPr lang="en-US" b="1" dirty="0">
                <a:latin typeface="Times New Roman" panose="02020603050405020304" pitchFamily="18" charset="0"/>
                <a:cs typeface="Times New Roman" panose="02020603050405020304" pitchFamily="18" charset="0"/>
              </a:rPr>
              <a:t>scalable and extensible model</a:t>
            </a:r>
            <a:r>
              <a:rPr lang="en-US" dirty="0">
                <a:latin typeface="Times New Roman" panose="02020603050405020304" pitchFamily="18" charset="0"/>
                <a:cs typeface="Times New Roman" panose="02020603050405020304" pitchFamily="18" charset="0"/>
              </a:rPr>
              <a:t> for future breeds</a:t>
            </a:r>
          </a:p>
          <a:p>
            <a:pPr marL="0" lvl="0" indent="0" eaLnBrk="0" fontAlgn="base" hangingPunct="0">
              <a:lnSpc>
                <a:spcPct val="15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00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41E07-7705-64A2-C2C6-1F65D5D298AA}"/>
              </a:ext>
            </a:extLst>
          </p:cNvPr>
          <p:cNvSpPr>
            <a:spLocks noGrp="1"/>
          </p:cNvSpPr>
          <p:nvPr>
            <p:ph type="title"/>
          </p:nvPr>
        </p:nvSpPr>
        <p:spPr/>
        <p:txBody>
          <a:bodyPr/>
          <a:lstStyle/>
          <a:p>
            <a:r>
              <a:rPr lang="en-IN" dirty="0"/>
              <a:t>Existing Methods and Drawbacks</a:t>
            </a:r>
          </a:p>
        </p:txBody>
      </p:sp>
      <p:sp>
        <p:nvSpPr>
          <p:cNvPr id="3" name="Text Placeholder 2">
            <a:extLst>
              <a:ext uri="{FF2B5EF4-FFF2-40B4-BE49-F238E27FC236}">
                <a16:creationId xmlns:a16="http://schemas.microsoft.com/office/drawing/2014/main" id="{3F51B654-19DE-37F1-5FFF-1D3360BEEF53}"/>
              </a:ext>
            </a:extLst>
          </p:cNvPr>
          <p:cNvSpPr>
            <a:spLocks noGrp="1"/>
          </p:cNvSpPr>
          <p:nvPr>
            <p:ph type="body" idx="1"/>
          </p:nvPr>
        </p:nvSpPr>
        <p:spPr/>
        <p:txBody>
          <a:bodyPr/>
          <a:lstStyle/>
          <a:p>
            <a:r>
              <a:rPr lang="en-IN" b="1" dirty="0">
                <a:latin typeface="Times New Roman" panose="02020603050405020304" pitchFamily="18" charset="0"/>
                <a:cs typeface="Times New Roman" panose="02020603050405020304" pitchFamily="18" charset="0"/>
              </a:rPr>
              <a:t>Existing Methods</a:t>
            </a:r>
          </a:p>
          <a:p>
            <a:pPr lvl="1"/>
            <a:r>
              <a:rPr lang="en-US" altLang="en-US" dirty="0">
                <a:solidFill>
                  <a:schemeClr val="tx1"/>
                </a:solidFill>
                <a:latin typeface="Times New Roman" panose="02020603050405020304" pitchFamily="18" charset="0"/>
                <a:cs typeface="Times New Roman" panose="02020603050405020304" pitchFamily="18" charset="0"/>
              </a:rPr>
              <a:t>Manual breed identification by experts</a:t>
            </a:r>
          </a:p>
          <a:p>
            <a:pPr lvl="1"/>
            <a:r>
              <a:rPr lang="en-US" altLang="en-US" dirty="0">
                <a:solidFill>
                  <a:schemeClr val="tx1"/>
                </a:solidFill>
                <a:latin typeface="Times New Roman" panose="02020603050405020304" pitchFamily="18" charset="0"/>
                <a:cs typeface="Times New Roman" panose="02020603050405020304" pitchFamily="18" charset="0"/>
              </a:rPr>
              <a:t>Physical tagging and records</a:t>
            </a:r>
          </a:p>
          <a:p>
            <a:pPr lvl="1"/>
            <a:r>
              <a:rPr lang="en-US" altLang="en-US" dirty="0">
                <a:solidFill>
                  <a:schemeClr val="tx1"/>
                </a:solidFill>
                <a:latin typeface="Times New Roman" panose="02020603050405020304" pitchFamily="18" charset="0"/>
                <a:cs typeface="Times New Roman" panose="02020603050405020304" pitchFamily="18" charset="0"/>
              </a:rPr>
              <a:t>Image processing with handcrafted features</a:t>
            </a:r>
          </a:p>
          <a:p>
            <a:pPr lvl="1"/>
            <a:r>
              <a:rPr lang="en-US" altLang="en-US" dirty="0">
                <a:solidFill>
                  <a:schemeClr val="tx1"/>
                </a:solidFill>
                <a:latin typeface="Times New Roman" panose="02020603050405020304" pitchFamily="18" charset="0"/>
                <a:cs typeface="Times New Roman" panose="02020603050405020304" pitchFamily="18" charset="0"/>
              </a:rPr>
              <a:t>Machine learning models (SVM, KNN)</a:t>
            </a:r>
          </a:p>
          <a:p>
            <a:pPr lvl="1"/>
            <a:r>
              <a:rPr lang="en-US" altLang="en-US" dirty="0">
                <a:solidFill>
                  <a:schemeClr val="tx1"/>
                </a:solidFill>
                <a:latin typeface="Times New Roman" panose="02020603050405020304" pitchFamily="18" charset="0"/>
                <a:cs typeface="Times New Roman" panose="02020603050405020304" pitchFamily="18" charset="0"/>
              </a:rPr>
              <a:t>Biometric identification (muzzle, face)</a:t>
            </a:r>
            <a:r>
              <a:rPr lang="en-IN" altLang="en-US" dirty="0">
                <a:solidFill>
                  <a:schemeClr val="tx1"/>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Drawbacks</a:t>
            </a:r>
          </a:p>
          <a:p>
            <a:pPr lvl="1"/>
            <a:r>
              <a:rPr lang="en-US" dirty="0">
                <a:latin typeface="Times New Roman" panose="02020603050405020304" pitchFamily="18" charset="0"/>
                <a:cs typeface="Times New Roman" panose="02020603050405020304" pitchFamily="18" charset="0"/>
              </a:rPr>
              <a:t>Manual methods are time-consuming and subjective</a:t>
            </a:r>
          </a:p>
          <a:p>
            <a:pPr lvl="1"/>
            <a:r>
              <a:rPr lang="en-US" dirty="0">
                <a:latin typeface="Times New Roman" panose="02020603050405020304" pitchFamily="18" charset="0"/>
                <a:cs typeface="Times New Roman" panose="02020603050405020304" pitchFamily="18" charset="0"/>
              </a:rPr>
              <a:t>Physical tags can be lost or damaged</a:t>
            </a:r>
            <a:endParaRPr lang="en-IN"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Handcrafted features give low accuracy</a:t>
            </a:r>
          </a:p>
          <a:p>
            <a:pPr lvl="1"/>
            <a:r>
              <a:rPr lang="en-US" dirty="0">
                <a:latin typeface="Times New Roman" panose="02020603050405020304" pitchFamily="18" charset="0"/>
                <a:cs typeface="Times New Roman" panose="02020603050405020304" pitchFamily="18" charset="0"/>
              </a:rPr>
              <a:t>Biometric methods require close-up images</a:t>
            </a:r>
          </a:p>
          <a:p>
            <a:pPr lvl="1"/>
            <a:r>
              <a:rPr lang="en-US" dirty="0">
                <a:latin typeface="Times New Roman" panose="02020603050405020304" pitchFamily="18" charset="0"/>
                <a:cs typeface="Times New Roman" panose="02020603050405020304" pitchFamily="18" charset="0"/>
              </a:rPr>
              <a:t>Most systems are not scalable</a:t>
            </a:r>
          </a:p>
          <a:p>
            <a:pPr lvl="1"/>
            <a:r>
              <a:rPr lang="en-US" dirty="0">
                <a:latin typeface="Times New Roman" panose="02020603050405020304" pitchFamily="18" charset="0"/>
                <a:cs typeface="Times New Roman" panose="02020603050405020304" pitchFamily="18" charset="0"/>
              </a:rPr>
              <a:t>Limited focus on Indian breeds</a:t>
            </a: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057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E1A7-BA06-2C10-D4CC-9BD098C577E6}"/>
              </a:ext>
            </a:extLst>
          </p:cNvPr>
          <p:cNvSpPr>
            <a:spLocks noGrp="1"/>
          </p:cNvSpPr>
          <p:nvPr>
            <p:ph type="title"/>
          </p:nvPr>
        </p:nvSpPr>
        <p:spPr/>
        <p:txBody>
          <a:bodyPr/>
          <a:lstStyle/>
          <a:p>
            <a:r>
              <a:rPr lang="en-US" dirty="0"/>
              <a:t>How We Overcome The Existing Drawbacks</a:t>
            </a:r>
            <a:endParaRPr lang="en-IN" dirty="0"/>
          </a:p>
        </p:txBody>
      </p:sp>
      <p:sp>
        <p:nvSpPr>
          <p:cNvPr id="3" name="Text Placeholder 2">
            <a:extLst>
              <a:ext uri="{FF2B5EF4-FFF2-40B4-BE49-F238E27FC236}">
                <a16:creationId xmlns:a16="http://schemas.microsoft.com/office/drawing/2014/main" id="{8570336C-4483-60E9-92CB-8D83A893059B}"/>
              </a:ext>
            </a:extLst>
          </p:cNvPr>
          <p:cNvSpPr>
            <a:spLocks noGrp="1"/>
          </p:cNvSpPr>
          <p:nvPr>
            <p:ph type="body" idx="1"/>
          </p:nvPr>
        </p:nvSpPr>
        <p:spPr>
          <a:xfrm>
            <a:off x="812800" y="1143001"/>
            <a:ext cx="10668000" cy="4284405"/>
          </a:xfrm>
        </p:spPr>
        <p:txBody>
          <a:bodyPr/>
          <a:lstStyle/>
          <a:p>
            <a:pPr>
              <a:lnSpc>
                <a:spcPct val="150000"/>
              </a:lnSpc>
            </a:pPr>
            <a:r>
              <a:rPr lang="en-US" dirty="0">
                <a:latin typeface="Times New Roman" panose="02020603050405020304" pitchFamily="18" charset="0"/>
                <a:cs typeface="Times New Roman" panose="02020603050405020304" pitchFamily="18" charset="0"/>
              </a:rPr>
              <a:t>Use CNN-based deep learning for automatic feature extraction</a:t>
            </a:r>
          </a:p>
          <a:p>
            <a:pPr>
              <a:lnSpc>
                <a:spcPct val="150000"/>
              </a:lnSpc>
            </a:pPr>
            <a:r>
              <a:rPr lang="en-US" dirty="0">
                <a:latin typeface="Times New Roman" panose="02020603050405020304" pitchFamily="18" charset="0"/>
                <a:cs typeface="Times New Roman" panose="02020603050405020304" pitchFamily="18" charset="0"/>
              </a:rPr>
              <a:t>No need for physical tags or biometric images</a:t>
            </a:r>
          </a:p>
          <a:p>
            <a:pPr>
              <a:lnSpc>
                <a:spcPct val="150000"/>
              </a:lnSpc>
            </a:pPr>
            <a:r>
              <a:rPr lang="en-US" dirty="0">
                <a:latin typeface="Times New Roman" panose="02020603050405020304" pitchFamily="18" charset="0"/>
                <a:cs typeface="Times New Roman" panose="02020603050405020304" pitchFamily="18" charset="0"/>
              </a:rPr>
              <a:t>Works with normal images of cattle and buffalo</a:t>
            </a:r>
          </a:p>
          <a:p>
            <a:pPr>
              <a:lnSpc>
                <a:spcPct val="150000"/>
              </a:lnSpc>
            </a:pPr>
            <a:r>
              <a:rPr lang="en-IN" dirty="0">
                <a:latin typeface="Times New Roman" panose="02020603050405020304" pitchFamily="18" charset="0"/>
                <a:cs typeface="Times New Roman" panose="02020603050405020304" pitchFamily="18" charset="0"/>
              </a:rPr>
              <a:t>Supports multiple Indian breeds</a:t>
            </a:r>
          </a:p>
          <a:p>
            <a:pPr>
              <a:lnSpc>
                <a:spcPct val="150000"/>
              </a:lnSpc>
            </a:pPr>
            <a:r>
              <a:rPr lang="en-US" dirty="0">
                <a:latin typeface="Times New Roman" panose="02020603050405020304" pitchFamily="18" charset="0"/>
                <a:cs typeface="Times New Roman" panose="02020603050405020304" pitchFamily="18" charset="0"/>
              </a:rPr>
              <a:t>Scalable system – new breeds can be added easily</a:t>
            </a:r>
          </a:p>
          <a:p>
            <a:pPr>
              <a:lnSpc>
                <a:spcPct val="150000"/>
              </a:lnSpc>
            </a:pPr>
            <a:r>
              <a:rPr lang="en-US" dirty="0">
                <a:latin typeface="Times New Roman" panose="02020603050405020304" pitchFamily="18" charset="0"/>
                <a:cs typeface="Times New Roman" panose="02020603050405020304" pitchFamily="18" charset="0"/>
              </a:rPr>
              <a:t>Higher accuracy compared to traditional ML</a:t>
            </a:r>
          </a:p>
          <a:p>
            <a:endParaRPr lang="en-IN" dirty="0"/>
          </a:p>
        </p:txBody>
      </p:sp>
    </p:spTree>
    <p:extLst>
      <p:ext uri="{BB962C8B-B14F-4D97-AF65-F5344CB8AC3E}">
        <p14:creationId xmlns:p14="http://schemas.microsoft.com/office/powerpoint/2010/main" val="2616874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D473A-33B4-B2A4-F7EB-A927608B3278}"/>
              </a:ext>
            </a:extLst>
          </p:cNvPr>
          <p:cNvSpPr>
            <a:spLocks noGrp="1"/>
          </p:cNvSpPr>
          <p:nvPr>
            <p:ph type="title"/>
          </p:nvPr>
        </p:nvSpPr>
        <p:spPr/>
        <p:txBody>
          <a:bodyPr/>
          <a:lstStyle/>
          <a:p>
            <a:r>
              <a:rPr lang="en-IN" dirty="0"/>
              <a:t>Proposed Method</a:t>
            </a:r>
          </a:p>
        </p:txBody>
      </p:sp>
      <p:sp>
        <p:nvSpPr>
          <p:cNvPr id="3" name="Text Placeholder 2">
            <a:extLst>
              <a:ext uri="{FF2B5EF4-FFF2-40B4-BE49-F238E27FC236}">
                <a16:creationId xmlns:a16="http://schemas.microsoft.com/office/drawing/2014/main" id="{A7C17DA2-E477-B271-D6EC-2FEE3221F561}"/>
              </a:ext>
            </a:extLst>
          </p:cNvPr>
          <p:cNvSpPr>
            <a:spLocks noGrp="1"/>
          </p:cNvSpPr>
          <p:nvPr>
            <p:ph type="body" idx="1"/>
          </p:nvPr>
        </p:nvSpPr>
        <p:spPr>
          <a:xfrm>
            <a:off x="762000" y="1074175"/>
            <a:ext cx="10668000" cy="4953000"/>
          </a:xfrm>
        </p:spPr>
        <p:txBody>
          <a:bodyPr/>
          <a:lstStyle/>
          <a:p>
            <a:pPr>
              <a:lnSpc>
                <a:spcPct val="150000"/>
              </a:lnSpc>
            </a:pPr>
            <a:r>
              <a:rPr lang="en-US" dirty="0">
                <a:latin typeface="Times New Roman" panose="02020603050405020304" pitchFamily="18" charset="0"/>
                <a:cs typeface="Times New Roman" panose="02020603050405020304" pitchFamily="18" charset="0"/>
              </a:rPr>
              <a:t>Collect cattle and buffalo breed images</a:t>
            </a:r>
          </a:p>
          <a:p>
            <a:pPr>
              <a:lnSpc>
                <a:spcPct val="150000"/>
              </a:lnSpc>
            </a:pPr>
            <a:r>
              <a:rPr lang="en-US" dirty="0">
                <a:latin typeface="Times New Roman" panose="02020603050405020304" pitchFamily="18" charset="0"/>
                <a:cs typeface="Times New Roman" panose="02020603050405020304" pitchFamily="18" charset="0"/>
              </a:rPr>
              <a:t>Preprocess images (resize</a:t>
            </a:r>
            <a:r>
              <a:rPr lang="en-US">
                <a:latin typeface="Times New Roman" panose="02020603050405020304" pitchFamily="18" charset="0"/>
                <a:cs typeface="Times New Roman" panose="02020603050405020304" pitchFamily="18" charset="0"/>
              </a:rPr>
              <a:t>, normalize)</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Split dataset into training and testing sets</a:t>
            </a:r>
          </a:p>
          <a:p>
            <a:pPr>
              <a:lnSpc>
                <a:spcPct val="150000"/>
              </a:lnSpc>
            </a:pPr>
            <a:r>
              <a:rPr lang="en-US" dirty="0">
                <a:latin typeface="Times New Roman" panose="02020603050405020304" pitchFamily="18" charset="0"/>
                <a:cs typeface="Times New Roman" panose="02020603050405020304" pitchFamily="18" charset="0"/>
              </a:rPr>
              <a:t>Train CNN-based deep learning model</a:t>
            </a:r>
          </a:p>
          <a:p>
            <a:pPr>
              <a:lnSpc>
                <a:spcPct val="150000"/>
              </a:lnSpc>
            </a:pPr>
            <a:r>
              <a:rPr lang="en-US" dirty="0">
                <a:latin typeface="Times New Roman" panose="02020603050405020304" pitchFamily="18" charset="0"/>
                <a:cs typeface="Times New Roman" panose="02020603050405020304" pitchFamily="18" charset="0"/>
              </a:rPr>
              <a:t>Predict breed from input image</a:t>
            </a:r>
          </a:p>
          <a:p>
            <a:pPr marL="76200" indent="0">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6614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67B2-17E8-158D-39B6-004ED79B70B7}"/>
              </a:ext>
            </a:extLst>
          </p:cNvPr>
          <p:cNvSpPr>
            <a:spLocks noGrp="1"/>
          </p:cNvSpPr>
          <p:nvPr>
            <p:ph type="title"/>
          </p:nvPr>
        </p:nvSpPr>
        <p:spPr/>
        <p:txBody>
          <a:bodyPr/>
          <a:lstStyle/>
          <a:p>
            <a:r>
              <a:rPr lang="en-IN" dirty="0"/>
              <a:t>Feasibility Study</a:t>
            </a:r>
          </a:p>
        </p:txBody>
      </p:sp>
      <p:sp>
        <p:nvSpPr>
          <p:cNvPr id="3" name="Text Placeholder 2">
            <a:extLst>
              <a:ext uri="{FF2B5EF4-FFF2-40B4-BE49-F238E27FC236}">
                <a16:creationId xmlns:a16="http://schemas.microsoft.com/office/drawing/2014/main" id="{EFB92470-7FAC-A308-F68F-75901D49C624}"/>
              </a:ext>
            </a:extLst>
          </p:cNvPr>
          <p:cNvSpPr>
            <a:spLocks noGrp="1"/>
          </p:cNvSpPr>
          <p:nvPr>
            <p:ph type="body" idx="1"/>
          </p:nvPr>
        </p:nvSpPr>
        <p:spPr/>
        <p:txBody>
          <a:bodyPr>
            <a:normAutofit/>
          </a:bodyPr>
          <a:lstStyle/>
          <a:p>
            <a:r>
              <a:rPr lang="en-US" dirty="0">
                <a:latin typeface="Times New Roman" panose="02020603050405020304" pitchFamily="18" charset="0"/>
                <a:cs typeface="Times New Roman" panose="02020603050405020304" pitchFamily="18" charset="0"/>
              </a:rPr>
              <a:t>Technical Feasibility</a:t>
            </a:r>
          </a:p>
          <a:p>
            <a:pPr lvl="1"/>
            <a:r>
              <a:rPr lang="en-US" dirty="0">
                <a:latin typeface="Times New Roman" panose="02020603050405020304" pitchFamily="18" charset="0"/>
                <a:cs typeface="Times New Roman" panose="02020603050405020304" pitchFamily="18" charset="0"/>
              </a:rPr>
              <a:t>Uses Python, TensorFlow/</a:t>
            </a:r>
            <a:r>
              <a:rPr lang="en-US" dirty="0" err="1">
                <a:latin typeface="Times New Roman" panose="02020603050405020304" pitchFamily="18" charset="0"/>
                <a:cs typeface="Times New Roman" panose="02020603050405020304" pitchFamily="18" charset="0"/>
              </a:rPr>
              <a:t>Keras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Runs on standard systems with GPU/CPU</a:t>
            </a:r>
          </a:p>
          <a:p>
            <a:r>
              <a:rPr lang="en-US" dirty="0">
                <a:latin typeface="Times New Roman" panose="02020603050405020304" pitchFamily="18" charset="0"/>
                <a:cs typeface="Times New Roman" panose="02020603050405020304" pitchFamily="18" charset="0"/>
              </a:rPr>
              <a:t>Economic Feasibility</a:t>
            </a:r>
          </a:p>
          <a:p>
            <a:pPr lvl="1"/>
            <a:r>
              <a:rPr lang="en-US" dirty="0">
                <a:latin typeface="Times New Roman" panose="02020603050405020304" pitchFamily="18" charset="0"/>
                <a:cs typeface="Times New Roman" panose="02020603050405020304" pitchFamily="18" charset="0"/>
              </a:rPr>
              <a:t>Open-source tools used</a:t>
            </a:r>
          </a:p>
          <a:p>
            <a:pPr lvl="1"/>
            <a:r>
              <a:rPr lang="en-US" dirty="0">
                <a:latin typeface="Times New Roman" panose="02020603050405020304" pitchFamily="18" charset="0"/>
                <a:cs typeface="Times New Roman" panose="02020603050405020304" pitchFamily="18" charset="0"/>
              </a:rPr>
              <a:t>No specialized hardware required</a:t>
            </a:r>
          </a:p>
          <a:p>
            <a:r>
              <a:rPr lang="en-US" dirty="0">
                <a:latin typeface="Times New Roman" panose="02020603050405020304" pitchFamily="18" charset="0"/>
                <a:cs typeface="Times New Roman" panose="02020603050405020304" pitchFamily="18" charset="0"/>
              </a:rPr>
              <a:t>Operational Feasibility</a:t>
            </a:r>
          </a:p>
          <a:p>
            <a:pPr lvl="1"/>
            <a:r>
              <a:rPr lang="en-US" dirty="0">
                <a:latin typeface="Times New Roman" panose="02020603050405020304" pitchFamily="18" charset="0"/>
                <a:cs typeface="Times New Roman" panose="02020603050405020304" pitchFamily="18" charset="0"/>
              </a:rPr>
              <a:t>Easy to use: image upload - breed prediction</a:t>
            </a:r>
          </a:p>
          <a:p>
            <a:pPr lvl="1"/>
            <a:r>
              <a:rPr lang="en-US" dirty="0">
                <a:latin typeface="Times New Roman" panose="02020603050405020304" pitchFamily="18" charset="0"/>
                <a:cs typeface="Times New Roman" panose="02020603050405020304" pitchFamily="18" charset="0"/>
              </a:rPr>
              <a:t>Reduces need for livestock experts</a:t>
            </a:r>
          </a:p>
          <a:p>
            <a:r>
              <a:rPr lang="en-US" dirty="0">
                <a:latin typeface="Times New Roman" panose="02020603050405020304" pitchFamily="18" charset="0"/>
                <a:cs typeface="Times New Roman" panose="02020603050405020304" pitchFamily="18" charset="0"/>
              </a:rPr>
              <a:t>Scalability Feasibility</a:t>
            </a:r>
          </a:p>
          <a:p>
            <a:pPr lvl="1"/>
            <a:r>
              <a:rPr lang="en-US" dirty="0">
                <a:latin typeface="Times New Roman" panose="02020603050405020304" pitchFamily="18" charset="0"/>
                <a:cs typeface="Times New Roman" panose="02020603050405020304" pitchFamily="18" charset="0"/>
              </a:rPr>
              <a:t>New breeds can be added by updating dataset</a:t>
            </a:r>
          </a:p>
          <a:p>
            <a:pPr lvl="1"/>
            <a:r>
              <a:rPr lang="en-US" dirty="0">
                <a:latin typeface="Times New Roman" panose="02020603050405020304" pitchFamily="18" charset="0"/>
                <a:cs typeface="Times New Roman" panose="02020603050405020304" pitchFamily="18" charset="0"/>
              </a:rPr>
              <a:t>Model can be retrained easily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4999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Flow Diagram </a:t>
            </a:r>
            <a:endParaRPr lang="en-US" dirty="0">
              <a:latin typeface="Times New Roman" panose="02020603050405020304" pitchFamily="18" charset="0"/>
              <a:cs typeface="Times New Roman" panose="02020603050405020304" pitchFamily="18" charset="0"/>
            </a:endParaRPr>
          </a:p>
        </p:txBody>
      </p:sp>
      <p:grpSp>
        <p:nvGrpSpPr>
          <p:cNvPr id="43" name="Group 42">
            <a:extLst>
              <a:ext uri="{FF2B5EF4-FFF2-40B4-BE49-F238E27FC236}">
                <a16:creationId xmlns:a16="http://schemas.microsoft.com/office/drawing/2014/main" id="{9B3E2F77-5067-E4FC-D471-BDB528D5DF5A}"/>
              </a:ext>
            </a:extLst>
          </p:cNvPr>
          <p:cNvGrpSpPr/>
          <p:nvPr/>
        </p:nvGrpSpPr>
        <p:grpSpPr>
          <a:xfrm>
            <a:off x="2720493" y="1516627"/>
            <a:ext cx="6647096" cy="4303535"/>
            <a:chOff x="4910523" y="1140542"/>
            <a:chExt cx="5798444" cy="2915476"/>
          </a:xfrm>
        </p:grpSpPr>
        <p:cxnSp>
          <p:nvCxnSpPr>
            <p:cNvPr id="6" name="Straight Arrow Connector 5">
              <a:extLst>
                <a:ext uri="{FF2B5EF4-FFF2-40B4-BE49-F238E27FC236}">
                  <a16:creationId xmlns:a16="http://schemas.microsoft.com/office/drawing/2014/main" id="{A43B4106-2D71-FF13-23D8-48C2423E7408}"/>
                </a:ext>
              </a:extLst>
            </p:cNvPr>
            <p:cNvCxnSpPr>
              <a:cxnSpLocks/>
            </p:cNvCxnSpPr>
            <p:nvPr/>
          </p:nvCxnSpPr>
          <p:spPr>
            <a:xfrm>
              <a:off x="6150078" y="1448319"/>
              <a:ext cx="0" cy="3784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E032351-06FC-344D-D57B-2DF1201B99A6}"/>
                </a:ext>
              </a:extLst>
            </p:cNvPr>
            <p:cNvSpPr/>
            <p:nvPr/>
          </p:nvSpPr>
          <p:spPr>
            <a:xfrm>
              <a:off x="4912852" y="1140542"/>
              <a:ext cx="2467896" cy="30777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2B842D8C-82A9-F2FE-C205-3EFCC95952E3}"/>
                </a:ext>
              </a:extLst>
            </p:cNvPr>
            <p:cNvSpPr/>
            <p:nvPr/>
          </p:nvSpPr>
          <p:spPr>
            <a:xfrm>
              <a:off x="4912852" y="1826723"/>
              <a:ext cx="2467896"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49C43FC5-2D73-B1AD-D2A7-F0EAF06243A7}"/>
                </a:ext>
              </a:extLst>
            </p:cNvPr>
            <p:cNvSpPr/>
            <p:nvPr/>
          </p:nvSpPr>
          <p:spPr>
            <a:xfrm>
              <a:off x="4910523" y="2503880"/>
              <a:ext cx="2467896" cy="30777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02E84C4-180D-BE0C-499C-7DABDF72C57E}"/>
                </a:ext>
              </a:extLst>
            </p:cNvPr>
            <p:cNvSpPr/>
            <p:nvPr/>
          </p:nvSpPr>
          <p:spPr>
            <a:xfrm>
              <a:off x="4912852" y="3106474"/>
              <a:ext cx="2467896" cy="30777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739CC9E-0ABB-8853-86AB-392343426610}"/>
                </a:ext>
              </a:extLst>
            </p:cNvPr>
            <p:cNvSpPr/>
            <p:nvPr/>
          </p:nvSpPr>
          <p:spPr>
            <a:xfrm>
              <a:off x="4910523" y="3748241"/>
              <a:ext cx="2467896" cy="307777"/>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9BF1DBA2-E70E-BC5B-9617-277856200FB9}"/>
                </a:ext>
              </a:extLst>
            </p:cNvPr>
            <p:cNvSpPr/>
            <p:nvPr/>
          </p:nvSpPr>
          <p:spPr>
            <a:xfrm>
              <a:off x="8241071" y="2490988"/>
              <a:ext cx="2467896" cy="307777"/>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9587C920-F202-2F4C-5D02-F6E23A804D07}"/>
                </a:ext>
              </a:extLst>
            </p:cNvPr>
            <p:cNvSpPr/>
            <p:nvPr/>
          </p:nvSpPr>
          <p:spPr>
            <a:xfrm>
              <a:off x="8241071" y="3121223"/>
              <a:ext cx="2467896" cy="307777"/>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FA599ED2-8FE8-5C90-91AD-DDF770F61B12}"/>
                </a:ext>
              </a:extLst>
            </p:cNvPr>
            <p:cNvCxnSpPr>
              <a:stCxn id="10" idx="2"/>
              <a:endCxn id="11" idx="0"/>
            </p:cNvCxnSpPr>
            <p:nvPr/>
          </p:nvCxnSpPr>
          <p:spPr>
            <a:xfrm flipH="1">
              <a:off x="6144471" y="2134500"/>
              <a:ext cx="2329" cy="3693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375C3A2-2DED-2919-D1F5-8BA9980D81B0}"/>
                </a:ext>
              </a:extLst>
            </p:cNvPr>
            <p:cNvCxnSpPr>
              <a:stCxn id="11" idx="2"/>
              <a:endCxn id="12" idx="0"/>
            </p:cNvCxnSpPr>
            <p:nvPr/>
          </p:nvCxnSpPr>
          <p:spPr>
            <a:xfrm>
              <a:off x="6144471" y="2811657"/>
              <a:ext cx="2329" cy="2948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A226633-F596-FA94-BA17-22A4DB41D742}"/>
                </a:ext>
              </a:extLst>
            </p:cNvPr>
            <p:cNvCxnSpPr>
              <a:stCxn id="11" idx="3"/>
              <a:endCxn id="15" idx="1"/>
            </p:cNvCxnSpPr>
            <p:nvPr/>
          </p:nvCxnSpPr>
          <p:spPr>
            <a:xfrm flipV="1">
              <a:off x="7378419" y="2644877"/>
              <a:ext cx="862652" cy="12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568F1EC-2B52-4F52-DB6A-C0F6C16DEF56}"/>
                </a:ext>
              </a:extLst>
            </p:cNvPr>
            <p:cNvCxnSpPr>
              <a:stCxn id="15" idx="2"/>
              <a:endCxn id="16" idx="0"/>
            </p:cNvCxnSpPr>
            <p:nvPr/>
          </p:nvCxnSpPr>
          <p:spPr>
            <a:xfrm>
              <a:off x="9475019" y="2798765"/>
              <a:ext cx="0" cy="3224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97C474EB-220F-E8DC-F84C-F545F726E989}"/>
                </a:ext>
              </a:extLst>
            </p:cNvPr>
            <p:cNvSpPr txBox="1"/>
            <p:nvPr/>
          </p:nvSpPr>
          <p:spPr>
            <a:xfrm>
              <a:off x="5627393" y="1192010"/>
              <a:ext cx="1887794" cy="208507"/>
            </a:xfrm>
            <a:prstGeom prst="rect">
              <a:avLst/>
            </a:prstGeom>
            <a:noFill/>
          </p:spPr>
          <p:txBody>
            <a:bodyPr wrap="square" rtlCol="0">
              <a:spAutoFit/>
            </a:bodyPr>
            <a:lstStyle/>
            <a:p>
              <a:r>
                <a:rPr lang="en-IN" dirty="0"/>
                <a:t>Image Input</a:t>
              </a:r>
            </a:p>
          </p:txBody>
        </p:sp>
        <p:sp>
          <p:nvSpPr>
            <p:cNvPr id="34" name="TextBox 33">
              <a:extLst>
                <a:ext uri="{FF2B5EF4-FFF2-40B4-BE49-F238E27FC236}">
                  <a16:creationId xmlns:a16="http://schemas.microsoft.com/office/drawing/2014/main" id="{6A7116AA-C9A2-F1EF-382E-0DC15806C580}"/>
                </a:ext>
              </a:extLst>
            </p:cNvPr>
            <p:cNvSpPr txBox="1"/>
            <p:nvPr/>
          </p:nvSpPr>
          <p:spPr>
            <a:xfrm>
              <a:off x="5326300" y="1875433"/>
              <a:ext cx="1636342" cy="208507"/>
            </a:xfrm>
            <a:prstGeom prst="rect">
              <a:avLst/>
            </a:prstGeom>
            <a:noFill/>
          </p:spPr>
          <p:txBody>
            <a:bodyPr wrap="none" rtlCol="0">
              <a:spAutoFit/>
            </a:bodyPr>
            <a:lstStyle/>
            <a:p>
              <a:r>
                <a:rPr lang="en-IN" dirty="0"/>
                <a:t>Image Preprocessing</a:t>
              </a:r>
            </a:p>
          </p:txBody>
        </p:sp>
        <p:sp>
          <p:nvSpPr>
            <p:cNvPr id="35" name="TextBox 34">
              <a:extLst>
                <a:ext uri="{FF2B5EF4-FFF2-40B4-BE49-F238E27FC236}">
                  <a16:creationId xmlns:a16="http://schemas.microsoft.com/office/drawing/2014/main" id="{7EBD63BA-315D-0680-ACF4-9DCA4800F8E3}"/>
                </a:ext>
              </a:extLst>
            </p:cNvPr>
            <p:cNvSpPr txBox="1"/>
            <p:nvPr/>
          </p:nvSpPr>
          <p:spPr>
            <a:xfrm>
              <a:off x="5402152" y="2556837"/>
              <a:ext cx="1281163" cy="208507"/>
            </a:xfrm>
            <a:prstGeom prst="rect">
              <a:avLst/>
            </a:prstGeom>
            <a:noFill/>
          </p:spPr>
          <p:txBody>
            <a:bodyPr wrap="none" rtlCol="0">
              <a:spAutoFit/>
            </a:bodyPr>
            <a:lstStyle/>
            <a:p>
              <a:r>
                <a:rPr lang="en-IN" dirty="0"/>
                <a:t>Breed Detection</a:t>
              </a:r>
            </a:p>
          </p:txBody>
        </p:sp>
        <p:sp>
          <p:nvSpPr>
            <p:cNvPr id="36" name="TextBox 35">
              <a:extLst>
                <a:ext uri="{FF2B5EF4-FFF2-40B4-BE49-F238E27FC236}">
                  <a16:creationId xmlns:a16="http://schemas.microsoft.com/office/drawing/2014/main" id="{7EA3F3A9-1AF7-566D-AB4A-19690719DCB6}"/>
                </a:ext>
              </a:extLst>
            </p:cNvPr>
            <p:cNvSpPr txBox="1"/>
            <p:nvPr/>
          </p:nvSpPr>
          <p:spPr>
            <a:xfrm>
              <a:off x="8350118" y="2526410"/>
              <a:ext cx="2249799" cy="208507"/>
            </a:xfrm>
            <a:prstGeom prst="rect">
              <a:avLst/>
            </a:prstGeom>
            <a:noFill/>
          </p:spPr>
          <p:txBody>
            <a:bodyPr wrap="square" rtlCol="0">
              <a:spAutoFit/>
            </a:bodyPr>
            <a:lstStyle/>
            <a:p>
              <a:pPr algn="ctr"/>
              <a:r>
                <a:rPr lang="en-IN" dirty="0"/>
                <a:t>Based On Features</a:t>
              </a:r>
            </a:p>
          </p:txBody>
        </p:sp>
        <p:sp>
          <p:nvSpPr>
            <p:cNvPr id="37" name="TextBox 36">
              <a:extLst>
                <a:ext uri="{FF2B5EF4-FFF2-40B4-BE49-F238E27FC236}">
                  <a16:creationId xmlns:a16="http://schemas.microsoft.com/office/drawing/2014/main" id="{6CF972FC-4753-EB52-FB14-509A0ABBADC2}"/>
                </a:ext>
              </a:extLst>
            </p:cNvPr>
            <p:cNvSpPr txBox="1"/>
            <p:nvPr/>
          </p:nvSpPr>
          <p:spPr>
            <a:xfrm>
              <a:off x="8809904" y="3167949"/>
              <a:ext cx="1334300" cy="208507"/>
            </a:xfrm>
            <a:prstGeom prst="rect">
              <a:avLst/>
            </a:prstGeom>
            <a:noFill/>
          </p:spPr>
          <p:txBody>
            <a:bodyPr wrap="none" rtlCol="0">
              <a:spAutoFit/>
            </a:bodyPr>
            <a:lstStyle/>
            <a:p>
              <a:r>
                <a:rPr lang="en-IN" dirty="0"/>
                <a:t>Size, Body, Horn</a:t>
              </a:r>
            </a:p>
          </p:txBody>
        </p:sp>
        <p:sp>
          <p:nvSpPr>
            <p:cNvPr id="38" name="TextBox 37">
              <a:extLst>
                <a:ext uri="{FF2B5EF4-FFF2-40B4-BE49-F238E27FC236}">
                  <a16:creationId xmlns:a16="http://schemas.microsoft.com/office/drawing/2014/main" id="{1F2CACB8-FD2F-CBC6-E12C-E4664EE1AA47}"/>
                </a:ext>
              </a:extLst>
            </p:cNvPr>
            <p:cNvSpPr txBox="1"/>
            <p:nvPr/>
          </p:nvSpPr>
          <p:spPr>
            <a:xfrm>
              <a:off x="5402152" y="3153349"/>
              <a:ext cx="1542653" cy="208507"/>
            </a:xfrm>
            <a:prstGeom prst="rect">
              <a:avLst/>
            </a:prstGeom>
            <a:noFill/>
          </p:spPr>
          <p:txBody>
            <a:bodyPr wrap="none" rtlCol="0">
              <a:spAutoFit/>
            </a:bodyPr>
            <a:lstStyle/>
            <a:p>
              <a:r>
                <a:rPr lang="en-IN" dirty="0"/>
                <a:t>Breed Classification</a:t>
              </a:r>
            </a:p>
          </p:txBody>
        </p:sp>
        <p:sp>
          <p:nvSpPr>
            <p:cNvPr id="39" name="TextBox 38">
              <a:extLst>
                <a:ext uri="{FF2B5EF4-FFF2-40B4-BE49-F238E27FC236}">
                  <a16:creationId xmlns:a16="http://schemas.microsoft.com/office/drawing/2014/main" id="{ED5ADCC8-EBD8-3A74-BB8F-E324DEBCF9E6}"/>
                </a:ext>
              </a:extLst>
            </p:cNvPr>
            <p:cNvSpPr txBox="1"/>
            <p:nvPr/>
          </p:nvSpPr>
          <p:spPr>
            <a:xfrm>
              <a:off x="5842289" y="3800468"/>
              <a:ext cx="604364" cy="208507"/>
            </a:xfrm>
            <a:prstGeom prst="rect">
              <a:avLst/>
            </a:prstGeom>
            <a:noFill/>
          </p:spPr>
          <p:txBody>
            <a:bodyPr wrap="none" rtlCol="0">
              <a:spAutoFit/>
            </a:bodyPr>
            <a:lstStyle/>
            <a:p>
              <a:r>
                <a:rPr lang="en-IN" dirty="0"/>
                <a:t>Result</a:t>
              </a:r>
            </a:p>
          </p:txBody>
        </p:sp>
        <p:sp>
          <p:nvSpPr>
            <p:cNvPr id="40" name="TextBox 39">
              <a:extLst>
                <a:ext uri="{FF2B5EF4-FFF2-40B4-BE49-F238E27FC236}">
                  <a16:creationId xmlns:a16="http://schemas.microsoft.com/office/drawing/2014/main" id="{0FF21137-DA37-1C32-6EB4-829445B2EEDE}"/>
                </a:ext>
              </a:extLst>
            </p:cNvPr>
            <p:cNvSpPr txBox="1"/>
            <p:nvPr/>
          </p:nvSpPr>
          <p:spPr>
            <a:xfrm>
              <a:off x="9087890" y="3751458"/>
              <a:ext cx="161146" cy="208507"/>
            </a:xfrm>
            <a:prstGeom prst="rect">
              <a:avLst/>
            </a:prstGeom>
            <a:noFill/>
          </p:spPr>
          <p:txBody>
            <a:bodyPr wrap="none" rtlCol="0">
              <a:spAutoFit/>
            </a:bodyPr>
            <a:lstStyle/>
            <a:p>
              <a:endParaRPr lang="en-IN" dirty="0"/>
            </a:p>
          </p:txBody>
        </p:sp>
      </p:grpSp>
      <p:sp>
        <p:nvSpPr>
          <p:cNvPr id="20" name="Rectangle 19">
            <a:extLst>
              <a:ext uri="{FF2B5EF4-FFF2-40B4-BE49-F238E27FC236}">
                <a16:creationId xmlns:a16="http://schemas.microsoft.com/office/drawing/2014/main" id="{098DF642-4602-3E0E-AB83-0402060C0D89}"/>
              </a:ext>
            </a:extLst>
          </p:cNvPr>
          <p:cNvSpPr/>
          <p:nvPr/>
        </p:nvSpPr>
        <p:spPr>
          <a:xfrm>
            <a:off x="6538495" y="1516627"/>
            <a:ext cx="2164089" cy="3837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ln w="0"/>
                <a:solidFill>
                  <a:schemeClr val="tx1"/>
                </a:solidFill>
                <a:effectLst>
                  <a:outerShdw blurRad="38100" dist="19050" dir="2700000" algn="tl" rotWithShape="0">
                    <a:schemeClr val="dk1">
                      <a:alpha val="40000"/>
                    </a:schemeClr>
                  </a:outerShdw>
                </a:effectLst>
              </a:rPr>
              <a:t>      </a:t>
            </a:r>
          </a:p>
        </p:txBody>
      </p:sp>
      <p:sp>
        <p:nvSpPr>
          <p:cNvPr id="21" name="TextBox 20">
            <a:extLst>
              <a:ext uri="{FF2B5EF4-FFF2-40B4-BE49-F238E27FC236}">
                <a16:creationId xmlns:a16="http://schemas.microsoft.com/office/drawing/2014/main" id="{8951B1B0-BEEE-E9E3-79AE-BA4C9C55B30A}"/>
              </a:ext>
            </a:extLst>
          </p:cNvPr>
          <p:cNvSpPr txBox="1"/>
          <p:nvPr/>
        </p:nvSpPr>
        <p:spPr>
          <a:xfrm>
            <a:off x="7190582" y="1539297"/>
            <a:ext cx="801823" cy="307777"/>
          </a:xfrm>
          <a:prstGeom prst="rect">
            <a:avLst/>
          </a:prstGeom>
          <a:noFill/>
        </p:spPr>
        <p:txBody>
          <a:bodyPr wrap="none" rtlCol="0">
            <a:spAutoFit/>
          </a:bodyPr>
          <a:lstStyle/>
          <a:p>
            <a:r>
              <a:rPr lang="en-IN" dirty="0"/>
              <a:t>Dataset</a:t>
            </a:r>
          </a:p>
        </p:txBody>
      </p:sp>
      <p:cxnSp>
        <p:nvCxnSpPr>
          <p:cNvPr id="24" name="Straight Arrow Connector 23">
            <a:extLst>
              <a:ext uri="{FF2B5EF4-FFF2-40B4-BE49-F238E27FC236}">
                <a16:creationId xmlns:a16="http://schemas.microsoft.com/office/drawing/2014/main" id="{C3FC5403-E3AF-D1E3-028E-BEC3FA963608}"/>
              </a:ext>
            </a:extLst>
          </p:cNvPr>
          <p:cNvCxnSpPr>
            <a:stCxn id="20" idx="1"/>
          </p:cNvCxnSpPr>
          <p:nvPr/>
        </p:nvCxnSpPr>
        <p:spPr>
          <a:xfrm flipH="1" flipV="1">
            <a:off x="5549587" y="1708501"/>
            <a:ext cx="98890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39DD8D31-CC25-2571-2652-42DD96A3FE31}"/>
              </a:ext>
            </a:extLst>
          </p:cNvPr>
          <p:cNvCxnSpPr>
            <a:stCxn id="12" idx="2"/>
            <a:endCxn id="14" idx="0"/>
          </p:cNvCxnSpPr>
          <p:nvPr/>
        </p:nvCxnSpPr>
        <p:spPr>
          <a:xfrm flipH="1">
            <a:off x="4135040" y="4872850"/>
            <a:ext cx="2670" cy="4930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85E16-7EFD-7666-31C4-238913D8C907}"/>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471E3472-03C1-CCAB-2362-605404F08F38}"/>
              </a:ext>
            </a:extLst>
          </p:cNvPr>
          <p:cNvSpPr>
            <a:spLocks noGrp="1"/>
          </p:cNvSpPr>
          <p:nvPr>
            <p:ph type="body"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Dataset Collection Module</a:t>
            </a:r>
          </a:p>
          <a:p>
            <a:pPr>
              <a:lnSpc>
                <a:spcPct val="150000"/>
              </a:lnSpc>
            </a:pPr>
            <a:r>
              <a:rPr lang="en-US" dirty="0">
                <a:latin typeface="Times New Roman" panose="02020603050405020304" pitchFamily="18" charset="0"/>
                <a:cs typeface="Times New Roman" panose="02020603050405020304" pitchFamily="18" charset="0"/>
              </a:rPr>
              <a:t>Image Preprocessing Module</a:t>
            </a:r>
          </a:p>
          <a:p>
            <a:pPr>
              <a:lnSpc>
                <a:spcPct val="150000"/>
              </a:lnSpc>
            </a:pPr>
            <a:r>
              <a:rPr lang="en-US" dirty="0">
                <a:latin typeface="Times New Roman" panose="02020603050405020304" pitchFamily="18" charset="0"/>
                <a:cs typeface="Times New Roman" panose="02020603050405020304" pitchFamily="18" charset="0"/>
              </a:rPr>
              <a:t>Feature Extraction Module</a:t>
            </a:r>
          </a:p>
          <a:p>
            <a:pPr>
              <a:lnSpc>
                <a:spcPct val="150000"/>
              </a:lnSpc>
            </a:pPr>
            <a:r>
              <a:rPr lang="en-US" dirty="0">
                <a:latin typeface="Times New Roman" panose="02020603050405020304" pitchFamily="18" charset="0"/>
                <a:cs typeface="Times New Roman" panose="02020603050405020304" pitchFamily="18" charset="0"/>
              </a:rPr>
              <a:t>Model Training Module</a:t>
            </a:r>
          </a:p>
          <a:p>
            <a:pPr>
              <a:lnSpc>
                <a:spcPct val="150000"/>
              </a:lnSpc>
            </a:pPr>
            <a:r>
              <a:rPr lang="en-US" dirty="0">
                <a:latin typeface="Times New Roman" panose="02020603050405020304" pitchFamily="18" charset="0"/>
                <a:cs typeface="Times New Roman" panose="02020603050405020304" pitchFamily="18" charset="0"/>
              </a:rPr>
              <a:t>Breed Prediction Module</a:t>
            </a:r>
          </a:p>
          <a:p>
            <a:pPr>
              <a:lnSpc>
                <a:spcPct val="150000"/>
              </a:lnSpc>
            </a:pPr>
            <a:r>
              <a:rPr lang="en-US" dirty="0">
                <a:latin typeface="Times New Roman" panose="02020603050405020304" pitchFamily="18" charset="0"/>
                <a:cs typeface="Times New Roman" panose="02020603050405020304" pitchFamily="18" charset="0"/>
              </a:rPr>
              <a:t>Result Visualization Module</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5945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342900" lvl="0" indent="-190500" algn="just">
              <a:lnSpc>
                <a:spcPct val="200000"/>
              </a:lnSpc>
              <a:buClr>
                <a:schemeClr val="dk1"/>
              </a:buClr>
              <a:buSzPct val="100000"/>
            </a:pPr>
            <a:r>
              <a:rPr lang="en-US" dirty="0">
                <a:latin typeface="Cambria" panose="02040503050406030204" pitchFamily="18" charset="0"/>
                <a:ea typeface="Cambria" panose="02040503050406030204" pitchFamily="18" charset="0"/>
              </a:rPr>
              <a:t>Software and Hardware Requirements: </a:t>
            </a:r>
          </a:p>
        </p:txBody>
      </p:sp>
      <p:sp>
        <p:nvSpPr>
          <p:cNvPr id="115" name="Google Shape;115;p17"/>
          <p:cNvSpPr txBox="1">
            <a:spLocks noGrp="1"/>
          </p:cNvSpPr>
          <p:nvPr>
            <p:ph type="body" idx="1"/>
          </p:nvPr>
        </p:nvSpPr>
        <p:spPr>
          <a:xfrm>
            <a:off x="812800" y="1070487"/>
            <a:ext cx="10988842" cy="4953000"/>
          </a:xfrm>
          <a:prstGeom prst="rect">
            <a:avLst/>
          </a:prstGeom>
          <a:noFill/>
          <a:ln>
            <a:noFill/>
          </a:ln>
        </p:spPr>
        <p:txBody>
          <a:bodyPr spcFirstLastPara="1" wrap="square" lIns="91425" tIns="45700" rIns="91425" bIns="45700" anchor="t" anchorCtr="0">
            <a:normAutofit/>
          </a:bodyPr>
          <a:lstStyle/>
          <a:p>
            <a:pPr marL="76200" indent="0">
              <a:buNone/>
            </a:pPr>
            <a:r>
              <a:rPr lang="en-IN" sz="2000" b="1" dirty="0">
                <a:latin typeface="Times New Roman" panose="02020603050405020304" pitchFamily="18" charset="0"/>
                <a:cs typeface="Times New Roman" panose="02020603050405020304" pitchFamily="18" charset="0"/>
              </a:rPr>
              <a:t>Software Requirements</a:t>
            </a:r>
          </a:p>
          <a:p>
            <a:r>
              <a:rPr lang="en-IN" sz="2000" dirty="0">
                <a:latin typeface="Times New Roman" panose="02020603050405020304" pitchFamily="18" charset="0"/>
                <a:cs typeface="Times New Roman" panose="02020603050405020304" pitchFamily="18" charset="0"/>
              </a:rPr>
              <a:t>Operating System: Windows / Linux</a:t>
            </a:r>
          </a:p>
          <a:p>
            <a:r>
              <a:rPr lang="en-IN" sz="2000" dirty="0">
                <a:latin typeface="Times New Roman" panose="02020603050405020304" pitchFamily="18" charset="0"/>
                <a:cs typeface="Times New Roman" panose="02020603050405020304" pitchFamily="18" charset="0"/>
              </a:rPr>
              <a:t>Programming Language: Python</a:t>
            </a:r>
          </a:p>
          <a:p>
            <a:r>
              <a:rPr lang="en-IN" sz="2000" dirty="0">
                <a:latin typeface="Times New Roman" panose="02020603050405020304" pitchFamily="18" charset="0"/>
                <a:cs typeface="Times New Roman" panose="02020603050405020304" pitchFamily="18" charset="0"/>
              </a:rPr>
              <a:t>Frameworks: TensorFlow </a:t>
            </a:r>
          </a:p>
          <a:p>
            <a:r>
              <a:rPr lang="en-IN" sz="2000" dirty="0">
                <a:latin typeface="Times New Roman" panose="02020603050405020304" pitchFamily="18" charset="0"/>
                <a:cs typeface="Times New Roman" panose="02020603050405020304" pitchFamily="18" charset="0"/>
              </a:rPr>
              <a:t>Image Processing: OpenCV</a:t>
            </a:r>
          </a:p>
          <a:p>
            <a:r>
              <a:rPr lang="en-IN" sz="2000" dirty="0">
                <a:latin typeface="Times New Roman" panose="02020603050405020304" pitchFamily="18" charset="0"/>
                <a:cs typeface="Times New Roman" panose="02020603050405020304" pitchFamily="18" charset="0"/>
              </a:rPr>
              <a:t>Tools: VS Code,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a:t>
            </a:r>
          </a:p>
          <a:p>
            <a:pPr marL="76200" indent="0">
              <a:buNone/>
            </a:pPr>
            <a:r>
              <a:rPr lang="en-IN" sz="2000" b="1" dirty="0">
                <a:latin typeface="Times New Roman" panose="02020603050405020304" pitchFamily="18" charset="0"/>
                <a:cs typeface="Times New Roman" panose="02020603050405020304" pitchFamily="18" charset="0"/>
              </a:rPr>
              <a:t>Hardware Requirements</a:t>
            </a:r>
          </a:p>
          <a:p>
            <a:r>
              <a:rPr lang="en-IN" sz="2000" dirty="0">
                <a:latin typeface="Times New Roman" panose="02020603050405020304" pitchFamily="18" charset="0"/>
                <a:cs typeface="Times New Roman" panose="02020603050405020304" pitchFamily="18" charset="0"/>
              </a:rPr>
              <a:t>Processor: Intel i5 </a:t>
            </a:r>
          </a:p>
          <a:p>
            <a:r>
              <a:rPr lang="en-IN" sz="2000" dirty="0">
                <a:latin typeface="Times New Roman" panose="02020603050405020304" pitchFamily="18" charset="0"/>
                <a:cs typeface="Times New Roman" panose="02020603050405020304" pitchFamily="18" charset="0"/>
              </a:rPr>
              <a:t>RAM: Minimum 8 GB</a:t>
            </a:r>
          </a:p>
          <a:p>
            <a:r>
              <a:rPr lang="en-IN" sz="2000" dirty="0">
                <a:latin typeface="Times New Roman" panose="02020603050405020304" pitchFamily="18" charset="0"/>
                <a:cs typeface="Times New Roman" panose="02020603050405020304" pitchFamily="18" charset="0"/>
              </a:rPr>
              <a:t>Storage: Minimum 30 GB</a:t>
            </a:r>
          </a:p>
          <a:p>
            <a:r>
              <a:rPr lang="en-IN" sz="2000" dirty="0">
                <a:latin typeface="Times New Roman" panose="02020603050405020304" pitchFamily="18" charset="0"/>
                <a:cs typeface="Times New Roman" panose="02020603050405020304" pitchFamily="18" charset="0"/>
              </a:rPr>
              <a:t>Internet Connection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2" name="output.png" descr="output.png">
            <a:extLst>
              <a:ext uri="{FF2B5EF4-FFF2-40B4-BE49-F238E27FC236}">
                <a16:creationId xmlns:a16="http://schemas.microsoft.com/office/drawing/2014/main" id="{6974B649-9543-DB25-6721-600C53547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134244"/>
            <a:ext cx="10008010" cy="4965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hlinkClick r:id="rId3"/>
              </a:rPr>
              <a:t>https://github.com/aadityaa2611/ISE_02-University-Project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BFFFA4A0-F8ED-4EC9-86ED-2DB5289CF971}"/>
              </a:ext>
            </a:extLst>
          </p:cNvPr>
          <p:cNvSpPr>
            <a:spLocks noGrp="1" noChangeArrowheads="1"/>
          </p:cNvSpPr>
          <p:nvPr>
            <p:ph type="body" idx="1"/>
          </p:nvPr>
        </p:nvSpPr>
        <p:spPr bwMode="auto">
          <a:xfrm>
            <a:off x="596491" y="1328237"/>
            <a:ext cx="1110061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IN" sz="1800" dirty="0">
                <a:latin typeface="Times New Roman" panose="02020603050405020304" pitchFamily="18" charset="0"/>
                <a:cs typeface="Times New Roman" panose="02020603050405020304" pitchFamily="18" charset="0"/>
              </a:rPr>
              <a:t>S. Chakraborty, K. Karthik and S. Banik, "Graph Synthesis for Pig Breed Classification From Muzzle Images," in </a:t>
            </a:r>
            <a:r>
              <a:rPr lang="en-IN" sz="1800" i="1" dirty="0">
                <a:latin typeface="Times New Roman" panose="02020603050405020304" pitchFamily="18" charset="0"/>
                <a:cs typeface="Times New Roman" panose="02020603050405020304" pitchFamily="18" charset="0"/>
              </a:rPr>
              <a:t>IEEE Access</a:t>
            </a:r>
            <a:r>
              <a:rPr lang="en-IN" sz="1800" dirty="0">
                <a:latin typeface="Times New Roman" panose="02020603050405020304" pitchFamily="18" charset="0"/>
                <a:cs typeface="Times New Roman" panose="02020603050405020304" pitchFamily="18" charset="0"/>
              </a:rPr>
              <a:t>, vol. 9, pp. 127240-127258, 2021,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10.1109/ACCESS.2021.3111957</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3"/>
              </a:rPr>
              <a:t>https://ieeexplore.ieee.org/document/9535496</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Biglari and W. Tang, "A Vision-Based Cattle Recognition System Using TensorFlow for Livestock Water Intake Monitoring," in </a:t>
            </a:r>
            <a:r>
              <a:rPr lang="en-IN" sz="1800" i="1" dirty="0">
                <a:latin typeface="Times New Roman" panose="02020603050405020304" pitchFamily="18" charset="0"/>
                <a:cs typeface="Times New Roman" panose="02020603050405020304" pitchFamily="18" charset="0"/>
              </a:rPr>
              <a:t>IEEE Sensors Letters</a:t>
            </a:r>
            <a:r>
              <a:rPr lang="en-IN" sz="1800" dirty="0">
                <a:latin typeface="Times New Roman" panose="02020603050405020304" pitchFamily="18" charset="0"/>
                <a:cs typeface="Times New Roman" panose="02020603050405020304" pitchFamily="18" charset="0"/>
              </a:rPr>
              <a:t>, vol. 6, no. 11, pp. 1-4, Nov. 2022, Art no. 5501404,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10.1109/LSENS.2022.3215699.</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4"/>
              </a:rPr>
              <a:t>https://ieeexplore.ieee.org/document/9924566</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 -W. Bello, A. S. A. Mohamed and A. Z. Talib, "Contour Extraction of Individual Cattle From an Image Using Enhanced Mask R-CNN Instance Segmentation Method," in </a:t>
            </a:r>
            <a:r>
              <a:rPr lang="en-US" sz="1800" i="1" dirty="0">
                <a:latin typeface="Times New Roman" panose="02020603050405020304" pitchFamily="18" charset="0"/>
                <a:cs typeface="Times New Roman" panose="02020603050405020304" pitchFamily="18" charset="0"/>
              </a:rPr>
              <a:t>IEEE Access</a:t>
            </a:r>
            <a:r>
              <a:rPr lang="en-US" sz="1800" dirty="0">
                <a:latin typeface="Times New Roman" panose="02020603050405020304" pitchFamily="18" charset="0"/>
                <a:cs typeface="Times New Roman" panose="02020603050405020304" pitchFamily="18" charset="0"/>
              </a:rPr>
              <a:t>, vol. 9, pp. 56984-57000, 2021,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10.1109/ACCESS.2021.3072636</a:t>
            </a:r>
            <a:r>
              <a:rPr lang="en-IN" sz="1800" dirty="0">
                <a:latin typeface="Times New Roman" panose="02020603050405020304" pitchFamily="18" charset="0"/>
                <a:cs typeface="Times New Roman" panose="02020603050405020304" pitchFamily="18" charset="0"/>
              </a:rPr>
              <a:t>.</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5"/>
              </a:rPr>
              <a:t>https://ieeexplore.ieee.org/document/9400819</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6197C-0487-7B74-0282-3CA3424D3B44}"/>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5" name="TextBox 4">
            <a:extLst>
              <a:ext uri="{FF2B5EF4-FFF2-40B4-BE49-F238E27FC236}">
                <a16:creationId xmlns:a16="http://schemas.microsoft.com/office/drawing/2014/main" id="{6A845E3C-B762-5243-C206-98C103B6096F}"/>
              </a:ext>
            </a:extLst>
          </p:cNvPr>
          <p:cNvSpPr txBox="1"/>
          <p:nvPr/>
        </p:nvSpPr>
        <p:spPr>
          <a:xfrm>
            <a:off x="762000" y="1125087"/>
            <a:ext cx="10667999" cy="5909310"/>
          </a:xfrm>
          <a:prstGeom prst="rect">
            <a:avLst/>
          </a:prstGeom>
          <a:noFill/>
        </p:spPr>
        <p:txBody>
          <a:bodyPr wrap="square">
            <a:spAutoFit/>
          </a:bodyPr>
          <a:lstStyle/>
          <a:p>
            <a:r>
              <a:rPr lang="en-IN" sz="1800" b="0" i="0" dirty="0">
                <a:solidFill>
                  <a:srgbClr val="333333"/>
                </a:solidFill>
                <a:effectLst/>
                <a:latin typeface="Times New Roman" panose="02020603050405020304" pitchFamily="18" charset="0"/>
                <a:cs typeface="Times New Roman" panose="02020603050405020304" pitchFamily="18" charset="0"/>
              </a:rPr>
              <a:t>M. A. Rahman, M. A. Raihan, M. Shorif Uddin, M. Hasan and M. T. Habib, "A Comprehensive Analysis of Classic Machine Learning and Deep Learning </a:t>
            </a:r>
            <a:r>
              <a:rPr lang="en-IN" sz="1800" b="0" i="0" dirty="0" err="1">
                <a:solidFill>
                  <a:srgbClr val="333333"/>
                </a:solidFill>
                <a:effectLst/>
                <a:latin typeface="Times New Roman" panose="02020603050405020304" pitchFamily="18" charset="0"/>
                <a:cs typeface="Times New Roman" panose="02020603050405020304" pitchFamily="18" charset="0"/>
              </a:rPr>
              <a:t>Modeling</a:t>
            </a:r>
            <a:r>
              <a:rPr lang="en-IN" sz="1800" b="0" i="0" dirty="0">
                <a:solidFill>
                  <a:srgbClr val="333333"/>
                </a:solidFill>
                <a:effectLst/>
                <a:latin typeface="Times New Roman" panose="02020603050405020304" pitchFamily="18" charset="0"/>
                <a:cs typeface="Times New Roman" panose="02020603050405020304" pitchFamily="18" charset="0"/>
              </a:rPr>
              <a:t> for Breed Recognition of Bananas," in </a:t>
            </a:r>
            <a:r>
              <a:rPr lang="en-IN" sz="1800" b="0" i="1" dirty="0">
                <a:solidFill>
                  <a:srgbClr val="333333"/>
                </a:solidFill>
                <a:effectLst/>
                <a:latin typeface="Times New Roman" panose="02020603050405020304" pitchFamily="18" charset="0"/>
                <a:cs typeface="Times New Roman" panose="02020603050405020304" pitchFamily="18" charset="0"/>
              </a:rPr>
              <a:t>IEEE Access</a:t>
            </a:r>
            <a:r>
              <a:rPr lang="en-IN" sz="1800" b="0" i="0" dirty="0">
                <a:solidFill>
                  <a:srgbClr val="333333"/>
                </a:solidFill>
                <a:effectLst/>
                <a:latin typeface="Times New Roman" panose="02020603050405020304" pitchFamily="18" charset="0"/>
                <a:cs typeface="Times New Roman" panose="02020603050405020304" pitchFamily="18" charset="0"/>
              </a:rPr>
              <a:t>, vol. 13, pp. 194562-194579, 2025, </a:t>
            </a:r>
            <a:r>
              <a:rPr lang="en-IN" sz="1800" b="0" i="0" dirty="0" err="1">
                <a:solidFill>
                  <a:srgbClr val="333333"/>
                </a:solidFill>
                <a:effectLst/>
                <a:latin typeface="Times New Roman" panose="02020603050405020304" pitchFamily="18" charset="0"/>
                <a:cs typeface="Times New Roman" panose="02020603050405020304" pitchFamily="18" charset="0"/>
              </a:rPr>
              <a:t>doi</a:t>
            </a:r>
            <a:r>
              <a:rPr lang="en-IN" sz="1800" b="0" i="0" dirty="0">
                <a:solidFill>
                  <a:srgbClr val="333333"/>
                </a:solidFill>
                <a:effectLst/>
                <a:latin typeface="Times New Roman" panose="02020603050405020304" pitchFamily="18" charset="0"/>
                <a:cs typeface="Times New Roman" panose="02020603050405020304" pitchFamily="18" charset="0"/>
              </a:rPr>
              <a:t>: 10.1109/ACCESS.2025.3631557</a:t>
            </a:r>
          </a:p>
          <a:p>
            <a:r>
              <a:rPr lang="en-IN" sz="1800" b="1" dirty="0">
                <a:solidFill>
                  <a:srgbClr val="333333"/>
                </a:solidFill>
                <a:latin typeface="Times New Roman" panose="02020603050405020304" pitchFamily="18" charset="0"/>
                <a:cs typeface="Times New Roman" panose="02020603050405020304" pitchFamily="18" charset="0"/>
              </a:rPr>
              <a:t>Link: </a:t>
            </a:r>
            <a:r>
              <a:rPr lang="en-IN" sz="1800" dirty="0">
                <a:solidFill>
                  <a:srgbClr val="333333"/>
                </a:solidFill>
                <a:latin typeface="Times New Roman" panose="02020603050405020304" pitchFamily="18" charset="0"/>
                <a:cs typeface="Times New Roman" panose="02020603050405020304" pitchFamily="18" charset="0"/>
                <a:hlinkClick r:id="rId2"/>
              </a:rPr>
              <a:t>https://ieeexplore.ieee.org/document/11239069</a:t>
            </a:r>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N. R. </a:t>
            </a:r>
            <a:r>
              <a:rPr lang="en-IN" sz="1800" dirty="0" err="1">
                <a:latin typeface="Times New Roman" panose="02020603050405020304" pitchFamily="18" charset="0"/>
                <a:cs typeface="Times New Roman" panose="02020603050405020304" pitchFamily="18" charset="0"/>
              </a:rPr>
              <a:t>Duraiswami</a:t>
            </a:r>
            <a:r>
              <a:rPr lang="en-IN" sz="1800" dirty="0">
                <a:latin typeface="Times New Roman" panose="02020603050405020304" pitchFamily="18" charset="0"/>
                <a:cs typeface="Times New Roman" panose="02020603050405020304" pitchFamily="18" charset="0"/>
              </a:rPr>
              <a:t>, S. Bhalerao, A. Watni and C. N. Aher, "Cattle Breed Detection and Categorization Using Image Processing and Machine Learning," </a:t>
            </a:r>
            <a:r>
              <a:rPr lang="en-IN" sz="1800" i="1" dirty="0">
                <a:latin typeface="Times New Roman" panose="02020603050405020304" pitchFamily="18" charset="0"/>
                <a:cs typeface="Times New Roman" panose="02020603050405020304" pitchFamily="18" charset="0"/>
              </a:rPr>
              <a:t>2022 International Conference on Advancements in Smart, Secure and Intelligent Computing (ASSIC)</a:t>
            </a:r>
            <a:r>
              <a:rPr lang="en-IN" sz="1800" dirty="0">
                <a:latin typeface="Times New Roman" panose="02020603050405020304" pitchFamily="18" charset="0"/>
                <a:cs typeface="Times New Roman" panose="02020603050405020304" pitchFamily="18" charset="0"/>
              </a:rPr>
              <a:t>, Bhubaneswar, India, 2022, pp. 1-6,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10.1109/ASSIC55218.2022.10088381.</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3"/>
              </a:rPr>
              <a:t>https://ieeexplore.ieee.org/document/10088381</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 C. Iyer and N. M. </a:t>
            </a:r>
            <a:r>
              <a:rPr lang="en-IN" sz="1800" dirty="0" err="1">
                <a:latin typeface="Times New Roman" panose="02020603050405020304" pitchFamily="18" charset="0"/>
                <a:cs typeface="Times New Roman" panose="02020603050405020304" pitchFamily="18" charset="0"/>
              </a:rPr>
              <a:t>Shekokar</a:t>
            </a:r>
            <a:r>
              <a:rPr lang="en-IN" sz="1800" dirty="0">
                <a:latin typeface="Times New Roman" panose="02020603050405020304" pitchFamily="18" charset="0"/>
                <a:cs typeface="Times New Roman" panose="02020603050405020304" pitchFamily="18" charset="0"/>
              </a:rPr>
              <a:t>, "Identifying the Optimal Deep Learning Based Image Recognition Technique for Dog Breed Detection," </a:t>
            </a:r>
            <a:r>
              <a:rPr lang="en-IN" sz="1800" i="1" dirty="0">
                <a:latin typeface="Times New Roman" panose="02020603050405020304" pitchFamily="18" charset="0"/>
                <a:cs typeface="Times New Roman" panose="02020603050405020304" pitchFamily="18" charset="0"/>
              </a:rPr>
              <a:t>2023 14th International Conference on Computing Communication and Networking Technologies (ICCCNT)</a:t>
            </a:r>
            <a:r>
              <a:rPr lang="en-IN" sz="1800" dirty="0">
                <a:latin typeface="Times New Roman" panose="02020603050405020304" pitchFamily="18" charset="0"/>
                <a:cs typeface="Times New Roman" panose="02020603050405020304" pitchFamily="18" charset="0"/>
              </a:rPr>
              <a:t>, Delhi, India, 2023, pp. 1-10,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10.1109/ICCCNT56998.2023.10307245.</a:t>
            </a:r>
          </a:p>
          <a:p>
            <a:r>
              <a:rPr lang="en-IN" sz="1800" b="1"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4"/>
              </a:rPr>
              <a:t>https://ieeexplore.ieee.org/document/10307245</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395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A9463-F98C-A9E2-B357-A882B1951A01}"/>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5" name="TextBox 4">
            <a:extLst>
              <a:ext uri="{FF2B5EF4-FFF2-40B4-BE49-F238E27FC236}">
                <a16:creationId xmlns:a16="http://schemas.microsoft.com/office/drawing/2014/main" id="{B0FF2450-350F-0535-1962-0F8C6F0AA64C}"/>
              </a:ext>
            </a:extLst>
          </p:cNvPr>
          <p:cNvSpPr txBox="1"/>
          <p:nvPr/>
        </p:nvSpPr>
        <p:spPr>
          <a:xfrm>
            <a:off x="812800" y="1228050"/>
            <a:ext cx="10667999" cy="5632311"/>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C. Bhanuprakash and V. N. V, "Identification of Cattle's Breed Type by Processing Image Using Deep Learning Models," </a:t>
            </a:r>
            <a:r>
              <a:rPr lang="en-IN" sz="1800" i="1" dirty="0">
                <a:latin typeface="Times New Roman" panose="02020603050405020304" pitchFamily="18" charset="0"/>
                <a:cs typeface="Times New Roman" panose="02020603050405020304" pitchFamily="18" charset="0"/>
              </a:rPr>
              <a:t>2024 International Conference on Integrated Intelligence and Communication Systems (ICIICS)</a:t>
            </a:r>
            <a:r>
              <a:rPr lang="en-IN" sz="1800" dirty="0">
                <a:latin typeface="Times New Roman" panose="02020603050405020304" pitchFamily="18" charset="0"/>
                <a:cs typeface="Times New Roman" panose="02020603050405020304" pitchFamily="18" charset="0"/>
              </a:rPr>
              <a:t>, Kalaburagi, India, 2024, pp. 1-7,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10.1109/ICIICS63763.2024.10859520.</a:t>
            </a:r>
          </a:p>
          <a:p>
            <a:r>
              <a:rPr lang="en-IN" sz="1800" b="1"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2"/>
              </a:rPr>
              <a:t>https://ieeexplore.ieee.org/document/10859520</a:t>
            </a:r>
            <a:endParaRPr lang="en-IN" sz="1800" dirty="0">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r>
              <a:rPr lang="en-IN" sz="1800" b="0" i="0" dirty="0">
                <a:solidFill>
                  <a:srgbClr val="333333"/>
                </a:solidFill>
                <a:effectLst/>
                <a:latin typeface="Times New Roman" panose="02020603050405020304" pitchFamily="18" charset="0"/>
                <a:cs typeface="Times New Roman" panose="02020603050405020304" pitchFamily="18" charset="0"/>
              </a:rPr>
              <a:t>Singh, R. Kothari and V. Arulalan, "Dog Breed Detection using YOLOv7 and WOA-CNN," </a:t>
            </a:r>
            <a:r>
              <a:rPr lang="en-IN" sz="1800" b="0" i="1" dirty="0">
                <a:solidFill>
                  <a:srgbClr val="333333"/>
                </a:solidFill>
                <a:effectLst/>
                <a:latin typeface="Times New Roman" panose="02020603050405020304" pitchFamily="18" charset="0"/>
                <a:cs typeface="Times New Roman" panose="02020603050405020304" pitchFamily="18" charset="0"/>
              </a:rPr>
              <a:t>2024 10th International Conference on Communication and Signal Processing (ICCSP)</a:t>
            </a:r>
            <a:r>
              <a:rPr lang="en-IN" sz="1800" b="0" i="0" dirty="0">
                <a:solidFill>
                  <a:srgbClr val="333333"/>
                </a:solidFill>
                <a:effectLst/>
                <a:latin typeface="Times New Roman" panose="02020603050405020304" pitchFamily="18" charset="0"/>
                <a:cs typeface="Times New Roman" panose="02020603050405020304" pitchFamily="18" charset="0"/>
              </a:rPr>
              <a:t>, </a:t>
            </a:r>
            <a:r>
              <a:rPr lang="en-IN" sz="1800" b="0" i="0" dirty="0" err="1">
                <a:solidFill>
                  <a:srgbClr val="333333"/>
                </a:solidFill>
                <a:effectLst/>
                <a:latin typeface="Times New Roman" panose="02020603050405020304" pitchFamily="18" charset="0"/>
                <a:cs typeface="Times New Roman" panose="02020603050405020304" pitchFamily="18" charset="0"/>
              </a:rPr>
              <a:t>Melmaruvathur</a:t>
            </a:r>
            <a:r>
              <a:rPr lang="en-IN" sz="1800" b="0" i="0" dirty="0">
                <a:solidFill>
                  <a:srgbClr val="333333"/>
                </a:solidFill>
                <a:effectLst/>
                <a:latin typeface="Times New Roman" panose="02020603050405020304" pitchFamily="18" charset="0"/>
                <a:cs typeface="Times New Roman" panose="02020603050405020304" pitchFamily="18" charset="0"/>
              </a:rPr>
              <a:t>, India, 2024, pp. 1477-1482, </a:t>
            </a:r>
            <a:r>
              <a:rPr lang="en-IN" sz="1800" b="0" i="0" dirty="0" err="1">
                <a:solidFill>
                  <a:srgbClr val="333333"/>
                </a:solidFill>
                <a:effectLst/>
                <a:latin typeface="Times New Roman" panose="02020603050405020304" pitchFamily="18" charset="0"/>
                <a:cs typeface="Times New Roman" panose="02020603050405020304" pitchFamily="18" charset="0"/>
              </a:rPr>
              <a:t>doi</a:t>
            </a:r>
            <a:r>
              <a:rPr lang="en-IN" sz="1800" b="0" i="0" dirty="0">
                <a:solidFill>
                  <a:srgbClr val="333333"/>
                </a:solidFill>
                <a:effectLst/>
                <a:latin typeface="Times New Roman" panose="02020603050405020304" pitchFamily="18" charset="0"/>
                <a:cs typeface="Times New Roman" panose="02020603050405020304" pitchFamily="18" charset="0"/>
              </a:rPr>
              <a:t>: 10.1109/ICCSP60870.2024.10543599</a:t>
            </a:r>
          </a:p>
          <a:p>
            <a:r>
              <a:rPr lang="en-IN" sz="1800" b="1" dirty="0">
                <a:solidFill>
                  <a:srgbClr val="333333"/>
                </a:solidFill>
                <a:latin typeface="Times New Roman" panose="02020603050405020304" pitchFamily="18" charset="0"/>
                <a:cs typeface="Times New Roman" panose="02020603050405020304" pitchFamily="18" charset="0"/>
              </a:rPr>
              <a:t>Link: </a:t>
            </a:r>
            <a:r>
              <a:rPr lang="en-IN" sz="1800" dirty="0">
                <a:solidFill>
                  <a:srgbClr val="333333"/>
                </a:solidFill>
                <a:latin typeface="Times New Roman" panose="02020603050405020304" pitchFamily="18" charset="0"/>
                <a:cs typeface="Times New Roman" panose="02020603050405020304" pitchFamily="18" charset="0"/>
                <a:hlinkClick r:id="rId3"/>
              </a:rPr>
              <a:t>https://ieeexplore.ieee.org/document/10543599</a:t>
            </a:r>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H. Zhao, P. Li, Z. Chen, K. Guo, Y. Chen and C. Su, "Cow Face Recognition with Noise Labels Using Vision Transformer," </a:t>
            </a:r>
            <a:r>
              <a:rPr lang="en-IN" sz="1800" i="1" dirty="0">
                <a:latin typeface="Times New Roman" panose="02020603050405020304" pitchFamily="18" charset="0"/>
                <a:cs typeface="Times New Roman" panose="02020603050405020304" pitchFamily="18" charset="0"/>
              </a:rPr>
              <a:t>2023 IEEE 4th International Conference on Pattern Recognition and Machine Learning (PRML)</a:t>
            </a:r>
            <a:r>
              <a:rPr lang="en-IN" sz="1800" dirty="0">
                <a:latin typeface="Times New Roman" panose="02020603050405020304" pitchFamily="18" charset="0"/>
                <a:cs typeface="Times New Roman" panose="02020603050405020304" pitchFamily="18" charset="0"/>
              </a:rPr>
              <a:t>, Urumqi, China, 2023, pp. 93-98,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10.1109/PRML59573.2023.10348318</a:t>
            </a:r>
          </a:p>
          <a:p>
            <a:r>
              <a:rPr lang="en-IN" sz="1800" b="1" dirty="0">
                <a:solidFill>
                  <a:srgbClr val="333333"/>
                </a:solidFill>
                <a:latin typeface="Times New Roman" panose="02020603050405020304" pitchFamily="18" charset="0"/>
                <a:cs typeface="Times New Roman" panose="02020603050405020304" pitchFamily="18" charset="0"/>
              </a:rPr>
              <a:t>Link:</a:t>
            </a:r>
            <a:r>
              <a:rPr lang="en-IN" sz="1800" dirty="0">
                <a:solidFill>
                  <a:srgbClr val="333333"/>
                </a:solidFill>
                <a:latin typeface="Times New Roman" panose="02020603050405020304" pitchFamily="18" charset="0"/>
                <a:cs typeface="Times New Roman" panose="02020603050405020304" pitchFamily="18" charset="0"/>
              </a:rPr>
              <a:t> </a:t>
            </a:r>
            <a:r>
              <a:rPr lang="en-IN" sz="1800" dirty="0">
                <a:solidFill>
                  <a:srgbClr val="333333"/>
                </a:solidFill>
                <a:latin typeface="Times New Roman" panose="02020603050405020304" pitchFamily="18" charset="0"/>
                <a:cs typeface="Times New Roman" panose="02020603050405020304" pitchFamily="18" charset="0"/>
                <a:hlinkClick r:id="rId4"/>
              </a:rPr>
              <a:t>https://ieeexplore.ieee.org/document/10348318</a:t>
            </a:r>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b="0" i="0" dirty="0">
              <a:solidFill>
                <a:srgbClr val="333333"/>
              </a:solidFill>
              <a:effectLst/>
              <a:latin typeface="Times New Roman" panose="02020603050405020304" pitchFamily="18" charset="0"/>
              <a:cs typeface="Times New Roman" panose="02020603050405020304" pitchFamily="18" charset="0"/>
            </a:endParaRPr>
          </a:p>
          <a:p>
            <a:endParaRPr lang="en-IN" sz="1800" b="0" i="0" dirty="0">
              <a:solidFill>
                <a:srgbClr val="333333"/>
              </a:solidFill>
              <a:effectLst/>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977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007-5AEF-E1F7-ABA3-09C1801B9BE4}"/>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5" name="TextBox 4">
            <a:extLst>
              <a:ext uri="{FF2B5EF4-FFF2-40B4-BE49-F238E27FC236}">
                <a16:creationId xmlns:a16="http://schemas.microsoft.com/office/drawing/2014/main" id="{C7EFE8B5-6DEE-627F-939A-5BA9A7BEEDEF}"/>
              </a:ext>
            </a:extLst>
          </p:cNvPr>
          <p:cNvSpPr txBox="1"/>
          <p:nvPr/>
        </p:nvSpPr>
        <p:spPr>
          <a:xfrm>
            <a:off x="812799" y="1076444"/>
            <a:ext cx="10563123" cy="590931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Z. Zheng, B. Wen and Z. Weng, "Research on Multi-View Cattle Facial Recognition Algorithm Based on Feature Matching," </a:t>
            </a:r>
            <a:r>
              <a:rPr lang="en-US" sz="1800" i="1" dirty="0">
                <a:latin typeface="Times New Roman" panose="02020603050405020304" pitchFamily="18" charset="0"/>
                <a:cs typeface="Times New Roman" panose="02020603050405020304" pitchFamily="18" charset="0"/>
              </a:rPr>
              <a:t>2025 IEEE 8th International Conference on Signal Processing and Machine Learning (SPML)</a:t>
            </a:r>
            <a:r>
              <a:rPr lang="en-US" sz="1800" dirty="0">
                <a:latin typeface="Times New Roman" panose="02020603050405020304" pitchFamily="18" charset="0"/>
                <a:cs typeface="Times New Roman" panose="02020603050405020304" pitchFamily="18" charset="0"/>
              </a:rPr>
              <a:t>, Hohhot, China, 2025, pp. 5-9,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10.1109/SPML66318.2025.11199799.</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Link: </a:t>
            </a:r>
            <a:r>
              <a:rPr lang="en-US" sz="1800" dirty="0">
                <a:latin typeface="Times New Roman" panose="02020603050405020304" pitchFamily="18" charset="0"/>
                <a:cs typeface="Times New Roman" panose="02020603050405020304" pitchFamily="18" charset="0"/>
                <a:hlinkClick r:id="rId2"/>
              </a:rPr>
              <a:t>https://ieeexplore.ieee.org/document/11199799</a:t>
            </a:r>
            <a:endParaRPr lang="en-US" sz="1800" dirty="0">
              <a:latin typeface="Times New Roman" panose="02020603050405020304" pitchFamily="18" charset="0"/>
              <a:cs typeface="Times New Roman" panose="02020603050405020304" pitchFamily="18" charset="0"/>
            </a:endParaRPr>
          </a:p>
          <a:p>
            <a:endParaRPr lang="en-IN" sz="1800" b="0" i="0" dirty="0">
              <a:solidFill>
                <a:srgbClr val="333333"/>
              </a:solidFill>
              <a:effectLst/>
              <a:latin typeface="Times New Roman" panose="02020603050405020304" pitchFamily="18" charset="0"/>
              <a:cs typeface="Times New Roman" panose="02020603050405020304" pitchFamily="18" charset="0"/>
            </a:endParaRPr>
          </a:p>
          <a:p>
            <a:r>
              <a:rPr lang="en-IN" sz="1800" b="0" i="0" dirty="0">
                <a:solidFill>
                  <a:srgbClr val="333333"/>
                </a:solidFill>
                <a:effectLst/>
                <a:latin typeface="Times New Roman" panose="02020603050405020304" pitchFamily="18" charset="0"/>
                <a:cs typeface="Times New Roman" panose="02020603050405020304" pitchFamily="18" charset="0"/>
              </a:rPr>
              <a:t>J. -W. Chae, H. -S. Sim, C. -W. Lee, C. -S. Choi and H. -C. Cho, "Video-Based Analysis of Cattle </a:t>
            </a:r>
            <a:r>
              <a:rPr lang="en-IN" sz="1800" b="0" i="0" dirty="0" err="1">
                <a:solidFill>
                  <a:srgbClr val="333333"/>
                </a:solidFill>
                <a:effectLst/>
                <a:latin typeface="Times New Roman" panose="02020603050405020304" pitchFamily="18" charset="0"/>
                <a:cs typeface="Times New Roman" panose="02020603050405020304" pitchFamily="18" charset="0"/>
              </a:rPr>
              <a:t>Behaviors</a:t>
            </a:r>
            <a:r>
              <a:rPr lang="en-IN" sz="1800" b="0" i="0" dirty="0">
                <a:solidFill>
                  <a:srgbClr val="333333"/>
                </a:solidFill>
                <a:effectLst/>
                <a:latin typeface="Times New Roman" panose="02020603050405020304" pitchFamily="18" charset="0"/>
                <a:cs typeface="Times New Roman" panose="02020603050405020304" pitchFamily="18" charset="0"/>
              </a:rPr>
              <a:t>: Improved Classification Using </a:t>
            </a:r>
            <a:r>
              <a:rPr lang="en-IN" sz="1800" b="0" i="0" dirty="0" err="1">
                <a:solidFill>
                  <a:srgbClr val="333333"/>
                </a:solidFill>
                <a:effectLst/>
                <a:latin typeface="Times New Roman" panose="02020603050405020304" pitchFamily="18" charset="0"/>
                <a:cs typeface="Times New Roman" panose="02020603050405020304" pitchFamily="18" charset="0"/>
              </a:rPr>
              <a:t>FlowEQ</a:t>
            </a:r>
            <a:r>
              <a:rPr lang="en-IN" sz="1800" b="0" i="0" dirty="0">
                <a:solidFill>
                  <a:srgbClr val="333333"/>
                </a:solidFill>
                <a:effectLst/>
                <a:latin typeface="Times New Roman" panose="02020603050405020304" pitchFamily="18" charset="0"/>
                <a:cs typeface="Times New Roman" panose="02020603050405020304" pitchFamily="18" charset="0"/>
              </a:rPr>
              <a:t> Transform," in </a:t>
            </a:r>
            <a:r>
              <a:rPr lang="en-IN" sz="1800" b="0" i="1" dirty="0">
                <a:solidFill>
                  <a:srgbClr val="333333"/>
                </a:solidFill>
                <a:effectLst/>
                <a:latin typeface="Times New Roman" panose="02020603050405020304" pitchFamily="18" charset="0"/>
                <a:cs typeface="Times New Roman" panose="02020603050405020304" pitchFamily="18" charset="0"/>
              </a:rPr>
              <a:t>IEEE Access</a:t>
            </a:r>
            <a:r>
              <a:rPr lang="en-IN" sz="1800" b="0" i="0" dirty="0">
                <a:solidFill>
                  <a:srgbClr val="333333"/>
                </a:solidFill>
                <a:effectLst/>
                <a:latin typeface="Times New Roman" panose="02020603050405020304" pitchFamily="18" charset="0"/>
                <a:cs typeface="Times New Roman" panose="02020603050405020304" pitchFamily="18" charset="0"/>
              </a:rPr>
              <a:t>, vol. 12, pp. 42860-42867, 2024, </a:t>
            </a:r>
            <a:r>
              <a:rPr lang="en-IN" sz="1800" b="0" i="0" dirty="0" err="1">
                <a:solidFill>
                  <a:srgbClr val="333333"/>
                </a:solidFill>
                <a:effectLst/>
                <a:latin typeface="Times New Roman" panose="02020603050405020304" pitchFamily="18" charset="0"/>
                <a:cs typeface="Times New Roman" panose="02020603050405020304" pitchFamily="18" charset="0"/>
              </a:rPr>
              <a:t>doi</a:t>
            </a:r>
            <a:r>
              <a:rPr lang="en-IN" sz="1800" b="0" i="0" dirty="0">
                <a:solidFill>
                  <a:srgbClr val="333333"/>
                </a:solidFill>
                <a:effectLst/>
                <a:latin typeface="Times New Roman" panose="02020603050405020304" pitchFamily="18" charset="0"/>
                <a:cs typeface="Times New Roman" panose="02020603050405020304" pitchFamily="18" charset="0"/>
              </a:rPr>
              <a:t>: 10.1109/ACCESS.2024.3379277</a:t>
            </a:r>
          </a:p>
          <a:p>
            <a:r>
              <a:rPr lang="en-IN" sz="1800" b="1" dirty="0">
                <a:solidFill>
                  <a:srgbClr val="333333"/>
                </a:solidFill>
                <a:latin typeface="Times New Roman" panose="02020603050405020304" pitchFamily="18" charset="0"/>
                <a:cs typeface="Times New Roman" panose="02020603050405020304" pitchFamily="18" charset="0"/>
              </a:rPr>
              <a:t>Link: </a:t>
            </a:r>
            <a:r>
              <a:rPr lang="en-IN" sz="1800" b="1" dirty="0">
                <a:solidFill>
                  <a:srgbClr val="333333"/>
                </a:solidFill>
                <a:latin typeface="Times New Roman" panose="02020603050405020304" pitchFamily="18" charset="0"/>
                <a:cs typeface="Times New Roman" panose="02020603050405020304" pitchFamily="18" charset="0"/>
                <a:hlinkClick r:id="rId3"/>
              </a:rPr>
              <a:t>https://ieeexplore.ieee.org/document/10475331</a:t>
            </a:r>
            <a:endParaRPr lang="en-IN" sz="1800" b="1" dirty="0">
              <a:solidFill>
                <a:srgbClr val="333333"/>
              </a:solidFill>
              <a:latin typeface="Times New Roman" panose="02020603050405020304" pitchFamily="18" charset="0"/>
              <a:cs typeface="Times New Roman" panose="02020603050405020304" pitchFamily="18" charset="0"/>
            </a:endParaRPr>
          </a:p>
          <a:p>
            <a:endParaRPr lang="en-IN" sz="1800" b="1" dirty="0">
              <a:solidFill>
                <a:srgbClr val="333333"/>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W. </a:t>
            </a:r>
            <a:r>
              <a:rPr lang="en-IN" sz="1800" dirty="0" err="1">
                <a:latin typeface="Times New Roman" panose="02020603050405020304" pitchFamily="18" charset="0"/>
                <a:cs typeface="Times New Roman" panose="02020603050405020304" pitchFamily="18" charset="0"/>
              </a:rPr>
              <a:t>Kusakunniran</a:t>
            </a:r>
            <a:r>
              <a:rPr lang="en-IN" sz="1800" dirty="0">
                <a:latin typeface="Times New Roman" panose="02020603050405020304" pitchFamily="18" charset="0"/>
                <a:cs typeface="Times New Roman" panose="02020603050405020304" pitchFamily="18" charset="0"/>
              </a:rPr>
              <a:t>, A. </a:t>
            </a:r>
            <a:r>
              <a:rPr lang="en-IN" sz="1800" dirty="0" err="1">
                <a:latin typeface="Times New Roman" panose="02020603050405020304" pitchFamily="18" charset="0"/>
                <a:cs typeface="Times New Roman" panose="02020603050405020304" pitchFamily="18" charset="0"/>
              </a:rPr>
              <a:t>Wiratsudakul</a:t>
            </a:r>
            <a:r>
              <a:rPr lang="en-IN" sz="1800" dirty="0">
                <a:latin typeface="Times New Roman" panose="02020603050405020304" pitchFamily="18" charset="0"/>
                <a:cs typeface="Times New Roman" panose="02020603050405020304" pitchFamily="18" charset="0"/>
              </a:rPr>
              <a:t>, U. Chuachan, S. </a:t>
            </a:r>
            <a:r>
              <a:rPr lang="en-IN" sz="1800" dirty="0" err="1">
                <a:latin typeface="Times New Roman" panose="02020603050405020304" pitchFamily="18" charset="0"/>
                <a:cs typeface="Times New Roman" panose="02020603050405020304" pitchFamily="18" charset="0"/>
              </a:rPr>
              <a:t>Kanchanapreechakorn</a:t>
            </a:r>
            <a:r>
              <a:rPr lang="en-IN" sz="1800" dirty="0">
                <a:latin typeface="Times New Roman" panose="02020603050405020304" pitchFamily="18" charset="0"/>
                <a:cs typeface="Times New Roman" panose="02020603050405020304" pitchFamily="18" charset="0"/>
              </a:rPr>
              <a:t> and T. </a:t>
            </a:r>
            <a:r>
              <a:rPr lang="en-IN" sz="1800" dirty="0" err="1">
                <a:latin typeface="Times New Roman" panose="02020603050405020304" pitchFamily="18" charset="0"/>
                <a:cs typeface="Times New Roman" panose="02020603050405020304" pitchFamily="18" charset="0"/>
              </a:rPr>
              <a:t>Imaromkul</a:t>
            </a:r>
            <a:r>
              <a:rPr lang="en-IN" sz="1800" dirty="0">
                <a:latin typeface="Times New Roman" panose="02020603050405020304" pitchFamily="18" charset="0"/>
                <a:cs typeface="Times New Roman" panose="02020603050405020304" pitchFamily="18" charset="0"/>
              </a:rPr>
              <a:t>, "Automatic cattle identification based on fusion of texture features extracted from muzzle images," </a:t>
            </a:r>
            <a:r>
              <a:rPr lang="en-IN" sz="1800" i="1" dirty="0">
                <a:latin typeface="Times New Roman" panose="02020603050405020304" pitchFamily="18" charset="0"/>
                <a:cs typeface="Times New Roman" panose="02020603050405020304" pitchFamily="18" charset="0"/>
              </a:rPr>
              <a:t>2018 IEEE International Conference on Industrial Technology (ICIT)</a:t>
            </a:r>
            <a:r>
              <a:rPr lang="en-IN" sz="1800" dirty="0">
                <a:latin typeface="Times New Roman" panose="02020603050405020304" pitchFamily="18" charset="0"/>
                <a:cs typeface="Times New Roman" panose="02020603050405020304" pitchFamily="18" charset="0"/>
              </a:rPr>
              <a:t>, Lyon, France, 2018, pp. 1484-1489,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10.1109/ICIT.2018.8352400.</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4"/>
              </a:rPr>
              <a:t>https://ieeexplore.ieee.org/document/8352400</a:t>
            </a:r>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310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488BB-C1A1-0B50-1111-876C9DD4EE35}"/>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5" name="TextBox 4">
            <a:extLst>
              <a:ext uri="{FF2B5EF4-FFF2-40B4-BE49-F238E27FC236}">
                <a16:creationId xmlns:a16="http://schemas.microsoft.com/office/drawing/2014/main" id="{BB582E12-C76A-EBBB-5F8A-EF76B3927550}"/>
              </a:ext>
            </a:extLst>
          </p:cNvPr>
          <p:cNvSpPr txBox="1"/>
          <p:nvPr/>
        </p:nvSpPr>
        <p:spPr>
          <a:xfrm>
            <a:off x="812799" y="1217992"/>
            <a:ext cx="10667999" cy="4247317"/>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W. </a:t>
            </a:r>
            <a:r>
              <a:rPr lang="en-IN" sz="1800" dirty="0" err="1">
                <a:latin typeface="Times New Roman" panose="02020603050405020304" pitchFamily="18" charset="0"/>
                <a:cs typeface="Times New Roman" panose="02020603050405020304" pitchFamily="18" charset="0"/>
              </a:rPr>
              <a:t>Kusakunniran</a:t>
            </a:r>
            <a:r>
              <a:rPr lang="en-IN" sz="1800" dirty="0">
                <a:latin typeface="Times New Roman" panose="02020603050405020304" pitchFamily="18" charset="0"/>
                <a:cs typeface="Times New Roman" panose="02020603050405020304" pitchFamily="18" charset="0"/>
              </a:rPr>
              <a:t> and T. </a:t>
            </a:r>
            <a:r>
              <a:rPr lang="en-IN" sz="1800" dirty="0" err="1">
                <a:latin typeface="Times New Roman" panose="02020603050405020304" pitchFamily="18" charset="0"/>
                <a:cs typeface="Times New Roman" panose="02020603050405020304" pitchFamily="18" charset="0"/>
              </a:rPr>
              <a:t>Chaiviroonjaroen</a:t>
            </a:r>
            <a:r>
              <a:rPr lang="en-IN" sz="1800" dirty="0">
                <a:latin typeface="Times New Roman" panose="02020603050405020304" pitchFamily="18" charset="0"/>
                <a:cs typeface="Times New Roman" panose="02020603050405020304" pitchFamily="18" charset="0"/>
              </a:rPr>
              <a:t>, "Automatic Cattle Identification based on Multi-Channel LBP on Muzzle Images," </a:t>
            </a:r>
            <a:r>
              <a:rPr lang="en-IN" sz="1800" i="1" dirty="0">
                <a:latin typeface="Times New Roman" panose="02020603050405020304" pitchFamily="18" charset="0"/>
                <a:cs typeface="Times New Roman" panose="02020603050405020304" pitchFamily="18" charset="0"/>
              </a:rPr>
              <a:t>2018 International Conference on Sustainable Information Engineering and Technology (SIET)</a:t>
            </a:r>
            <a:r>
              <a:rPr lang="en-IN" sz="1800" dirty="0">
                <a:latin typeface="Times New Roman" panose="02020603050405020304" pitchFamily="18" charset="0"/>
                <a:cs typeface="Times New Roman" panose="02020603050405020304" pitchFamily="18" charset="0"/>
              </a:rPr>
              <a:t>, Malang, Indonesia, 2018, pp. 1-5,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10.1109/SIET.2018.8693161.</a:t>
            </a:r>
          </a:p>
          <a:p>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2"/>
              </a:rPr>
              <a:t>https://ieeexplore.ieee.org/document/8693161</a:t>
            </a:r>
            <a:endParaRPr lang="en-IN" sz="1800" b="1"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J. R. </a:t>
            </a:r>
            <a:r>
              <a:rPr lang="en-IN" sz="1800" dirty="0" err="1">
                <a:latin typeface="Times New Roman" panose="02020603050405020304" pitchFamily="18" charset="0"/>
                <a:cs typeface="Times New Roman" panose="02020603050405020304" pitchFamily="18" charset="0"/>
              </a:rPr>
              <a:t>Butu</a:t>
            </a:r>
            <a:r>
              <a:rPr lang="en-IN" sz="1800" dirty="0">
                <a:latin typeface="Times New Roman" panose="02020603050405020304" pitchFamily="18" charset="0"/>
                <a:cs typeface="Times New Roman" panose="02020603050405020304" pitchFamily="18" charset="0"/>
              </a:rPr>
              <a:t>, I. </a:t>
            </a:r>
            <a:r>
              <a:rPr lang="en-IN" sz="1800" dirty="0" err="1">
                <a:latin typeface="Times New Roman" panose="02020603050405020304" pitchFamily="18" charset="0"/>
                <a:cs typeface="Times New Roman" panose="02020603050405020304" pitchFamily="18" charset="0"/>
              </a:rPr>
              <a:t>Nurtanio</a:t>
            </a:r>
            <a:r>
              <a:rPr lang="en-IN" sz="1800" dirty="0">
                <a:latin typeface="Times New Roman" panose="02020603050405020304" pitchFamily="18" charset="0"/>
                <a:cs typeface="Times New Roman" panose="02020603050405020304" pitchFamily="18" charset="0"/>
              </a:rPr>
              <a:t> and A. W. </a:t>
            </a:r>
            <a:r>
              <a:rPr lang="en-IN" sz="1800" dirty="0" err="1">
                <a:latin typeface="Times New Roman" panose="02020603050405020304" pitchFamily="18" charset="0"/>
                <a:cs typeface="Times New Roman" panose="02020603050405020304" pitchFamily="18" charset="0"/>
              </a:rPr>
              <a:t>Paundu</a:t>
            </a:r>
            <a:r>
              <a:rPr lang="en-IN" sz="1800" dirty="0">
                <a:latin typeface="Times New Roman" panose="02020603050405020304" pitchFamily="18" charset="0"/>
                <a:cs typeface="Times New Roman" panose="02020603050405020304" pitchFamily="18" charset="0"/>
              </a:rPr>
              <a:t>, "Identification of Different Types of Buffalo Using YOLO Algorithm Based on Computer Vision," </a:t>
            </a:r>
            <a:r>
              <a:rPr lang="en-IN" sz="1800" i="1" dirty="0">
                <a:latin typeface="Times New Roman" panose="02020603050405020304" pitchFamily="18" charset="0"/>
                <a:cs typeface="Times New Roman" panose="02020603050405020304" pitchFamily="18" charset="0"/>
              </a:rPr>
              <a:t>2023 3rd International Conference on Intelligent Cybernetics Technology &amp; Applications (</a:t>
            </a:r>
            <a:r>
              <a:rPr lang="en-IN" sz="1800" i="1" dirty="0" err="1">
                <a:latin typeface="Times New Roman" panose="02020603050405020304" pitchFamily="18" charset="0"/>
                <a:cs typeface="Times New Roman" panose="02020603050405020304" pitchFamily="18" charset="0"/>
              </a:rPr>
              <a:t>ICICyTA</a:t>
            </a:r>
            <a:r>
              <a:rPr lang="en-IN" sz="1800" i="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Denpasar, Bali, Indonesia, 2023, pp. 159-164,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10.1109/ICICyTA60173.2023.10428773.</a:t>
            </a:r>
          </a:p>
          <a:p>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3"/>
              </a:rPr>
              <a:t>https://ieeexplore.ieee.org/document/10428773</a:t>
            </a:r>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V. S. P. Gunda, H. Gulla, V. </a:t>
            </a:r>
            <a:r>
              <a:rPr lang="en-IN" sz="1800" dirty="0" err="1">
                <a:latin typeface="Times New Roman" panose="02020603050405020304" pitchFamily="18" charset="0"/>
                <a:cs typeface="Times New Roman" panose="02020603050405020304" pitchFamily="18" charset="0"/>
              </a:rPr>
              <a:t>Kosana</a:t>
            </a:r>
            <a:r>
              <a:rPr lang="en-IN" sz="1800" dirty="0">
                <a:latin typeface="Times New Roman" panose="02020603050405020304" pitchFamily="18" charset="0"/>
                <a:cs typeface="Times New Roman" panose="02020603050405020304" pitchFamily="18" charset="0"/>
              </a:rPr>
              <a:t> and S. </a:t>
            </a:r>
            <a:r>
              <a:rPr lang="en-IN" sz="1800" dirty="0" err="1">
                <a:latin typeface="Times New Roman" panose="02020603050405020304" pitchFamily="18" charset="0"/>
                <a:cs typeface="Times New Roman" panose="02020603050405020304" pitchFamily="18" charset="0"/>
              </a:rPr>
              <a:t>Janapati</a:t>
            </a:r>
            <a:r>
              <a:rPr lang="en-IN" sz="1800" dirty="0">
                <a:latin typeface="Times New Roman" panose="02020603050405020304" pitchFamily="18" charset="0"/>
                <a:cs typeface="Times New Roman" panose="02020603050405020304" pitchFamily="18" charset="0"/>
              </a:rPr>
              <a:t>, "A hybrid deep learning based robust framework for cattle identification," </a:t>
            </a:r>
            <a:r>
              <a:rPr lang="en-IN" sz="1800" i="1" dirty="0">
                <a:latin typeface="Times New Roman" panose="02020603050405020304" pitchFamily="18" charset="0"/>
                <a:cs typeface="Times New Roman" panose="02020603050405020304" pitchFamily="18" charset="0"/>
              </a:rPr>
              <a:t>2022 International Conference on Advancements in Smart, Secure and Intelligent Computing (ASSIC)</a:t>
            </a:r>
            <a:r>
              <a:rPr lang="en-IN" sz="1800" dirty="0">
                <a:latin typeface="Times New Roman" panose="02020603050405020304" pitchFamily="18" charset="0"/>
                <a:cs typeface="Times New Roman" panose="02020603050405020304" pitchFamily="18" charset="0"/>
              </a:rPr>
              <a:t>, Bhubaneswar, India, 2022, pp. 1-5,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10.1109/ASSIC55218.2022.10088414</a:t>
            </a:r>
          </a:p>
          <a:p>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4"/>
              </a:rPr>
              <a:t>https://ieeexplore.ieee.org/document/10088414</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2042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1218</TotalTime>
  <Words>3939</Words>
  <Application>Microsoft Office PowerPoint</Application>
  <PresentationFormat>Widescreen</PresentationFormat>
  <Paragraphs>631</Paragraphs>
  <Slides>34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Arial Rounded MT Bold</vt:lpstr>
      <vt:lpstr>Cambria</vt:lpstr>
      <vt:lpstr>Times New Roman</vt:lpstr>
      <vt:lpstr>Verdana</vt:lpstr>
      <vt:lpstr>Bioinformatics</vt:lpstr>
      <vt:lpstr> Image based breed recognition for cattle and buffaloes of India </vt:lpstr>
      <vt:lpstr>Content</vt:lpstr>
      <vt:lpstr>Abstract:</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Objectives</vt:lpstr>
      <vt:lpstr>Existing Methods and Drawbacks</vt:lpstr>
      <vt:lpstr>How We Overcome The Existing Drawbacks</vt:lpstr>
      <vt:lpstr>Proposed Method</vt:lpstr>
      <vt:lpstr>Feasibility Study</vt:lpstr>
      <vt:lpstr>Flow Diagram </vt:lpstr>
      <vt:lpstr>Modules</vt:lpstr>
      <vt:lpstr>Software and Hardware Requirements: </vt:lpstr>
      <vt:lpstr>Timeline of the Project (Gantt Chart)</vt:lpstr>
      <vt:lpstr>Github Link</vt:lpstr>
      <vt:lpstr>References (IEEE Paper format)</vt:lpstr>
      <vt:lpstr>References (IEEE Paper format)</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ADITYA VS</cp:lastModifiedBy>
  <cp:revision>93</cp:revision>
  <dcterms:created xsi:type="dcterms:W3CDTF">2025-08-13T05:26:29Z</dcterms:created>
  <dcterms:modified xsi:type="dcterms:W3CDTF">2026-04-23T04:19:54Z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59021E74CBF64697B0BDE6130A6B724D_12</vt:lpwstr>
  </property>
  <property fmtid="{D5CDD505-2E9C-101B-9397-08002B2CF9AE}" pid="3" name="KSOProductBuildVer">
    <vt:lpwstr>1033-12.2.0.21931</vt:lpwstr>
  </property>
</Properties>
</file>